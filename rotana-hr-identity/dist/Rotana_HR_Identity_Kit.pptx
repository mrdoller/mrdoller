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تكوين</c:v>
                </c:pt>
              </c:strCache>
            </c:strRef>
          </c:tx>
          <c:dPt>
            <c:idx val="0"/>
            <c:spPr>
              <a:solidFill>
                <a:srgbClr val="00512F"/>
              </a:solidFill>
            </c:spPr>
          </c:dPt>
          <c:dPt>
            <c:idx val="1"/>
            <c:spPr>
              <a:solidFill>
                <a:srgbClr val="006C3C"/>
              </a:solidFill>
            </c:spPr>
          </c:dPt>
          <c:dPt>
            <c:idx val="2"/>
            <c:spPr>
              <a:solidFill>
                <a:srgbClr val="E8E8E4"/>
              </a:solidFill>
            </c:spPr>
          </c:dPt>
          <c:cat>
            <c:strRef>
              <c:f>Sheet1!$A$2:$A$4</c:f>
              <c:strCache>
                <c:ptCount val="3"/>
                <c:pt idx="0">
                  <c:v>تشغيل</c:v>
                </c:pt>
                <c:pt idx="1">
                  <c:v>دعم</c:v>
                </c:pt>
                <c:pt idx="2">
                  <c:v>قيادة</c:v>
                </c:pt>
              </c:strCache>
            </c:strRef>
          </c:cat>
          <c:val>
            <c:numRef>
              <c:f>Sheet1!$B$2:$B$4</c:f>
              <c:numCache>
                <c:formatCode>General</c:formatCode>
                <c:ptCount val="3"/>
                <c:pt idx="0">
                  <c:v>62</c:v>
                </c:pt>
                <c:pt idx="1">
                  <c:v>23</c:v>
                </c:pt>
                <c:pt idx="2">
                  <c:v>15</c:v>
                </c:pt>
              </c:numCache>
            </c:numRef>
          </c:val>
        </c:ser>
        <c:dLbls>
          <c:showLegendKey val="0"/>
          <c:showVal val="0"/>
          <c:showCatName val="0"/>
          <c:showSerName val="0"/>
          <c:showPercent val="0"/>
          <c:showBubbleSize val="0"/>
          <c:showLeaderLines val="1"/>
        </c:dLbls>
        <c:firstSliceAng val="0"/>
        <c:holeSize val="50"/>
      </c:doughnutChart>
    </c:plotArea>
    <c:legend>
      <c:legendPos val="b"/>
      <c:layout/>
      <c:overlay val="0"/>
    </c:legend>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حصة</c:v>
                </c:pt>
              </c:strCache>
            </c:strRef>
          </c:tx>
          <c:spPr>
            <a:solidFill>
              <a:srgbClr val="00512F"/>
            </a:solidFill>
          </c:spPr>
          <c:cat>
            <c:strRef>
              <c:f>Sheet1!$A$2:$A$6</c:f>
              <c:strCache>
                <c:ptCount val="5"/>
                <c:pt idx="0">
                  <c:v>موسيقى</c:v>
                </c:pt>
                <c:pt idx="1">
                  <c:v>تلفزيون</c:v>
                </c:pt>
                <c:pt idx="2">
                  <c:v>سينما</c:v>
                </c:pt>
                <c:pt idx="3">
                  <c:v>رقمي</c:v>
                </c:pt>
                <c:pt idx="4">
                  <c:v>شركات</c:v>
                </c:pt>
              </c:strCache>
            </c:strRef>
          </c:cat>
          <c:val>
            <c:numRef>
              <c:f>Sheet1!$B$2:$B$6</c:f>
              <c:numCache>
                <c:formatCode>General</c:formatCode>
                <c:ptCount val="5"/>
                <c:pt idx="0">
                  <c:v>82</c:v>
                </c:pt>
                <c:pt idx="1">
                  <c:v>64</c:v>
                </c:pt>
                <c:pt idx="2">
                  <c:v>48</c:v>
                </c:pt>
                <c:pt idx="3">
                  <c:v>36</c:v>
                </c:pt>
                <c:pt idx="4">
                  <c:v>28</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image" Target="../media/image16.png"/><Relationship Id="rId11" Type="http://schemas.openxmlformats.org/officeDocument/2006/relationships/image" Target="../media/image17.png"/><Relationship Id="rId12" Type="http://schemas.openxmlformats.org/officeDocument/2006/relationships/image" Target="../media/image18.png"/><Relationship Id="rId13" Type="http://schemas.openxmlformats.org/officeDocument/2006/relationships/image" Target="../media/image19.png"/><Relationship Id="rId14" Type="http://schemas.openxmlformats.org/officeDocument/2006/relationships/image" Target="../media/image20.png"/><Relationship Id="rId15" Type="http://schemas.openxmlformats.org/officeDocument/2006/relationships/image" Target="../media/image21.png"/><Relationship Id="rId16" Type="http://schemas.openxmlformats.org/officeDocument/2006/relationships/image" Target="../media/image22.png"/><Relationship Id="rId17" Type="http://schemas.openxmlformats.org/officeDocument/2006/relationships/image" Target="../media/image23.png"/><Relationship Id="rId18" Type="http://schemas.openxmlformats.org/officeDocument/2006/relationships/image" Target="../media/image24.png"/><Relationship Id="rId19" Type="http://schemas.openxmlformats.org/officeDocument/2006/relationships/image" Target="../media/image25.png"/><Relationship Id="rId20" Type="http://schemas.openxmlformats.org/officeDocument/2006/relationships/image" Target="../media/image26.png"/><Relationship Id="rId21" Type="http://schemas.openxmlformats.org/officeDocument/2006/relationships/image" Target="../media/image27.png"/><Relationship Id="rId22" Type="http://schemas.openxmlformats.org/officeDocument/2006/relationships/image" Target="../media/image28.png"/><Relationship Id="rId23" Type="http://schemas.openxmlformats.org/officeDocument/2006/relationships/image" Target="../media/image29.png"/><Relationship Id="rId24" Type="http://schemas.openxmlformats.org/officeDocument/2006/relationships/image" Target="../media/image30.png"/><Relationship Id="rId25" Type="http://schemas.openxmlformats.org/officeDocument/2006/relationships/image" Target="../media/image31.png"/><Relationship Id="rId26" Type="http://schemas.openxmlformats.org/officeDocument/2006/relationships/image" Target="../media/image32.png"/><Relationship Id="rId27" Type="http://schemas.openxmlformats.org/officeDocument/2006/relationships/image" Target="../media/image33.png"/><Relationship Id="rId28" Type="http://schemas.openxmlformats.org/officeDocument/2006/relationships/image" Target="../media/image34.png"/><Relationship Id="rId29" Type="http://schemas.openxmlformats.org/officeDocument/2006/relationships/image" Target="../media/image3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20.png"/><Relationship Id="rId10" Type="http://schemas.openxmlformats.org/officeDocument/2006/relationships/image" Target="../media/image18.png"/><Relationship Id="rId11" Type="http://schemas.openxmlformats.org/officeDocument/2006/relationships/image" Target="../media/image17.png"/><Relationship Id="rId12" Type="http://schemas.openxmlformats.org/officeDocument/2006/relationships/image" Target="../media/image19.png"/><Relationship Id="rId1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2.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C1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45720"/>
          </a:xfrm>
          <a:prstGeom prst="rect">
            <a:avLst/>
          </a:prstGeom>
          <a:solidFill>
            <a:srgbClr val="005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otana-logo-1400.png"/>
          <p:cNvPicPr>
            <a:picLocks noChangeAspect="1"/>
          </p:cNvPicPr>
          <p:nvPr/>
        </p:nvPicPr>
        <p:blipFill>
          <a:blip r:embed="rId2"/>
          <a:stretch>
            <a:fillRect/>
          </a:stretch>
        </p:blipFill>
        <p:spPr>
          <a:xfrm>
            <a:off x="566928" y="438912"/>
            <a:ext cx="3108960" cy="713232"/>
          </a:xfrm>
          <a:prstGeom prst="rect">
            <a:avLst/>
          </a:prstGeom>
        </p:spPr>
      </p:pic>
      <p:sp>
        <p:nvSpPr>
          <p:cNvPr id="5" name="TextBox 4"/>
          <p:cNvSpPr txBox="1"/>
          <p:nvPr/>
        </p:nvSpPr>
        <p:spPr>
          <a:xfrm>
            <a:off x="6766560" y="566928"/>
            <a:ext cx="4846320" cy="274320"/>
          </a:xfrm>
          <a:prstGeom prst="rect">
            <a:avLst/>
          </a:prstGeom>
          <a:noFill/>
        </p:spPr>
        <p:txBody>
          <a:bodyPr wrap="square" anchor="t"/>
          <a:lstStyle/>
          <a:p>
            <a:pPr rtl="1" algn="l"/>
            <a:r>
              <a:rPr sz="1100" b="0">
                <a:solidFill>
                  <a:srgbClr val="B8C0B0"/>
                </a:solidFill>
                <a:latin typeface="IBM Plex Sans"/>
                <a:ea typeface="IBM Plex Sans"/>
                <a:cs typeface="IBM Plex Sans"/>
              </a:rPr>
              <a:t>HUMAN RESOURCES IDENTITY SYSTEM</a:t>
            </a:r>
          </a:p>
        </p:txBody>
      </p:sp>
      <p:sp>
        <p:nvSpPr>
          <p:cNvPr id="6" name="TextBox 5"/>
          <p:cNvSpPr txBox="1"/>
          <p:nvPr/>
        </p:nvSpPr>
        <p:spPr>
          <a:xfrm>
            <a:off x="566928" y="1965960"/>
            <a:ext cx="10058400" cy="320040"/>
          </a:xfrm>
          <a:prstGeom prst="rect">
            <a:avLst/>
          </a:prstGeom>
          <a:noFill/>
        </p:spPr>
        <p:txBody>
          <a:bodyPr wrap="square" anchor="t"/>
          <a:lstStyle/>
          <a:p>
            <a:pPr rtl="1" algn="r"/>
            <a:r>
              <a:rPr sz="1400" b="0">
                <a:solidFill>
                  <a:srgbClr val="2BA86C"/>
                </a:solidFill>
                <a:latin typeface="IBM Plex Sans Arabic"/>
                <a:ea typeface="IBM Plex Sans Arabic"/>
                <a:cs typeface="IBM Plex Sans Arabic"/>
              </a:rPr>
              <a:t>نظام العروض  ·  مرجع قابل للنسخ</a:t>
            </a:r>
          </a:p>
        </p:txBody>
      </p:sp>
      <p:sp>
        <p:nvSpPr>
          <p:cNvPr id="7" name="TextBox 6"/>
          <p:cNvSpPr txBox="1"/>
          <p:nvPr/>
        </p:nvSpPr>
        <p:spPr>
          <a:xfrm>
            <a:off x="566928" y="2331720"/>
            <a:ext cx="10058400" cy="1920240"/>
          </a:xfrm>
          <a:prstGeom prst="rect">
            <a:avLst/>
          </a:prstGeom>
          <a:noFill/>
        </p:spPr>
        <p:txBody>
          <a:bodyPr wrap="square" anchor="t"/>
          <a:lstStyle/>
          <a:p>
            <a:pPr rtl="1" algn="r"/>
            <a:r>
              <a:rPr sz="6000" b="0">
                <a:solidFill>
                  <a:srgbClr val="FFFFFF"/>
                </a:solidFill>
                <a:latin typeface="Amiri"/>
                <a:ea typeface="Amiri"/>
                <a:cs typeface="Amiri"/>
              </a:rPr>
              <a:t>إدارة
الموارد البشرية</a:t>
            </a:r>
          </a:p>
        </p:txBody>
      </p:sp>
      <p:sp>
        <p:nvSpPr>
          <p:cNvPr id="8" name="TextBox 7"/>
          <p:cNvSpPr txBox="1"/>
          <p:nvPr/>
        </p:nvSpPr>
        <p:spPr>
          <a:xfrm>
            <a:off x="566928" y="4434840"/>
            <a:ext cx="7772400" cy="914400"/>
          </a:xfrm>
          <a:prstGeom prst="rect">
            <a:avLst/>
          </a:prstGeom>
          <a:noFill/>
        </p:spPr>
        <p:txBody>
          <a:bodyPr wrap="square" anchor="t"/>
          <a:lstStyle/>
          <a:p>
            <a:pPr rtl="1" algn="r"/>
            <a:r>
              <a:rPr sz="1600" b="0">
                <a:solidFill>
                  <a:srgbClr val="B8C0B0"/>
                </a:solidFill>
                <a:latin typeface="IBM Plex Sans Arabic"/>
                <a:ea typeface="IBM Plex Sans Arabic"/>
                <a:cs typeface="IBM Plex Sans Arabic"/>
              </a:rPr>
              <a:t>قوالب، ماسكات، أرقام، أيقونات، وإدارات — تُنسخ كما هي وتُعدَّل كما تحتاجون.</a:t>
            </a:r>
          </a:p>
        </p:txBody>
      </p:sp>
      <p:pic>
        <p:nvPicPr>
          <p:cNvPr id="9" name="Picture 8" descr="wave-motif.png"/>
          <p:cNvPicPr>
            <a:picLocks noChangeAspect="1"/>
          </p:cNvPicPr>
          <p:nvPr/>
        </p:nvPicPr>
        <p:blipFill>
          <a:blip r:embed="rId3"/>
          <a:stretch>
            <a:fillRect/>
          </a:stretch>
        </p:blipFill>
        <p:spPr>
          <a:xfrm>
            <a:off x="182880" y="5623560"/>
            <a:ext cx="3840480" cy="960120"/>
          </a:xfrm>
          <a:prstGeom prst="rect">
            <a:avLst/>
          </a:prstGeom>
        </p:spPr>
      </p:pic>
      <p:sp>
        <p:nvSpPr>
          <p:cNvPr id="10" name="TextBox 9"/>
          <p:cNvSpPr txBox="1"/>
          <p:nvPr/>
        </p:nvSpPr>
        <p:spPr>
          <a:xfrm>
            <a:off x="566928" y="6510528"/>
            <a:ext cx="9144000" cy="228600"/>
          </a:xfrm>
          <a:prstGeom prst="rect">
            <a:avLst/>
          </a:prstGeom>
          <a:noFill/>
        </p:spPr>
        <p:txBody>
          <a:bodyPr wrap="square" anchor="t"/>
          <a:lstStyle/>
          <a:p>
            <a:pPr rtl="1" algn="r"/>
            <a:r>
              <a:rPr sz="1200" b="0">
                <a:solidFill>
                  <a:srgbClr val="C5C7C2"/>
                </a:solidFill>
                <a:latin typeface="IBM Plex Sans Arabic"/>
                <a:ea typeface="IBM Plex Sans Arabic"/>
                <a:cs typeface="IBM Plex Sans Arabic"/>
              </a:rPr>
              <a:t>روتانا   ·   هوية داخلية   ·   ١٦:٩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640080" cy="274320"/>
          </a:xfrm>
          <a:prstGeom prst="rect">
            <a:avLst/>
          </a:prstGeom>
          <a:noFill/>
        </p:spPr>
        <p:txBody>
          <a:bodyPr wrap="square" anchor="t"/>
          <a:lstStyle/>
          <a:p>
            <a:pPr rtl="1" algn="r"/>
            <a:r>
              <a:rPr sz="1100" b="0">
                <a:solidFill>
                  <a:srgbClr val="00512F"/>
                </a:solidFill>
                <a:latin typeface="IBM Plex Mono"/>
                <a:ea typeface="IBM Plex Mono"/>
                <a:cs typeface="IBM Plex Mono"/>
              </a:rPr>
              <a:t>٠٢</a:t>
            </a:r>
          </a:p>
        </p:txBody>
      </p:sp>
      <p:sp>
        <p:nvSpPr>
          <p:cNvPr id="4" name="TextBox 3"/>
          <p:cNvSpPr txBox="1"/>
          <p:nvPr/>
        </p:nvSpPr>
        <p:spPr>
          <a:xfrm>
            <a:off x="1234440" y="384048"/>
            <a:ext cx="10058400" cy="256032"/>
          </a:xfrm>
          <a:prstGeom prst="rect">
            <a:avLst/>
          </a:prstGeom>
          <a:noFill/>
        </p:spPr>
        <p:txBody>
          <a:bodyPr wrap="square" anchor="t"/>
          <a:lstStyle/>
          <a:p>
            <a:pPr rtl="1" algn="r"/>
            <a:r>
              <a:rPr sz="1100" b="0">
                <a:solidFill>
                  <a:srgbClr val="00512F"/>
                </a:solidFill>
                <a:latin typeface="IBM Plex Sans"/>
                <a:ea typeface="IBM Plex Sans"/>
                <a:cs typeface="IBM Plex Sans"/>
              </a:rPr>
              <a:t>طريقة الاستخدام</a:t>
            </a:r>
          </a:p>
        </p:txBody>
      </p:sp>
      <p:sp>
        <p:nvSpPr>
          <p:cNvPr id="5" name="TextBox 4"/>
          <p:cNvSpPr txBox="1"/>
          <p:nvPr/>
        </p:nvSpPr>
        <p:spPr>
          <a:xfrm>
            <a:off x="1234440" y="621792"/>
            <a:ext cx="10241280" cy="640080"/>
          </a:xfrm>
          <a:prstGeom prst="rect">
            <a:avLst/>
          </a:prstGeom>
          <a:noFill/>
        </p:spPr>
        <p:txBody>
          <a:bodyPr wrap="square" anchor="t"/>
          <a:lstStyle/>
          <a:p>
            <a:pPr rtl="1" algn="r"/>
            <a:r>
              <a:rPr sz="2800" b="0">
                <a:solidFill>
                  <a:srgbClr val="0C100E"/>
                </a:solidFill>
                <a:latin typeface="Amiri"/>
                <a:ea typeface="Amiri"/>
                <a:cs typeface="Amiri"/>
              </a:rPr>
              <a:t>انسخ الشريحة. استبدل الصورة. غيّر الرقم.</a:t>
            </a:r>
          </a:p>
        </p:txBody>
      </p:sp>
      <p:sp>
        <p:nvSpPr>
          <p:cNvPr id="6" name="TextBox 5"/>
          <p:cNvSpPr txBox="1"/>
          <p:nvPr/>
        </p:nvSpPr>
        <p:spPr>
          <a:xfrm>
            <a:off x="566928" y="1828800"/>
            <a:ext cx="3383280" cy="640080"/>
          </a:xfrm>
          <a:prstGeom prst="rect">
            <a:avLst/>
          </a:prstGeom>
          <a:noFill/>
        </p:spPr>
        <p:txBody>
          <a:bodyPr wrap="square" anchor="t"/>
          <a:lstStyle/>
          <a:p>
            <a:pPr rtl="1" algn="r"/>
            <a:r>
              <a:rPr sz="4000" b="0">
                <a:solidFill>
                  <a:srgbClr val="00512F"/>
                </a:solidFill>
                <a:latin typeface="Amiri"/>
                <a:ea typeface="Amiri"/>
                <a:cs typeface="Amiri"/>
              </a:rPr>
              <a:t>١</a:t>
            </a:r>
          </a:p>
        </p:txBody>
      </p:sp>
      <p:sp>
        <p:nvSpPr>
          <p:cNvPr id="7" name="TextBox 6"/>
          <p:cNvSpPr txBox="1"/>
          <p:nvPr/>
        </p:nvSpPr>
        <p:spPr>
          <a:xfrm>
            <a:off x="566928" y="2514600"/>
            <a:ext cx="3383280" cy="365760"/>
          </a:xfrm>
          <a:prstGeom prst="rect">
            <a:avLst/>
          </a:prstGeom>
          <a:noFill/>
        </p:spPr>
        <p:txBody>
          <a:bodyPr wrap="square" anchor="t"/>
          <a:lstStyle/>
          <a:p>
            <a:pPr rtl="1" algn="r"/>
            <a:r>
              <a:rPr sz="1800" b="1">
                <a:solidFill>
                  <a:srgbClr val="0C100E"/>
                </a:solidFill>
                <a:latin typeface="IBM Plex Sans Arabic"/>
                <a:ea typeface="IBM Plex Sans Arabic"/>
                <a:cs typeface="IBM Plex Sans Arabic"/>
              </a:rPr>
              <a:t>النسخ من هذا الملف</a:t>
            </a:r>
          </a:p>
        </p:txBody>
      </p:sp>
      <p:sp>
        <p:nvSpPr>
          <p:cNvPr id="8" name="TextBox 7"/>
          <p:cNvSpPr txBox="1"/>
          <p:nvPr/>
        </p:nvSpPr>
        <p:spPr>
          <a:xfrm>
            <a:off x="566928" y="2971800"/>
            <a:ext cx="3383280" cy="1463040"/>
          </a:xfrm>
          <a:prstGeom prst="rect">
            <a:avLst/>
          </a:prstGeom>
          <a:noFill/>
        </p:spPr>
        <p:txBody>
          <a:bodyPr wrap="square" anchor="t"/>
          <a:lstStyle/>
          <a:p>
            <a:pPr rtl="1" algn="r"/>
            <a:r>
              <a:rPr sz="1400" b="0">
                <a:solidFill>
                  <a:srgbClr val="3A403C"/>
                </a:solidFill>
                <a:latin typeface="IBM Plex Sans Arabic"/>
                <a:ea typeface="IBM Plex Sans Arabic"/>
                <a:cs typeface="IBM Plex Sans Arabic"/>
              </a:rPr>
              <a:t>كل شريحة تخطيط جاهز. انسخ الشريحة إلى عرضك، أو انسخ العنصر وحده.</a:t>
            </a:r>
          </a:p>
        </p:txBody>
      </p:sp>
      <p:sp>
        <p:nvSpPr>
          <p:cNvPr id="9" name="TextBox 8"/>
          <p:cNvSpPr txBox="1"/>
          <p:nvPr/>
        </p:nvSpPr>
        <p:spPr>
          <a:xfrm>
            <a:off x="4315967" y="1828800"/>
            <a:ext cx="3383280" cy="640080"/>
          </a:xfrm>
          <a:prstGeom prst="rect">
            <a:avLst/>
          </a:prstGeom>
          <a:noFill/>
        </p:spPr>
        <p:txBody>
          <a:bodyPr wrap="square" anchor="t"/>
          <a:lstStyle/>
          <a:p>
            <a:pPr rtl="1" algn="r"/>
            <a:r>
              <a:rPr sz="4000" b="0">
                <a:solidFill>
                  <a:srgbClr val="00512F"/>
                </a:solidFill>
                <a:latin typeface="Amiri"/>
                <a:ea typeface="Amiri"/>
                <a:cs typeface="Amiri"/>
              </a:rPr>
              <a:t>٢</a:t>
            </a:r>
          </a:p>
        </p:txBody>
      </p:sp>
      <p:sp>
        <p:nvSpPr>
          <p:cNvPr id="10" name="TextBox 9"/>
          <p:cNvSpPr txBox="1"/>
          <p:nvPr/>
        </p:nvSpPr>
        <p:spPr>
          <a:xfrm>
            <a:off x="4315967" y="2514600"/>
            <a:ext cx="3383280" cy="365760"/>
          </a:xfrm>
          <a:prstGeom prst="rect">
            <a:avLst/>
          </a:prstGeom>
          <a:noFill/>
        </p:spPr>
        <p:txBody>
          <a:bodyPr wrap="square" anchor="t"/>
          <a:lstStyle/>
          <a:p>
            <a:pPr rtl="1" algn="r"/>
            <a:r>
              <a:rPr sz="1800" b="1">
                <a:solidFill>
                  <a:srgbClr val="0C100E"/>
                </a:solidFill>
                <a:latin typeface="IBM Plex Sans Arabic"/>
                <a:ea typeface="IBM Plex Sans Arabic"/>
                <a:cs typeface="IBM Plex Sans Arabic"/>
              </a:rPr>
              <a:t>الاستبدال لا إعادة الرسم</a:t>
            </a:r>
          </a:p>
        </p:txBody>
      </p:sp>
      <p:sp>
        <p:nvSpPr>
          <p:cNvPr id="11" name="TextBox 10"/>
          <p:cNvSpPr txBox="1"/>
          <p:nvPr/>
        </p:nvSpPr>
        <p:spPr>
          <a:xfrm>
            <a:off x="4315967" y="2971800"/>
            <a:ext cx="3383280" cy="1463040"/>
          </a:xfrm>
          <a:prstGeom prst="rect">
            <a:avLst/>
          </a:prstGeom>
          <a:noFill/>
        </p:spPr>
        <p:txBody>
          <a:bodyPr wrap="square" anchor="t"/>
          <a:lstStyle/>
          <a:p>
            <a:pPr rtl="1" algn="r"/>
            <a:r>
              <a:rPr sz="1400" b="0">
                <a:solidFill>
                  <a:srgbClr val="3A403C"/>
                </a:solidFill>
                <a:latin typeface="IBM Plex Sans Arabic"/>
                <a:ea typeface="IBM Plex Sans Arabic"/>
                <a:cs typeface="IBM Plex Sans Arabic"/>
              </a:rPr>
              <a:t>الصور داخل ماسكات. Change Picture. الأيقونات ملفات مستقلة. الألوان لها أكواد.</a:t>
            </a:r>
          </a:p>
        </p:txBody>
      </p:sp>
      <p:sp>
        <p:nvSpPr>
          <p:cNvPr id="12" name="TextBox 11"/>
          <p:cNvSpPr txBox="1"/>
          <p:nvPr/>
        </p:nvSpPr>
        <p:spPr>
          <a:xfrm>
            <a:off x="8065007" y="1828800"/>
            <a:ext cx="3383280" cy="640080"/>
          </a:xfrm>
          <a:prstGeom prst="rect">
            <a:avLst/>
          </a:prstGeom>
          <a:noFill/>
        </p:spPr>
        <p:txBody>
          <a:bodyPr wrap="square" anchor="t"/>
          <a:lstStyle/>
          <a:p>
            <a:pPr rtl="1" algn="r"/>
            <a:r>
              <a:rPr sz="4000" b="0">
                <a:solidFill>
                  <a:srgbClr val="00512F"/>
                </a:solidFill>
                <a:latin typeface="Amiri"/>
                <a:ea typeface="Amiri"/>
                <a:cs typeface="Amiri"/>
              </a:rPr>
              <a:t>٣</a:t>
            </a:r>
          </a:p>
        </p:txBody>
      </p:sp>
      <p:sp>
        <p:nvSpPr>
          <p:cNvPr id="13" name="TextBox 12"/>
          <p:cNvSpPr txBox="1"/>
          <p:nvPr/>
        </p:nvSpPr>
        <p:spPr>
          <a:xfrm>
            <a:off x="8065007" y="2514600"/>
            <a:ext cx="3383280" cy="365760"/>
          </a:xfrm>
          <a:prstGeom prst="rect">
            <a:avLst/>
          </a:prstGeom>
          <a:noFill/>
        </p:spPr>
        <p:txBody>
          <a:bodyPr wrap="square" anchor="t"/>
          <a:lstStyle/>
          <a:p>
            <a:pPr rtl="1" algn="r"/>
            <a:r>
              <a:rPr sz="1800" b="1">
                <a:solidFill>
                  <a:srgbClr val="0C100E"/>
                </a:solidFill>
                <a:latin typeface="IBM Plex Sans Arabic"/>
                <a:ea typeface="IBM Plex Sans Arabic"/>
                <a:cs typeface="IBM Plex Sans Arabic"/>
              </a:rPr>
              <a:t>لا تختَرع لونًا جديدًا</a:t>
            </a:r>
          </a:p>
        </p:txBody>
      </p:sp>
      <p:sp>
        <p:nvSpPr>
          <p:cNvPr id="14" name="TextBox 13"/>
          <p:cNvSpPr txBox="1"/>
          <p:nvPr/>
        </p:nvSpPr>
        <p:spPr>
          <a:xfrm>
            <a:off x="8065007" y="2971800"/>
            <a:ext cx="3383280" cy="1463040"/>
          </a:xfrm>
          <a:prstGeom prst="rect">
            <a:avLst/>
          </a:prstGeom>
          <a:noFill/>
        </p:spPr>
        <p:txBody>
          <a:bodyPr wrap="square" anchor="t"/>
          <a:lstStyle/>
          <a:p>
            <a:pPr rtl="1" algn="r"/>
            <a:r>
              <a:rPr sz="1400" b="0">
                <a:solidFill>
                  <a:srgbClr val="3A403C"/>
                </a:solidFill>
                <a:latin typeface="IBM Plex Sans Arabic"/>
                <a:ea typeface="IBM Plex Sans Arabic"/>
                <a:cs typeface="IBM Plex Sans Arabic"/>
              </a:rPr>
              <a:t>الأخضر من الشعار، والرمادي الفاتح هو الورق. الفخامة في الفراغ والخط.</a:t>
            </a:r>
          </a:p>
        </p:txBody>
      </p:sp>
      <p:sp>
        <p:nvSpPr>
          <p:cNvPr id="15" name="TextBox 14"/>
          <p:cNvSpPr txBox="1"/>
          <p:nvPr/>
        </p:nvSpPr>
        <p:spPr>
          <a:xfrm>
            <a:off x="566928" y="5989320"/>
            <a:ext cx="10972800" cy="320040"/>
          </a:xfrm>
          <a:prstGeom prst="rect">
            <a:avLst/>
          </a:prstGeom>
          <a:noFill/>
        </p:spPr>
        <p:txBody>
          <a:bodyPr wrap="square" anchor="t"/>
          <a:lstStyle/>
          <a:p>
            <a:pPr rtl="1" algn="r"/>
            <a:r>
              <a:rPr sz="1300" b="0">
                <a:solidFill>
                  <a:srgbClr val="6A706C"/>
                </a:solidFill>
                <a:latin typeface="IBM Plex Sans Arabic"/>
                <a:ea typeface="IBM Plex Sans Arabic"/>
                <a:cs typeface="IBM Plex Sans Arabic"/>
              </a:rPr>
              <a:t>الشريحة ٠١ و٢٤ للغلاف. الباقي مادة عمل يومي.</a:t>
            </a:r>
          </a:p>
        </p:txBody>
      </p:sp>
      <p:sp>
        <p:nvSpPr>
          <p:cNvPr id="16" name="TextBox 15"/>
          <p:cNvSpPr txBox="1"/>
          <p:nvPr/>
        </p:nvSpPr>
        <p:spPr>
          <a:xfrm>
            <a:off x="566928" y="6510528"/>
            <a:ext cx="4572000" cy="256032"/>
          </a:xfrm>
          <a:prstGeom prst="rect">
            <a:avLst/>
          </a:prstGeom>
          <a:noFill/>
        </p:spPr>
        <p:txBody>
          <a:bodyPr wrap="square" anchor="t"/>
          <a:lstStyle/>
          <a:p>
            <a:pPr rtl="1" algn="r"/>
            <a:r>
              <a:rPr sz="1100" b="0">
                <a:solidFill>
                  <a:srgbClr val="6A706C"/>
                </a:solidFill>
                <a:latin typeface="IBM Plex Sans Arabic"/>
                <a:ea typeface="IBM Plex Sans Arabic"/>
                <a:cs typeface="IBM Plex Sans Arabic"/>
              </a:rPr>
              <a:t>روتانا  ·  الموارد البشرية</a:t>
            </a:r>
          </a:p>
        </p:txBody>
      </p:sp>
      <p:sp>
        <p:nvSpPr>
          <p:cNvPr id="17" name="TextBox 16"/>
          <p:cNvSpPr txBox="1"/>
          <p:nvPr/>
        </p:nvSpPr>
        <p:spPr>
          <a:xfrm>
            <a:off x="9509760" y="6510528"/>
            <a:ext cx="2103120" cy="256032"/>
          </a:xfrm>
          <a:prstGeom prst="rect">
            <a:avLst/>
          </a:prstGeom>
          <a:noFill/>
        </p:spPr>
        <p:txBody>
          <a:bodyPr wrap="square" anchor="t"/>
          <a:lstStyle/>
          <a:p>
            <a:pPr rtl="1" algn="l"/>
            <a:r>
              <a:rPr sz="1100" b="0">
                <a:solidFill>
                  <a:srgbClr val="6A706C"/>
                </a:solidFill>
                <a:latin typeface="IBM Plex Mono"/>
                <a:ea typeface="IBM Plex Mono"/>
                <a:cs typeface="IBM Plex Mono"/>
              </a:rPr>
              <a:t>02  /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640080" cy="274320"/>
          </a:xfrm>
          <a:prstGeom prst="rect">
            <a:avLst/>
          </a:prstGeom>
          <a:noFill/>
        </p:spPr>
        <p:txBody>
          <a:bodyPr wrap="square" anchor="t"/>
          <a:lstStyle/>
          <a:p>
            <a:pPr rtl="1" algn="r"/>
            <a:r>
              <a:rPr sz="1100" b="0">
                <a:solidFill>
                  <a:srgbClr val="00512F"/>
                </a:solidFill>
                <a:latin typeface="IBM Plex Mono"/>
                <a:ea typeface="IBM Plex Mono"/>
                <a:cs typeface="IBM Plex Mono"/>
              </a:rPr>
              <a:t>٠٣</a:t>
            </a:r>
          </a:p>
        </p:txBody>
      </p:sp>
      <p:sp>
        <p:nvSpPr>
          <p:cNvPr id="4" name="TextBox 3"/>
          <p:cNvSpPr txBox="1"/>
          <p:nvPr/>
        </p:nvSpPr>
        <p:spPr>
          <a:xfrm>
            <a:off x="1234440" y="384048"/>
            <a:ext cx="10058400" cy="256032"/>
          </a:xfrm>
          <a:prstGeom prst="rect">
            <a:avLst/>
          </a:prstGeom>
          <a:noFill/>
        </p:spPr>
        <p:txBody>
          <a:bodyPr wrap="square" anchor="t"/>
          <a:lstStyle/>
          <a:p>
            <a:pPr rtl="1" algn="r"/>
            <a:r>
              <a:rPr sz="1100" b="0">
                <a:solidFill>
                  <a:srgbClr val="00512F"/>
                </a:solidFill>
                <a:latin typeface="IBM Plex Sans"/>
                <a:ea typeface="IBM Plex Sans"/>
                <a:cs typeface="IBM Plex Sans"/>
              </a:rPr>
              <a:t>نظام اللون</a:t>
            </a:r>
          </a:p>
        </p:txBody>
      </p:sp>
      <p:sp>
        <p:nvSpPr>
          <p:cNvPr id="5" name="TextBox 4"/>
          <p:cNvSpPr txBox="1"/>
          <p:nvPr/>
        </p:nvSpPr>
        <p:spPr>
          <a:xfrm>
            <a:off x="1234440" y="621792"/>
            <a:ext cx="10241280" cy="640080"/>
          </a:xfrm>
          <a:prstGeom prst="rect">
            <a:avLst/>
          </a:prstGeom>
          <a:noFill/>
        </p:spPr>
        <p:txBody>
          <a:bodyPr wrap="square" anchor="t"/>
          <a:lstStyle/>
          <a:p>
            <a:pPr rtl="1" algn="r"/>
            <a:r>
              <a:rPr sz="2800" b="0">
                <a:solidFill>
                  <a:srgbClr val="0C100E"/>
                </a:solidFill>
                <a:latin typeface="Amiri"/>
                <a:ea typeface="Amiri"/>
                <a:cs typeface="Amiri"/>
              </a:rPr>
              <a:t>من الشعار، ومعه الرمادي الفاتح.</a:t>
            </a:r>
          </a:p>
        </p:txBody>
      </p:sp>
      <p:sp>
        <p:nvSpPr>
          <p:cNvPr id="6" name="Rectangle 5"/>
          <p:cNvSpPr/>
          <p:nvPr/>
        </p:nvSpPr>
        <p:spPr>
          <a:xfrm>
            <a:off x="566928" y="1554480"/>
            <a:ext cx="1755648" cy="4434840"/>
          </a:xfrm>
          <a:prstGeom prst="rect">
            <a:avLst/>
          </a:prstGeom>
          <a:solidFill>
            <a:srgbClr val="005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3703320"/>
            <a:ext cx="1554480" cy="274320"/>
          </a:xfrm>
          <a:prstGeom prst="rect">
            <a:avLst/>
          </a:prstGeom>
          <a:noFill/>
        </p:spPr>
        <p:txBody>
          <a:bodyPr wrap="square" anchor="t"/>
          <a:lstStyle/>
          <a:p>
            <a:pPr rtl="1" algn="r"/>
            <a:r>
              <a:rPr sz="1400" b="0">
                <a:solidFill>
                  <a:srgbClr val="FFFFFF"/>
                </a:solidFill>
                <a:latin typeface="IBM Plex Sans"/>
                <a:ea typeface="IBM Plex Sans"/>
                <a:cs typeface="IBM Plex Sans"/>
              </a:rPr>
              <a:t>Forest</a:t>
            </a:r>
          </a:p>
        </p:txBody>
      </p:sp>
      <p:sp>
        <p:nvSpPr>
          <p:cNvPr id="8" name="TextBox 7"/>
          <p:cNvSpPr txBox="1"/>
          <p:nvPr/>
        </p:nvSpPr>
        <p:spPr>
          <a:xfrm>
            <a:off x="676656" y="4005072"/>
            <a:ext cx="1554480" cy="256032"/>
          </a:xfrm>
          <a:prstGeom prst="rect">
            <a:avLst/>
          </a:prstGeom>
          <a:noFill/>
        </p:spPr>
        <p:txBody>
          <a:bodyPr wrap="square" anchor="t"/>
          <a:lstStyle/>
          <a:p>
            <a:pPr rtl="1" algn="r"/>
            <a:r>
              <a:rPr sz="1200" b="0">
                <a:solidFill>
                  <a:srgbClr val="FFFFFF"/>
                </a:solidFill>
                <a:latin typeface="IBM Plex Mono"/>
                <a:ea typeface="IBM Plex Mono"/>
                <a:cs typeface="IBM Plex Mono"/>
              </a:rPr>
              <a:t>#00512F</a:t>
            </a:r>
          </a:p>
        </p:txBody>
      </p:sp>
      <p:sp>
        <p:nvSpPr>
          <p:cNvPr id="9" name="TextBox 8"/>
          <p:cNvSpPr txBox="1"/>
          <p:nvPr/>
        </p:nvSpPr>
        <p:spPr>
          <a:xfrm>
            <a:off x="676656" y="4261104"/>
            <a:ext cx="1554480" cy="228600"/>
          </a:xfrm>
          <a:prstGeom prst="rect">
            <a:avLst/>
          </a:prstGeom>
          <a:noFill/>
        </p:spPr>
        <p:txBody>
          <a:bodyPr wrap="square" anchor="t"/>
          <a:lstStyle/>
          <a:p>
            <a:pPr rtl="1" algn="r"/>
            <a:r>
              <a:rPr sz="900" b="0">
                <a:solidFill>
                  <a:srgbClr val="FFFFFF"/>
                </a:solidFill>
                <a:latin typeface="IBM Plex Mono"/>
                <a:ea typeface="IBM Plex Mono"/>
                <a:cs typeface="IBM Plex Mono"/>
              </a:rPr>
              <a:t>RGB 0 · 81 · 47</a:t>
            </a:r>
          </a:p>
        </p:txBody>
      </p:sp>
      <p:sp>
        <p:nvSpPr>
          <p:cNvPr id="10" name="TextBox 9"/>
          <p:cNvSpPr txBox="1"/>
          <p:nvPr/>
        </p:nvSpPr>
        <p:spPr>
          <a:xfrm>
            <a:off x="676656" y="4617720"/>
            <a:ext cx="1554480" cy="1005840"/>
          </a:xfrm>
          <a:prstGeom prst="rect">
            <a:avLst/>
          </a:prstGeom>
          <a:noFill/>
        </p:spPr>
        <p:txBody>
          <a:bodyPr wrap="square" anchor="t"/>
          <a:lstStyle/>
          <a:p>
            <a:pPr rtl="1" algn="r"/>
            <a:r>
              <a:rPr sz="1200" b="0">
                <a:solidFill>
                  <a:srgbClr val="FFFFFF"/>
                </a:solidFill>
                <a:latin typeface="IBM Plex Sans Arabic"/>
                <a:ea typeface="IBM Plex Sans Arabic"/>
                <a:cs typeface="IBM Plex Sans Arabic"/>
              </a:rPr>
              <a:t>الأساسي — عناوين وقواعد</a:t>
            </a:r>
          </a:p>
        </p:txBody>
      </p:sp>
      <p:sp>
        <p:nvSpPr>
          <p:cNvPr id="11" name="Rectangle 10"/>
          <p:cNvSpPr/>
          <p:nvPr/>
        </p:nvSpPr>
        <p:spPr>
          <a:xfrm>
            <a:off x="2441447" y="1554480"/>
            <a:ext cx="1755648" cy="4434840"/>
          </a:xfrm>
          <a:prstGeom prst="rect">
            <a:avLst/>
          </a:prstGeom>
          <a:solidFill>
            <a:srgbClr val="006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51175" y="3703320"/>
            <a:ext cx="1554480" cy="274320"/>
          </a:xfrm>
          <a:prstGeom prst="rect">
            <a:avLst/>
          </a:prstGeom>
          <a:noFill/>
        </p:spPr>
        <p:txBody>
          <a:bodyPr wrap="square" anchor="t"/>
          <a:lstStyle/>
          <a:p>
            <a:pPr rtl="1" algn="r"/>
            <a:r>
              <a:rPr sz="1400" b="0">
                <a:solidFill>
                  <a:srgbClr val="FFFFFF"/>
                </a:solidFill>
                <a:latin typeface="IBM Plex Sans"/>
                <a:ea typeface="IBM Plex Sans"/>
                <a:cs typeface="IBM Plex Sans"/>
              </a:rPr>
              <a:t>Grove</a:t>
            </a:r>
          </a:p>
        </p:txBody>
      </p:sp>
      <p:sp>
        <p:nvSpPr>
          <p:cNvPr id="13" name="TextBox 12"/>
          <p:cNvSpPr txBox="1"/>
          <p:nvPr/>
        </p:nvSpPr>
        <p:spPr>
          <a:xfrm>
            <a:off x="2551175" y="4005072"/>
            <a:ext cx="1554480" cy="256032"/>
          </a:xfrm>
          <a:prstGeom prst="rect">
            <a:avLst/>
          </a:prstGeom>
          <a:noFill/>
        </p:spPr>
        <p:txBody>
          <a:bodyPr wrap="square" anchor="t"/>
          <a:lstStyle/>
          <a:p>
            <a:pPr rtl="1" algn="r"/>
            <a:r>
              <a:rPr sz="1200" b="0">
                <a:solidFill>
                  <a:srgbClr val="FFFFFF"/>
                </a:solidFill>
                <a:latin typeface="IBM Plex Mono"/>
                <a:ea typeface="IBM Plex Mono"/>
                <a:cs typeface="IBM Plex Mono"/>
              </a:rPr>
              <a:t>#006C3C</a:t>
            </a:r>
          </a:p>
        </p:txBody>
      </p:sp>
      <p:sp>
        <p:nvSpPr>
          <p:cNvPr id="14" name="TextBox 13"/>
          <p:cNvSpPr txBox="1"/>
          <p:nvPr/>
        </p:nvSpPr>
        <p:spPr>
          <a:xfrm>
            <a:off x="2551175" y="4261104"/>
            <a:ext cx="1554480" cy="228600"/>
          </a:xfrm>
          <a:prstGeom prst="rect">
            <a:avLst/>
          </a:prstGeom>
          <a:noFill/>
        </p:spPr>
        <p:txBody>
          <a:bodyPr wrap="square" anchor="t"/>
          <a:lstStyle/>
          <a:p>
            <a:pPr rtl="1" algn="r"/>
            <a:r>
              <a:rPr sz="900" b="0">
                <a:solidFill>
                  <a:srgbClr val="FFFFFF"/>
                </a:solidFill>
                <a:latin typeface="IBM Plex Mono"/>
                <a:ea typeface="IBM Plex Mono"/>
                <a:cs typeface="IBM Plex Mono"/>
              </a:rPr>
              <a:t>RGB 0 · 108 · 60</a:t>
            </a:r>
          </a:p>
        </p:txBody>
      </p:sp>
      <p:sp>
        <p:nvSpPr>
          <p:cNvPr id="15" name="TextBox 14"/>
          <p:cNvSpPr txBox="1"/>
          <p:nvPr/>
        </p:nvSpPr>
        <p:spPr>
          <a:xfrm>
            <a:off x="2551175" y="4617720"/>
            <a:ext cx="1554480" cy="1005840"/>
          </a:xfrm>
          <a:prstGeom prst="rect">
            <a:avLst/>
          </a:prstGeom>
          <a:noFill/>
        </p:spPr>
        <p:txBody>
          <a:bodyPr wrap="square" anchor="t"/>
          <a:lstStyle/>
          <a:p>
            <a:pPr rtl="1" algn="r"/>
            <a:r>
              <a:rPr sz="1200" b="0">
                <a:solidFill>
                  <a:srgbClr val="FFFFFF"/>
                </a:solidFill>
                <a:latin typeface="IBM Plex Sans Arabic"/>
                <a:ea typeface="IBM Plex Sans Arabic"/>
                <a:cs typeface="IBM Plex Sans Arabic"/>
              </a:rPr>
              <a:t>وسط الكرة — رسوم</a:t>
            </a:r>
          </a:p>
        </p:txBody>
      </p:sp>
      <p:sp>
        <p:nvSpPr>
          <p:cNvPr id="16" name="Rectangle 15"/>
          <p:cNvSpPr/>
          <p:nvPr/>
        </p:nvSpPr>
        <p:spPr>
          <a:xfrm>
            <a:off x="4315967" y="1554480"/>
            <a:ext cx="1755648" cy="4434840"/>
          </a:xfrm>
          <a:prstGeom prst="rect">
            <a:avLst/>
          </a:prstGeom>
          <a:solidFill>
            <a:srgbClr val="2BA8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25695" y="3703320"/>
            <a:ext cx="1554480" cy="274320"/>
          </a:xfrm>
          <a:prstGeom prst="rect">
            <a:avLst/>
          </a:prstGeom>
          <a:noFill/>
        </p:spPr>
        <p:txBody>
          <a:bodyPr wrap="square" anchor="t"/>
          <a:lstStyle/>
          <a:p>
            <a:pPr rtl="1" algn="r"/>
            <a:r>
              <a:rPr sz="1400" b="0">
                <a:solidFill>
                  <a:srgbClr val="0C100E"/>
                </a:solidFill>
                <a:latin typeface="IBM Plex Sans"/>
                <a:ea typeface="IBM Plex Sans"/>
                <a:cs typeface="IBM Plex Sans"/>
              </a:rPr>
              <a:t>Leaf</a:t>
            </a:r>
          </a:p>
        </p:txBody>
      </p:sp>
      <p:sp>
        <p:nvSpPr>
          <p:cNvPr id="18" name="TextBox 17"/>
          <p:cNvSpPr txBox="1"/>
          <p:nvPr/>
        </p:nvSpPr>
        <p:spPr>
          <a:xfrm>
            <a:off x="4425695" y="4005072"/>
            <a:ext cx="1554480" cy="256032"/>
          </a:xfrm>
          <a:prstGeom prst="rect">
            <a:avLst/>
          </a:prstGeom>
          <a:noFill/>
        </p:spPr>
        <p:txBody>
          <a:bodyPr wrap="square" anchor="t"/>
          <a:lstStyle/>
          <a:p>
            <a:pPr rtl="1" algn="r"/>
            <a:r>
              <a:rPr sz="1200" b="0">
                <a:solidFill>
                  <a:srgbClr val="0C100E"/>
                </a:solidFill>
                <a:latin typeface="IBM Plex Mono"/>
                <a:ea typeface="IBM Plex Mono"/>
                <a:cs typeface="IBM Plex Mono"/>
              </a:rPr>
              <a:t>#2BA86C</a:t>
            </a:r>
          </a:p>
        </p:txBody>
      </p:sp>
      <p:sp>
        <p:nvSpPr>
          <p:cNvPr id="19" name="TextBox 18"/>
          <p:cNvSpPr txBox="1"/>
          <p:nvPr/>
        </p:nvSpPr>
        <p:spPr>
          <a:xfrm>
            <a:off x="4425695" y="4261104"/>
            <a:ext cx="1554480" cy="228600"/>
          </a:xfrm>
          <a:prstGeom prst="rect">
            <a:avLst/>
          </a:prstGeom>
          <a:noFill/>
        </p:spPr>
        <p:txBody>
          <a:bodyPr wrap="square" anchor="t"/>
          <a:lstStyle/>
          <a:p>
            <a:pPr rtl="1" algn="r"/>
            <a:r>
              <a:rPr sz="900" b="0">
                <a:solidFill>
                  <a:srgbClr val="0C100E"/>
                </a:solidFill>
                <a:latin typeface="IBM Plex Mono"/>
                <a:ea typeface="IBM Plex Mono"/>
                <a:cs typeface="IBM Plex Mono"/>
              </a:rPr>
              <a:t>RGB 43 · 168 · 108</a:t>
            </a:r>
          </a:p>
        </p:txBody>
      </p:sp>
      <p:sp>
        <p:nvSpPr>
          <p:cNvPr id="20" name="TextBox 19"/>
          <p:cNvSpPr txBox="1"/>
          <p:nvPr/>
        </p:nvSpPr>
        <p:spPr>
          <a:xfrm>
            <a:off x="4425695" y="4617720"/>
            <a:ext cx="1554480" cy="1005840"/>
          </a:xfrm>
          <a:prstGeom prst="rect">
            <a:avLst/>
          </a:prstGeom>
          <a:noFill/>
        </p:spPr>
        <p:txBody>
          <a:bodyPr wrap="square" anchor="t"/>
          <a:lstStyle/>
          <a:p>
            <a:pPr rtl="1" algn="r"/>
            <a:r>
              <a:rPr sz="1200" b="0">
                <a:solidFill>
                  <a:srgbClr val="0C100E"/>
                </a:solidFill>
                <a:latin typeface="IBM Plex Sans Arabic"/>
                <a:ea typeface="IBM Plex Sans Arabic"/>
                <a:cs typeface="IBM Plex Sans Arabic"/>
              </a:rPr>
              <a:t>لمسة فقط</a:t>
            </a:r>
          </a:p>
        </p:txBody>
      </p:sp>
      <p:sp>
        <p:nvSpPr>
          <p:cNvPr id="21" name="Rectangle 20"/>
          <p:cNvSpPr/>
          <p:nvPr/>
        </p:nvSpPr>
        <p:spPr>
          <a:xfrm>
            <a:off x="6190487" y="1554480"/>
            <a:ext cx="1755648" cy="4434840"/>
          </a:xfrm>
          <a:prstGeom prst="rect">
            <a:avLst/>
          </a:prstGeom>
          <a:solidFill>
            <a:srgbClr val="E8E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0215" y="3703320"/>
            <a:ext cx="1554480" cy="274320"/>
          </a:xfrm>
          <a:prstGeom prst="rect">
            <a:avLst/>
          </a:prstGeom>
          <a:noFill/>
        </p:spPr>
        <p:txBody>
          <a:bodyPr wrap="square" anchor="t"/>
          <a:lstStyle/>
          <a:p>
            <a:pPr rtl="1" algn="r"/>
            <a:r>
              <a:rPr sz="1400" b="0">
                <a:solidFill>
                  <a:srgbClr val="0C100E"/>
                </a:solidFill>
                <a:latin typeface="IBM Plex Sans"/>
                <a:ea typeface="IBM Plex Sans"/>
                <a:cs typeface="IBM Plex Sans"/>
              </a:rPr>
              <a:t>Mist</a:t>
            </a:r>
          </a:p>
        </p:txBody>
      </p:sp>
      <p:sp>
        <p:nvSpPr>
          <p:cNvPr id="23" name="TextBox 22"/>
          <p:cNvSpPr txBox="1"/>
          <p:nvPr/>
        </p:nvSpPr>
        <p:spPr>
          <a:xfrm>
            <a:off x="6300215" y="4005072"/>
            <a:ext cx="1554480" cy="256032"/>
          </a:xfrm>
          <a:prstGeom prst="rect">
            <a:avLst/>
          </a:prstGeom>
          <a:noFill/>
        </p:spPr>
        <p:txBody>
          <a:bodyPr wrap="square" anchor="t"/>
          <a:lstStyle/>
          <a:p>
            <a:pPr rtl="1" algn="r"/>
            <a:r>
              <a:rPr sz="1200" b="0">
                <a:solidFill>
                  <a:srgbClr val="0C100E"/>
                </a:solidFill>
                <a:latin typeface="IBM Plex Mono"/>
                <a:ea typeface="IBM Plex Mono"/>
                <a:cs typeface="IBM Plex Mono"/>
              </a:rPr>
              <a:t>#E8E8E4</a:t>
            </a:r>
          </a:p>
        </p:txBody>
      </p:sp>
      <p:sp>
        <p:nvSpPr>
          <p:cNvPr id="24" name="TextBox 23"/>
          <p:cNvSpPr txBox="1"/>
          <p:nvPr/>
        </p:nvSpPr>
        <p:spPr>
          <a:xfrm>
            <a:off x="6300215" y="4261104"/>
            <a:ext cx="1554480" cy="228600"/>
          </a:xfrm>
          <a:prstGeom prst="rect">
            <a:avLst/>
          </a:prstGeom>
          <a:noFill/>
        </p:spPr>
        <p:txBody>
          <a:bodyPr wrap="square" anchor="t"/>
          <a:lstStyle/>
          <a:p>
            <a:pPr rtl="1" algn="r"/>
            <a:r>
              <a:rPr sz="900" b="0">
                <a:solidFill>
                  <a:srgbClr val="0C100E"/>
                </a:solidFill>
                <a:latin typeface="IBM Plex Mono"/>
                <a:ea typeface="IBM Plex Mono"/>
                <a:cs typeface="IBM Plex Mono"/>
              </a:rPr>
              <a:t>RGB 232 · 232 · 228</a:t>
            </a:r>
          </a:p>
        </p:txBody>
      </p:sp>
      <p:sp>
        <p:nvSpPr>
          <p:cNvPr id="25" name="TextBox 24"/>
          <p:cNvSpPr txBox="1"/>
          <p:nvPr/>
        </p:nvSpPr>
        <p:spPr>
          <a:xfrm>
            <a:off x="6300215" y="4617720"/>
            <a:ext cx="1554480" cy="1005840"/>
          </a:xfrm>
          <a:prstGeom prst="rect">
            <a:avLst/>
          </a:prstGeom>
          <a:noFill/>
        </p:spPr>
        <p:txBody>
          <a:bodyPr wrap="square" anchor="t"/>
          <a:lstStyle/>
          <a:p>
            <a:pPr rtl="1" algn="r"/>
            <a:r>
              <a:rPr sz="1200" b="0">
                <a:solidFill>
                  <a:srgbClr val="0C100E"/>
                </a:solidFill>
                <a:latin typeface="IBM Plex Sans Arabic"/>
                <a:ea typeface="IBM Plex Sans Arabic"/>
                <a:cs typeface="IBM Plex Sans Arabic"/>
              </a:rPr>
              <a:t>الرمادي الفاتح — حقول</a:t>
            </a:r>
          </a:p>
        </p:txBody>
      </p:sp>
      <p:sp>
        <p:nvSpPr>
          <p:cNvPr id="26" name="Rectangle 25"/>
          <p:cNvSpPr/>
          <p:nvPr/>
        </p:nvSpPr>
        <p:spPr>
          <a:xfrm>
            <a:off x="8065007" y="1554480"/>
            <a:ext cx="1755648" cy="4434840"/>
          </a:xfrm>
          <a:prstGeom prst="rect">
            <a:avLst/>
          </a:prstGeom>
          <a:solidFill>
            <a:srgbClr val="0C1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74735" y="3703320"/>
            <a:ext cx="1554480" cy="274320"/>
          </a:xfrm>
          <a:prstGeom prst="rect">
            <a:avLst/>
          </a:prstGeom>
          <a:noFill/>
        </p:spPr>
        <p:txBody>
          <a:bodyPr wrap="square" anchor="t"/>
          <a:lstStyle/>
          <a:p>
            <a:pPr rtl="1" algn="r"/>
            <a:r>
              <a:rPr sz="1400" b="0">
                <a:solidFill>
                  <a:srgbClr val="FFFFFF"/>
                </a:solidFill>
                <a:latin typeface="IBM Plex Sans"/>
                <a:ea typeface="IBM Plex Sans"/>
                <a:cs typeface="IBM Plex Sans"/>
              </a:rPr>
              <a:t>Ink</a:t>
            </a:r>
          </a:p>
        </p:txBody>
      </p:sp>
      <p:sp>
        <p:nvSpPr>
          <p:cNvPr id="28" name="TextBox 27"/>
          <p:cNvSpPr txBox="1"/>
          <p:nvPr/>
        </p:nvSpPr>
        <p:spPr>
          <a:xfrm>
            <a:off x="8174735" y="4005072"/>
            <a:ext cx="1554480" cy="256032"/>
          </a:xfrm>
          <a:prstGeom prst="rect">
            <a:avLst/>
          </a:prstGeom>
          <a:noFill/>
        </p:spPr>
        <p:txBody>
          <a:bodyPr wrap="square" anchor="t"/>
          <a:lstStyle/>
          <a:p>
            <a:pPr rtl="1" algn="r"/>
            <a:r>
              <a:rPr sz="1200" b="0">
                <a:solidFill>
                  <a:srgbClr val="FFFFFF"/>
                </a:solidFill>
                <a:latin typeface="IBM Plex Mono"/>
                <a:ea typeface="IBM Plex Mono"/>
                <a:cs typeface="IBM Plex Mono"/>
              </a:rPr>
              <a:t>#0C100E</a:t>
            </a:r>
          </a:p>
        </p:txBody>
      </p:sp>
      <p:sp>
        <p:nvSpPr>
          <p:cNvPr id="29" name="TextBox 28"/>
          <p:cNvSpPr txBox="1"/>
          <p:nvPr/>
        </p:nvSpPr>
        <p:spPr>
          <a:xfrm>
            <a:off x="8174735" y="4261104"/>
            <a:ext cx="1554480" cy="228600"/>
          </a:xfrm>
          <a:prstGeom prst="rect">
            <a:avLst/>
          </a:prstGeom>
          <a:noFill/>
        </p:spPr>
        <p:txBody>
          <a:bodyPr wrap="square" anchor="t"/>
          <a:lstStyle/>
          <a:p>
            <a:pPr rtl="1" algn="r"/>
            <a:r>
              <a:rPr sz="900" b="0">
                <a:solidFill>
                  <a:srgbClr val="FFFFFF"/>
                </a:solidFill>
                <a:latin typeface="IBM Plex Mono"/>
                <a:ea typeface="IBM Plex Mono"/>
                <a:cs typeface="IBM Plex Mono"/>
              </a:rPr>
              <a:t>RGB 12 · 16 · 14</a:t>
            </a:r>
          </a:p>
        </p:txBody>
      </p:sp>
      <p:sp>
        <p:nvSpPr>
          <p:cNvPr id="30" name="TextBox 29"/>
          <p:cNvSpPr txBox="1"/>
          <p:nvPr/>
        </p:nvSpPr>
        <p:spPr>
          <a:xfrm>
            <a:off x="8174735" y="4617720"/>
            <a:ext cx="1554480" cy="1005840"/>
          </a:xfrm>
          <a:prstGeom prst="rect">
            <a:avLst/>
          </a:prstGeom>
          <a:noFill/>
        </p:spPr>
        <p:txBody>
          <a:bodyPr wrap="square" anchor="t"/>
          <a:lstStyle/>
          <a:p>
            <a:pPr rtl="1" algn="r"/>
            <a:r>
              <a:rPr sz="1200" b="0">
                <a:solidFill>
                  <a:srgbClr val="FFFFFF"/>
                </a:solidFill>
                <a:latin typeface="IBM Plex Sans Arabic"/>
                <a:ea typeface="IBM Plex Sans Arabic"/>
                <a:cs typeface="IBM Plex Sans Arabic"/>
              </a:rPr>
              <a:t>أغلفة وأقسام</a:t>
            </a:r>
          </a:p>
        </p:txBody>
      </p:sp>
      <p:sp>
        <p:nvSpPr>
          <p:cNvPr id="31" name="Rectangle 30"/>
          <p:cNvSpPr/>
          <p:nvPr/>
        </p:nvSpPr>
        <p:spPr>
          <a:xfrm>
            <a:off x="9939528" y="1554480"/>
            <a:ext cx="1755648" cy="4434840"/>
          </a:xfrm>
          <a:prstGeom prst="rect">
            <a:avLst/>
          </a:prstGeom>
          <a:solidFill>
            <a:srgbClr val="C5C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49256" y="3703320"/>
            <a:ext cx="1554480" cy="274320"/>
          </a:xfrm>
          <a:prstGeom prst="rect">
            <a:avLst/>
          </a:prstGeom>
          <a:noFill/>
        </p:spPr>
        <p:txBody>
          <a:bodyPr wrap="square" anchor="t"/>
          <a:lstStyle/>
          <a:p>
            <a:pPr rtl="1" algn="r"/>
            <a:r>
              <a:rPr sz="1400" b="0">
                <a:solidFill>
                  <a:srgbClr val="0C100E"/>
                </a:solidFill>
                <a:latin typeface="IBM Plex Sans"/>
                <a:ea typeface="IBM Plex Sans"/>
                <a:cs typeface="IBM Plex Sans"/>
              </a:rPr>
              <a:t>Stone</a:t>
            </a:r>
          </a:p>
        </p:txBody>
      </p:sp>
      <p:sp>
        <p:nvSpPr>
          <p:cNvPr id="33" name="TextBox 32"/>
          <p:cNvSpPr txBox="1"/>
          <p:nvPr/>
        </p:nvSpPr>
        <p:spPr>
          <a:xfrm>
            <a:off x="10049256" y="4005072"/>
            <a:ext cx="1554480" cy="256032"/>
          </a:xfrm>
          <a:prstGeom prst="rect">
            <a:avLst/>
          </a:prstGeom>
          <a:noFill/>
        </p:spPr>
        <p:txBody>
          <a:bodyPr wrap="square" anchor="t"/>
          <a:lstStyle/>
          <a:p>
            <a:pPr rtl="1" algn="r"/>
            <a:r>
              <a:rPr sz="1200" b="0">
                <a:solidFill>
                  <a:srgbClr val="0C100E"/>
                </a:solidFill>
                <a:latin typeface="IBM Plex Mono"/>
                <a:ea typeface="IBM Plex Mono"/>
                <a:cs typeface="IBM Plex Mono"/>
              </a:rPr>
              <a:t>#C5C7C2</a:t>
            </a:r>
          </a:p>
        </p:txBody>
      </p:sp>
      <p:sp>
        <p:nvSpPr>
          <p:cNvPr id="34" name="TextBox 33"/>
          <p:cNvSpPr txBox="1"/>
          <p:nvPr/>
        </p:nvSpPr>
        <p:spPr>
          <a:xfrm>
            <a:off x="10049256" y="4261104"/>
            <a:ext cx="1554480" cy="228600"/>
          </a:xfrm>
          <a:prstGeom prst="rect">
            <a:avLst/>
          </a:prstGeom>
          <a:noFill/>
        </p:spPr>
        <p:txBody>
          <a:bodyPr wrap="square" anchor="t"/>
          <a:lstStyle/>
          <a:p>
            <a:pPr rtl="1" algn="r"/>
            <a:r>
              <a:rPr sz="900" b="0">
                <a:solidFill>
                  <a:srgbClr val="0C100E"/>
                </a:solidFill>
                <a:latin typeface="IBM Plex Mono"/>
                <a:ea typeface="IBM Plex Mono"/>
                <a:cs typeface="IBM Plex Mono"/>
              </a:rPr>
              <a:t>RGB 197 · 199 · 194</a:t>
            </a:r>
          </a:p>
        </p:txBody>
      </p:sp>
      <p:sp>
        <p:nvSpPr>
          <p:cNvPr id="35" name="TextBox 34"/>
          <p:cNvSpPr txBox="1"/>
          <p:nvPr/>
        </p:nvSpPr>
        <p:spPr>
          <a:xfrm>
            <a:off x="10049256" y="4617720"/>
            <a:ext cx="1554480" cy="1005840"/>
          </a:xfrm>
          <a:prstGeom prst="rect">
            <a:avLst/>
          </a:prstGeom>
          <a:noFill/>
        </p:spPr>
        <p:txBody>
          <a:bodyPr wrap="square" anchor="t"/>
          <a:lstStyle/>
          <a:p>
            <a:pPr rtl="1" algn="r"/>
            <a:r>
              <a:rPr sz="1200" b="0">
                <a:solidFill>
                  <a:srgbClr val="0C100E"/>
                </a:solidFill>
                <a:latin typeface="IBM Plex Sans Arabic"/>
                <a:ea typeface="IBM Plex Sans Arabic"/>
                <a:cs typeface="IBM Plex Sans Arabic"/>
              </a:rPr>
              <a:t>خطوط رفيعة</a:t>
            </a:r>
          </a:p>
        </p:txBody>
      </p:sp>
      <p:sp>
        <p:nvSpPr>
          <p:cNvPr id="36" name="TextBox 35"/>
          <p:cNvSpPr txBox="1"/>
          <p:nvPr/>
        </p:nvSpPr>
        <p:spPr>
          <a:xfrm>
            <a:off x="566928" y="6510528"/>
            <a:ext cx="4572000" cy="256032"/>
          </a:xfrm>
          <a:prstGeom prst="rect">
            <a:avLst/>
          </a:prstGeom>
          <a:noFill/>
        </p:spPr>
        <p:txBody>
          <a:bodyPr wrap="square" anchor="t"/>
          <a:lstStyle/>
          <a:p>
            <a:pPr rtl="1" algn="r"/>
            <a:r>
              <a:rPr sz="1100" b="0">
                <a:solidFill>
                  <a:srgbClr val="6A706C"/>
                </a:solidFill>
                <a:latin typeface="IBM Plex Sans Arabic"/>
                <a:ea typeface="IBM Plex Sans Arabic"/>
                <a:cs typeface="IBM Plex Sans Arabic"/>
              </a:rPr>
              <a:t>روتانا  ·  الموارد البشرية</a:t>
            </a:r>
          </a:p>
        </p:txBody>
      </p:sp>
      <p:sp>
        <p:nvSpPr>
          <p:cNvPr id="37" name="TextBox 36"/>
          <p:cNvSpPr txBox="1"/>
          <p:nvPr/>
        </p:nvSpPr>
        <p:spPr>
          <a:xfrm>
            <a:off x="9509760" y="6510528"/>
            <a:ext cx="2103120" cy="256032"/>
          </a:xfrm>
          <a:prstGeom prst="rect">
            <a:avLst/>
          </a:prstGeom>
          <a:noFill/>
        </p:spPr>
        <p:txBody>
          <a:bodyPr wrap="square" anchor="t"/>
          <a:lstStyle/>
          <a:p>
            <a:pPr rtl="1" algn="l"/>
            <a:r>
              <a:rPr sz="1100" b="0">
                <a:solidFill>
                  <a:srgbClr val="6A706C"/>
                </a:solidFill>
                <a:latin typeface="IBM Plex Mono"/>
                <a:ea typeface="IBM Plex Mono"/>
                <a:cs typeface="IBM Plex Mono"/>
              </a:rPr>
              <a:t>03  /  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640080" cy="274320"/>
          </a:xfrm>
          <a:prstGeom prst="rect">
            <a:avLst/>
          </a:prstGeom>
          <a:noFill/>
        </p:spPr>
        <p:txBody>
          <a:bodyPr wrap="square" anchor="t"/>
          <a:lstStyle/>
          <a:p>
            <a:pPr rtl="1" algn="r"/>
            <a:r>
              <a:rPr sz="1100" b="0">
                <a:solidFill>
                  <a:srgbClr val="00512F"/>
                </a:solidFill>
                <a:latin typeface="IBM Plex Mono"/>
                <a:ea typeface="IBM Plex Mono"/>
                <a:cs typeface="IBM Plex Mono"/>
              </a:rPr>
              <a:t>٠٤</a:t>
            </a:r>
          </a:p>
        </p:txBody>
      </p:sp>
      <p:sp>
        <p:nvSpPr>
          <p:cNvPr id="4" name="TextBox 3"/>
          <p:cNvSpPr txBox="1"/>
          <p:nvPr/>
        </p:nvSpPr>
        <p:spPr>
          <a:xfrm>
            <a:off x="1234440" y="384048"/>
            <a:ext cx="10058400" cy="256032"/>
          </a:xfrm>
          <a:prstGeom prst="rect">
            <a:avLst/>
          </a:prstGeom>
          <a:noFill/>
        </p:spPr>
        <p:txBody>
          <a:bodyPr wrap="square" anchor="t"/>
          <a:lstStyle/>
          <a:p>
            <a:pPr rtl="1" algn="r"/>
            <a:r>
              <a:rPr sz="1100" b="0">
                <a:solidFill>
                  <a:srgbClr val="00512F"/>
                </a:solidFill>
                <a:latin typeface="IBM Plex Sans"/>
                <a:ea typeface="IBM Plex Sans"/>
                <a:cs typeface="IBM Plex Sans"/>
              </a:rPr>
              <a:t>تطبيق اللون</a:t>
            </a:r>
          </a:p>
        </p:txBody>
      </p:sp>
      <p:sp>
        <p:nvSpPr>
          <p:cNvPr id="5" name="TextBox 4"/>
          <p:cNvSpPr txBox="1"/>
          <p:nvPr/>
        </p:nvSpPr>
        <p:spPr>
          <a:xfrm>
            <a:off x="1234440" y="621792"/>
            <a:ext cx="10241280" cy="640080"/>
          </a:xfrm>
          <a:prstGeom prst="rect">
            <a:avLst/>
          </a:prstGeom>
          <a:noFill/>
        </p:spPr>
        <p:txBody>
          <a:bodyPr wrap="square" anchor="t"/>
          <a:lstStyle/>
          <a:p>
            <a:pPr rtl="1" algn="r"/>
            <a:r>
              <a:rPr sz="2800" b="0">
                <a:solidFill>
                  <a:srgbClr val="0C100E"/>
                </a:solidFill>
                <a:latin typeface="Amiri"/>
                <a:ea typeface="Amiri"/>
                <a:cs typeface="Amiri"/>
              </a:rPr>
              <a:t>أخضر للقرار. رمادي للهدوء. حبر للوقفة.</a:t>
            </a:r>
          </a:p>
        </p:txBody>
      </p:sp>
      <p:sp>
        <p:nvSpPr>
          <p:cNvPr id="6" name="Rectangle 5"/>
          <p:cNvSpPr/>
          <p:nvPr/>
        </p:nvSpPr>
        <p:spPr>
          <a:xfrm>
            <a:off x="566928" y="1600200"/>
            <a:ext cx="3657600" cy="2331720"/>
          </a:xfrm>
          <a:prstGeom prst="rect">
            <a:avLst/>
          </a:prstGeom>
          <a:solidFill>
            <a:srgbClr val="0C1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3154680"/>
            <a:ext cx="3200400" cy="502920"/>
          </a:xfrm>
          <a:prstGeom prst="rect">
            <a:avLst/>
          </a:prstGeom>
          <a:noFill/>
        </p:spPr>
        <p:txBody>
          <a:bodyPr wrap="square" anchor="t"/>
          <a:lstStyle/>
          <a:p>
            <a:pPr rtl="1" algn="r"/>
            <a:r>
              <a:rPr sz="1600" b="0">
                <a:solidFill>
                  <a:srgbClr val="FFFFFF"/>
                </a:solidFill>
                <a:latin typeface="IBM Plex Sans Arabic"/>
                <a:ea typeface="IBM Plex Sans Arabic"/>
                <a:cs typeface="IBM Plex Sans Arabic"/>
              </a:rPr>
              <a:t>غلاف / فاصل
Ink + Forest</a:t>
            </a:r>
          </a:p>
        </p:txBody>
      </p:sp>
      <p:sp>
        <p:nvSpPr>
          <p:cNvPr id="8" name="Rectangle 7"/>
          <p:cNvSpPr/>
          <p:nvPr/>
        </p:nvSpPr>
        <p:spPr>
          <a:xfrm>
            <a:off x="4407408" y="1600200"/>
            <a:ext cx="3657600" cy="2331720"/>
          </a:xfrm>
          <a:prstGeom prst="rect">
            <a:avLst/>
          </a:prstGeom>
          <a:solidFill>
            <a:srgbClr val="E8E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36008" y="3154680"/>
            <a:ext cx="3200400" cy="502920"/>
          </a:xfrm>
          <a:prstGeom prst="rect">
            <a:avLst/>
          </a:prstGeom>
          <a:noFill/>
        </p:spPr>
        <p:txBody>
          <a:bodyPr wrap="square" anchor="t"/>
          <a:lstStyle/>
          <a:p>
            <a:pPr rtl="1" algn="r"/>
            <a:r>
              <a:rPr sz="1600" b="0">
                <a:solidFill>
                  <a:srgbClr val="0C100E"/>
                </a:solidFill>
                <a:latin typeface="IBM Plex Sans Arabic"/>
                <a:ea typeface="IBM Plex Sans Arabic"/>
                <a:cs typeface="IBM Plex Sans Arabic"/>
              </a:rPr>
              <a:t>محتوى يومي
Paper + Mist</a:t>
            </a:r>
          </a:p>
        </p:txBody>
      </p:sp>
      <p:sp>
        <p:nvSpPr>
          <p:cNvPr id="10" name="Rectangle 9"/>
          <p:cNvSpPr/>
          <p:nvPr/>
        </p:nvSpPr>
        <p:spPr>
          <a:xfrm>
            <a:off x="7973568" y="1600200"/>
            <a:ext cx="3657600" cy="2331720"/>
          </a:xfrm>
          <a:prstGeom prst="rect">
            <a:avLst/>
          </a:prstGeom>
          <a:solidFill>
            <a:srgbClr val="005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02168" y="3154680"/>
            <a:ext cx="3200400" cy="502920"/>
          </a:xfrm>
          <a:prstGeom prst="rect">
            <a:avLst/>
          </a:prstGeom>
          <a:noFill/>
        </p:spPr>
        <p:txBody>
          <a:bodyPr wrap="square" anchor="t"/>
          <a:lstStyle/>
          <a:p>
            <a:pPr rtl="1" algn="r"/>
            <a:r>
              <a:rPr sz="1600" b="0">
                <a:solidFill>
                  <a:srgbClr val="FFFFFF"/>
                </a:solidFill>
                <a:latin typeface="IBM Plex Sans Arabic"/>
                <a:ea typeface="IBM Plex Sans Arabic"/>
                <a:cs typeface="IBM Plex Sans Arabic"/>
              </a:rPr>
              <a:t>رقم واحد مهم
Forest field</a:t>
            </a:r>
          </a:p>
        </p:txBody>
      </p:sp>
      <p:sp>
        <p:nvSpPr>
          <p:cNvPr id="12" name="Oval 11"/>
          <p:cNvSpPr/>
          <p:nvPr/>
        </p:nvSpPr>
        <p:spPr>
          <a:xfrm>
            <a:off x="566928" y="4297680"/>
            <a:ext cx="109728" cy="109728"/>
          </a:xfrm>
          <a:prstGeom prst="ellipse">
            <a:avLst/>
          </a:prstGeom>
          <a:solidFill>
            <a:srgbClr val="005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206240"/>
            <a:ext cx="5120640" cy="365760"/>
          </a:xfrm>
          <a:prstGeom prst="rect">
            <a:avLst/>
          </a:prstGeom>
          <a:noFill/>
        </p:spPr>
        <p:txBody>
          <a:bodyPr wrap="square" anchor="t"/>
          <a:lstStyle/>
          <a:p>
            <a:pPr rtl="1" algn="r"/>
            <a:r>
              <a:rPr sz="1500" b="0">
                <a:solidFill>
                  <a:srgbClr val="3A403C"/>
                </a:solidFill>
                <a:latin typeface="IBM Plex Sans Arabic"/>
                <a:ea typeface="IBM Plex Sans Arabic"/>
                <a:cs typeface="IBM Plex Sans Arabic"/>
              </a:rPr>
              <a:t>لا تضع تدرجًا على النص.</a:t>
            </a:r>
          </a:p>
        </p:txBody>
      </p:sp>
      <p:sp>
        <p:nvSpPr>
          <p:cNvPr id="14" name="Oval 13"/>
          <p:cNvSpPr/>
          <p:nvPr/>
        </p:nvSpPr>
        <p:spPr>
          <a:xfrm>
            <a:off x="6236208" y="4297680"/>
            <a:ext cx="109728" cy="109728"/>
          </a:xfrm>
          <a:prstGeom prst="ellipse">
            <a:avLst/>
          </a:prstGeom>
          <a:solidFill>
            <a:srgbClr val="005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4206240"/>
            <a:ext cx="5120640" cy="365760"/>
          </a:xfrm>
          <a:prstGeom prst="rect">
            <a:avLst/>
          </a:prstGeom>
          <a:noFill/>
        </p:spPr>
        <p:txBody>
          <a:bodyPr wrap="square" anchor="t"/>
          <a:lstStyle/>
          <a:p>
            <a:pPr rtl="1" algn="r"/>
            <a:r>
              <a:rPr sz="1500" b="0">
                <a:solidFill>
                  <a:srgbClr val="3A403C"/>
                </a:solidFill>
                <a:latin typeface="IBM Plex Sans Arabic"/>
                <a:ea typeface="IBM Plex Sans Arabic"/>
                <a:cs typeface="IBM Plex Sans Arabic"/>
              </a:rPr>
              <a:t>لا تستخدم الذهبي أو النيون — ليسا من الشعار.</a:t>
            </a:r>
          </a:p>
        </p:txBody>
      </p:sp>
      <p:sp>
        <p:nvSpPr>
          <p:cNvPr id="16" name="Oval 15"/>
          <p:cNvSpPr/>
          <p:nvPr/>
        </p:nvSpPr>
        <p:spPr>
          <a:xfrm>
            <a:off x="566928" y="4800600"/>
            <a:ext cx="109728" cy="109728"/>
          </a:xfrm>
          <a:prstGeom prst="ellipse">
            <a:avLst/>
          </a:prstGeom>
          <a:solidFill>
            <a:srgbClr val="005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709160"/>
            <a:ext cx="5120640" cy="365760"/>
          </a:xfrm>
          <a:prstGeom prst="rect">
            <a:avLst/>
          </a:prstGeom>
          <a:noFill/>
        </p:spPr>
        <p:txBody>
          <a:bodyPr wrap="square" anchor="t"/>
          <a:lstStyle/>
          <a:p>
            <a:pPr rtl="1" algn="r"/>
            <a:r>
              <a:rPr sz="1500" b="0">
                <a:solidFill>
                  <a:srgbClr val="3A403C"/>
                </a:solidFill>
                <a:latin typeface="IBM Plex Sans Arabic"/>
                <a:ea typeface="IBM Plex Sans Arabic"/>
                <a:cs typeface="IBM Plex Sans Arabic"/>
              </a:rPr>
              <a:t>Leaf للبيانات الموجبة فقط، بمساحة صغيرة.</a:t>
            </a:r>
          </a:p>
        </p:txBody>
      </p:sp>
      <p:sp>
        <p:nvSpPr>
          <p:cNvPr id="18" name="Oval 17"/>
          <p:cNvSpPr/>
          <p:nvPr/>
        </p:nvSpPr>
        <p:spPr>
          <a:xfrm>
            <a:off x="6236208" y="4800600"/>
            <a:ext cx="109728" cy="109728"/>
          </a:xfrm>
          <a:prstGeom prst="ellipse">
            <a:avLst/>
          </a:prstGeom>
          <a:solidFill>
            <a:srgbClr val="005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4709160"/>
            <a:ext cx="5120640" cy="365760"/>
          </a:xfrm>
          <a:prstGeom prst="rect">
            <a:avLst/>
          </a:prstGeom>
          <a:noFill/>
        </p:spPr>
        <p:txBody>
          <a:bodyPr wrap="square" anchor="t"/>
          <a:lstStyle/>
          <a:p>
            <a:pPr rtl="1" algn="r"/>
            <a:r>
              <a:rPr sz="1500" b="0">
                <a:solidFill>
                  <a:srgbClr val="3A403C"/>
                </a:solidFill>
                <a:latin typeface="IBM Plex Sans Arabic"/>
                <a:ea typeface="IBM Plex Sans Arabic"/>
                <a:cs typeface="IBM Plex Sans Arabic"/>
              </a:rPr>
              <a:t>الحدود Stone بسمك ١px، لا ظلال تحت البطاقات.</a:t>
            </a:r>
          </a:p>
        </p:txBody>
      </p:sp>
      <p:sp>
        <p:nvSpPr>
          <p:cNvPr id="20" name="TextBox 19"/>
          <p:cNvSpPr txBox="1"/>
          <p:nvPr/>
        </p:nvSpPr>
        <p:spPr>
          <a:xfrm>
            <a:off x="566928" y="6510528"/>
            <a:ext cx="4572000" cy="256032"/>
          </a:xfrm>
          <a:prstGeom prst="rect">
            <a:avLst/>
          </a:prstGeom>
          <a:noFill/>
        </p:spPr>
        <p:txBody>
          <a:bodyPr wrap="square" anchor="t"/>
          <a:lstStyle/>
          <a:p>
            <a:pPr rtl="1" algn="r"/>
            <a:r>
              <a:rPr sz="1100" b="0">
                <a:solidFill>
                  <a:srgbClr val="6A706C"/>
                </a:solidFill>
                <a:latin typeface="IBM Plex Sans Arabic"/>
                <a:ea typeface="IBM Plex Sans Arabic"/>
                <a:cs typeface="IBM Plex Sans Arabic"/>
              </a:rPr>
              <a:t>روتانا  ·  الموارد البشرية</a:t>
            </a:r>
          </a:p>
        </p:txBody>
      </p:sp>
      <p:sp>
        <p:nvSpPr>
          <p:cNvPr id="21" name="TextBox 20"/>
          <p:cNvSpPr txBox="1"/>
          <p:nvPr/>
        </p:nvSpPr>
        <p:spPr>
          <a:xfrm>
            <a:off x="9509760" y="6510528"/>
            <a:ext cx="2103120" cy="256032"/>
          </a:xfrm>
          <a:prstGeom prst="rect">
            <a:avLst/>
          </a:prstGeom>
          <a:noFill/>
        </p:spPr>
        <p:txBody>
          <a:bodyPr wrap="square" anchor="t"/>
          <a:lstStyle/>
          <a:p>
            <a:pPr rtl="1" algn="l"/>
            <a:r>
              <a:rPr sz="1100" b="0">
                <a:solidFill>
                  <a:srgbClr val="6A706C"/>
                </a:solidFill>
                <a:latin typeface="IBM Plex Mono"/>
                <a:ea typeface="IBM Plex Mono"/>
                <a:cs typeface="IBM Plex Mono"/>
              </a:rPr>
              <a:t>04  /  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640080" cy="274320"/>
          </a:xfrm>
          <a:prstGeom prst="rect">
            <a:avLst/>
          </a:prstGeom>
          <a:noFill/>
        </p:spPr>
        <p:txBody>
          <a:bodyPr wrap="square" anchor="t"/>
          <a:lstStyle/>
          <a:p>
            <a:pPr rtl="1" algn="r"/>
            <a:r>
              <a:rPr sz="1100" b="0">
                <a:solidFill>
                  <a:srgbClr val="00512F"/>
                </a:solidFill>
                <a:latin typeface="IBM Plex Mono"/>
                <a:ea typeface="IBM Plex Mono"/>
                <a:cs typeface="IBM Plex Mono"/>
              </a:rPr>
              <a:t>٠٥</a:t>
            </a:r>
          </a:p>
        </p:txBody>
      </p:sp>
      <p:sp>
        <p:nvSpPr>
          <p:cNvPr id="4" name="TextBox 3"/>
          <p:cNvSpPr txBox="1"/>
          <p:nvPr/>
        </p:nvSpPr>
        <p:spPr>
          <a:xfrm>
            <a:off x="1234440" y="384048"/>
            <a:ext cx="10058400" cy="256032"/>
          </a:xfrm>
          <a:prstGeom prst="rect">
            <a:avLst/>
          </a:prstGeom>
          <a:noFill/>
        </p:spPr>
        <p:txBody>
          <a:bodyPr wrap="square" anchor="t"/>
          <a:lstStyle/>
          <a:p>
            <a:pPr rtl="1" algn="r"/>
            <a:r>
              <a:rPr sz="1100" b="0">
                <a:solidFill>
                  <a:srgbClr val="00512F"/>
                </a:solidFill>
                <a:latin typeface="IBM Plex Sans"/>
                <a:ea typeface="IBM Plex Sans"/>
                <a:cs typeface="IBM Plex Sans"/>
              </a:rPr>
              <a:t>نظام الخط</a:t>
            </a:r>
          </a:p>
        </p:txBody>
      </p:sp>
      <p:sp>
        <p:nvSpPr>
          <p:cNvPr id="5" name="TextBox 4"/>
          <p:cNvSpPr txBox="1"/>
          <p:nvPr/>
        </p:nvSpPr>
        <p:spPr>
          <a:xfrm>
            <a:off x="1234440" y="621792"/>
            <a:ext cx="10241280" cy="640080"/>
          </a:xfrm>
          <a:prstGeom prst="rect">
            <a:avLst/>
          </a:prstGeom>
          <a:noFill/>
        </p:spPr>
        <p:txBody>
          <a:bodyPr wrap="square" anchor="t"/>
          <a:lstStyle/>
          <a:p>
            <a:pPr rtl="1" algn="r"/>
            <a:r>
              <a:rPr sz="2800" b="0">
                <a:solidFill>
                  <a:srgbClr val="0C100E"/>
                </a:solidFill>
                <a:latin typeface="Amiri"/>
                <a:ea typeface="Amiri"/>
                <a:cs typeface="Amiri"/>
              </a:rPr>
              <a:t>عربي أولاً. لاتيني يمشي معه.</a:t>
            </a:r>
          </a:p>
        </p:txBody>
      </p:sp>
      <p:sp>
        <p:nvSpPr>
          <p:cNvPr id="6" name="TextBox 5"/>
          <p:cNvSpPr txBox="1"/>
          <p:nvPr/>
        </p:nvSpPr>
        <p:spPr>
          <a:xfrm>
            <a:off x="566928" y="1554480"/>
            <a:ext cx="3749039" cy="256032"/>
          </a:xfrm>
          <a:prstGeom prst="rect">
            <a:avLst/>
          </a:prstGeom>
          <a:noFill/>
        </p:spPr>
        <p:txBody>
          <a:bodyPr wrap="square" anchor="t"/>
          <a:lstStyle/>
          <a:p>
            <a:pPr rtl="1" algn="r"/>
            <a:r>
              <a:rPr sz="1100" b="0">
                <a:solidFill>
                  <a:srgbClr val="00512F"/>
                </a:solidFill>
                <a:latin typeface="IBM Plex Sans"/>
                <a:ea typeface="IBM Plex Sans"/>
                <a:cs typeface="IBM Plex Sans"/>
              </a:rPr>
              <a:t>DISPLAY — AMIRI</a:t>
            </a:r>
          </a:p>
        </p:txBody>
      </p:sp>
      <p:sp>
        <p:nvSpPr>
          <p:cNvPr id="7" name="TextBox 6"/>
          <p:cNvSpPr txBox="1"/>
          <p:nvPr/>
        </p:nvSpPr>
        <p:spPr>
          <a:xfrm>
            <a:off x="566928" y="1874519"/>
            <a:ext cx="3840480" cy="2011680"/>
          </a:xfrm>
          <a:prstGeom prst="rect">
            <a:avLst/>
          </a:prstGeom>
          <a:noFill/>
        </p:spPr>
        <p:txBody>
          <a:bodyPr wrap="square" anchor="t"/>
          <a:lstStyle/>
          <a:p>
            <a:pPr rtl="1" algn="r"/>
            <a:r>
              <a:rPr sz="2800" b="0">
                <a:solidFill>
                  <a:srgbClr val="0C100E"/>
                </a:solidFill>
                <a:latin typeface="Amiri"/>
                <a:ea typeface="Amiri"/>
                <a:cs typeface="Amiri"/>
              </a:rPr>
              <a:t>المواهب تُدار
كما تُدار العلامة.</a:t>
            </a:r>
          </a:p>
        </p:txBody>
      </p:sp>
      <p:sp>
        <p:nvSpPr>
          <p:cNvPr id="8" name="TextBox 7"/>
          <p:cNvSpPr txBox="1"/>
          <p:nvPr/>
        </p:nvSpPr>
        <p:spPr>
          <a:xfrm>
            <a:off x="566928" y="4023360"/>
            <a:ext cx="3840480" cy="365760"/>
          </a:xfrm>
          <a:prstGeom prst="rect">
            <a:avLst/>
          </a:prstGeom>
          <a:noFill/>
        </p:spPr>
        <p:txBody>
          <a:bodyPr wrap="square" anchor="t"/>
          <a:lstStyle/>
          <a:p>
            <a:pPr rtl="1" algn="r"/>
            <a:r>
              <a:rPr sz="1200" b="0">
                <a:solidFill>
                  <a:srgbClr val="6A706C"/>
                </a:solidFill>
                <a:latin typeface="IBM Plex Sans Arabic"/>
                <a:ea typeface="IBM Plex Sans Arabic"/>
                <a:cs typeface="IBM Plex Sans Arabic"/>
              </a:rPr>
              <a:t>عناوين الأغلفة والفواصل  ·  ٦٤–٩٢</a:t>
            </a:r>
          </a:p>
        </p:txBody>
      </p:sp>
      <p:sp>
        <p:nvSpPr>
          <p:cNvPr id="9" name="TextBox 8"/>
          <p:cNvSpPr txBox="1"/>
          <p:nvPr/>
        </p:nvSpPr>
        <p:spPr>
          <a:xfrm>
            <a:off x="4663440" y="1554480"/>
            <a:ext cx="3840480" cy="256032"/>
          </a:xfrm>
          <a:prstGeom prst="rect">
            <a:avLst/>
          </a:prstGeom>
          <a:noFill/>
        </p:spPr>
        <p:txBody>
          <a:bodyPr wrap="square" anchor="t"/>
          <a:lstStyle/>
          <a:p>
            <a:pPr rtl="1" algn="r"/>
            <a:r>
              <a:rPr sz="1100" b="0">
                <a:solidFill>
                  <a:srgbClr val="00512F"/>
                </a:solidFill>
                <a:latin typeface="IBM Plex Sans"/>
                <a:ea typeface="IBM Plex Sans"/>
                <a:cs typeface="IBM Plex Sans"/>
              </a:rPr>
              <a:t>UI — IBM PLEX SANS ARABIC</a:t>
            </a:r>
          </a:p>
        </p:txBody>
      </p:sp>
      <p:sp>
        <p:nvSpPr>
          <p:cNvPr id="10" name="TextBox 9"/>
          <p:cNvSpPr txBox="1"/>
          <p:nvPr/>
        </p:nvSpPr>
        <p:spPr>
          <a:xfrm>
            <a:off x="4663440" y="1920240"/>
            <a:ext cx="3840480" cy="914400"/>
          </a:xfrm>
          <a:prstGeom prst="rect">
            <a:avLst/>
          </a:prstGeom>
          <a:noFill/>
        </p:spPr>
        <p:txBody>
          <a:bodyPr wrap="square" anchor="t"/>
          <a:lstStyle/>
          <a:p>
            <a:pPr rtl="1" algn="r"/>
            <a:r>
              <a:rPr sz="1800" b="1">
                <a:solidFill>
                  <a:srgbClr val="0C100E"/>
                </a:solidFill>
                <a:latin typeface="IBM Plex Sans Arabic"/>
                <a:ea typeface="IBM Plex Sans Arabic"/>
                <a:cs typeface="IBM Plex Sans Arabic"/>
              </a:rPr>
              <a:t>الاستقطاب، التهيئة، الأداء، المزايا، الثقافة.</a:t>
            </a:r>
          </a:p>
        </p:txBody>
      </p:sp>
      <p:sp>
        <p:nvSpPr>
          <p:cNvPr id="11" name="TextBox 10"/>
          <p:cNvSpPr txBox="1"/>
          <p:nvPr/>
        </p:nvSpPr>
        <p:spPr>
          <a:xfrm>
            <a:off x="4663440" y="2926080"/>
            <a:ext cx="3840480" cy="1097280"/>
          </a:xfrm>
          <a:prstGeom prst="rect">
            <a:avLst/>
          </a:prstGeom>
          <a:noFill/>
        </p:spPr>
        <p:txBody>
          <a:bodyPr wrap="square" anchor="t"/>
          <a:lstStyle/>
          <a:p>
            <a:pPr rtl="1" algn="r"/>
            <a:r>
              <a:rPr sz="1400" b="0">
                <a:solidFill>
                  <a:srgbClr val="3A403C"/>
                </a:solidFill>
                <a:latin typeface="IBM Plex Sans Arabic"/>
                <a:ea typeface="IBM Plex Sans Arabic"/>
                <a:cs typeface="IBM Plex Sans Arabic"/>
              </a:rPr>
              <a:t>الجسم ١٨–٢٠. الشروحات ١٥. التسميات ١٢. لا تضغط السطر.</a:t>
            </a:r>
          </a:p>
        </p:txBody>
      </p:sp>
      <p:sp>
        <p:nvSpPr>
          <p:cNvPr id="12" name="TextBox 11"/>
          <p:cNvSpPr txBox="1"/>
          <p:nvPr/>
        </p:nvSpPr>
        <p:spPr>
          <a:xfrm>
            <a:off x="8686800" y="1554480"/>
            <a:ext cx="3017520" cy="256032"/>
          </a:xfrm>
          <a:prstGeom prst="rect">
            <a:avLst/>
          </a:prstGeom>
          <a:noFill/>
        </p:spPr>
        <p:txBody>
          <a:bodyPr wrap="square" anchor="t"/>
          <a:lstStyle/>
          <a:p>
            <a:pPr rtl="1" algn="r"/>
            <a:r>
              <a:rPr sz="1100" b="0">
                <a:solidFill>
                  <a:srgbClr val="00512F"/>
                </a:solidFill>
                <a:latin typeface="IBM Plex Sans"/>
                <a:ea typeface="IBM Plex Sans"/>
                <a:cs typeface="IBM Plex Sans"/>
              </a:rPr>
              <a:t>LATIN — IBM PLEX SANS</a:t>
            </a:r>
          </a:p>
        </p:txBody>
      </p:sp>
      <p:sp>
        <p:nvSpPr>
          <p:cNvPr id="13" name="TextBox 12"/>
          <p:cNvSpPr txBox="1"/>
          <p:nvPr/>
        </p:nvSpPr>
        <p:spPr>
          <a:xfrm>
            <a:off x="8686800" y="1965960"/>
            <a:ext cx="3017520" cy="640080"/>
          </a:xfrm>
          <a:prstGeom prst="rect">
            <a:avLst/>
          </a:prstGeom>
          <a:noFill/>
        </p:spPr>
        <p:txBody>
          <a:bodyPr wrap="square" anchor="t"/>
          <a:lstStyle/>
          <a:p>
            <a:pPr rtl="1" algn="r"/>
            <a:r>
              <a:rPr sz="1600" b="0">
                <a:solidFill>
                  <a:srgbClr val="0C100E"/>
                </a:solidFill>
                <a:latin typeface="IBM Plex Sans"/>
                <a:ea typeface="IBM Plex Sans"/>
                <a:cs typeface="IBM Plex Sans"/>
              </a:rPr>
              <a:t>Rotana HR
Headcount · eNPS</a:t>
            </a:r>
          </a:p>
        </p:txBody>
      </p:sp>
      <p:sp>
        <p:nvSpPr>
          <p:cNvPr id="14" name="TextBox 13"/>
          <p:cNvSpPr txBox="1"/>
          <p:nvPr/>
        </p:nvSpPr>
        <p:spPr>
          <a:xfrm>
            <a:off x="8686800" y="2926080"/>
            <a:ext cx="3017520" cy="256032"/>
          </a:xfrm>
          <a:prstGeom prst="rect">
            <a:avLst/>
          </a:prstGeom>
          <a:noFill/>
        </p:spPr>
        <p:txBody>
          <a:bodyPr wrap="square" anchor="t"/>
          <a:lstStyle/>
          <a:p>
            <a:pPr rtl="1" algn="r"/>
            <a:r>
              <a:rPr sz="1100" b="0">
                <a:solidFill>
                  <a:srgbClr val="00512F"/>
                </a:solidFill>
                <a:latin typeface="IBM Plex Sans"/>
                <a:ea typeface="IBM Plex Sans"/>
                <a:cs typeface="IBM Plex Sans"/>
              </a:rPr>
              <a:t>CODES — IBM PLEX MONO</a:t>
            </a:r>
          </a:p>
        </p:txBody>
      </p:sp>
      <p:sp>
        <p:nvSpPr>
          <p:cNvPr id="15" name="TextBox 14"/>
          <p:cNvSpPr txBox="1"/>
          <p:nvPr/>
        </p:nvSpPr>
        <p:spPr>
          <a:xfrm>
            <a:off x="8686800" y="3246120"/>
            <a:ext cx="3017520" cy="457200"/>
          </a:xfrm>
          <a:prstGeom prst="rect">
            <a:avLst/>
          </a:prstGeom>
          <a:noFill/>
        </p:spPr>
        <p:txBody>
          <a:bodyPr wrap="square" anchor="t"/>
          <a:lstStyle/>
          <a:p>
            <a:pPr rtl="1" algn="r"/>
            <a:r>
              <a:rPr sz="1800" b="0">
                <a:solidFill>
                  <a:srgbClr val="00512F"/>
                </a:solidFill>
                <a:latin typeface="IBM Plex Mono"/>
                <a:ea typeface="IBM Plex Mono"/>
                <a:cs typeface="IBM Plex Mono"/>
              </a:rPr>
              <a:t>#00512F</a:t>
            </a:r>
          </a:p>
        </p:txBody>
      </p:sp>
      <p:sp>
        <p:nvSpPr>
          <p:cNvPr id="16" name="TextBox 15"/>
          <p:cNvSpPr txBox="1"/>
          <p:nvPr/>
        </p:nvSpPr>
        <p:spPr>
          <a:xfrm>
            <a:off x="566928" y="6510528"/>
            <a:ext cx="4572000" cy="256032"/>
          </a:xfrm>
          <a:prstGeom prst="rect">
            <a:avLst/>
          </a:prstGeom>
          <a:noFill/>
        </p:spPr>
        <p:txBody>
          <a:bodyPr wrap="square" anchor="t"/>
          <a:lstStyle/>
          <a:p>
            <a:pPr rtl="1" algn="r"/>
            <a:r>
              <a:rPr sz="1100" b="0">
                <a:solidFill>
                  <a:srgbClr val="6A706C"/>
                </a:solidFill>
                <a:latin typeface="IBM Plex Sans Arabic"/>
                <a:ea typeface="IBM Plex Sans Arabic"/>
                <a:cs typeface="IBM Plex Sans Arabic"/>
              </a:rPr>
              <a:t>روتانا  ·  الموارد البشرية</a:t>
            </a:r>
          </a:p>
        </p:txBody>
      </p:sp>
      <p:sp>
        <p:nvSpPr>
          <p:cNvPr id="17" name="TextBox 16"/>
          <p:cNvSpPr txBox="1"/>
          <p:nvPr/>
        </p:nvSpPr>
        <p:spPr>
          <a:xfrm>
            <a:off x="9509760" y="6510528"/>
            <a:ext cx="2103120" cy="256032"/>
          </a:xfrm>
          <a:prstGeom prst="rect">
            <a:avLst/>
          </a:prstGeom>
          <a:noFill/>
        </p:spPr>
        <p:txBody>
          <a:bodyPr wrap="square" anchor="t"/>
          <a:lstStyle/>
          <a:p>
            <a:pPr rtl="1" algn="l"/>
            <a:r>
              <a:rPr sz="1100" b="0">
                <a:solidFill>
                  <a:srgbClr val="6A706C"/>
                </a:solidFill>
                <a:latin typeface="IBM Plex Mono"/>
                <a:ea typeface="IBM Plex Mono"/>
                <a:cs typeface="IBM Plex Mono"/>
              </a:rPr>
              <a:t>05  /  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640080" cy="274320"/>
          </a:xfrm>
          <a:prstGeom prst="rect">
            <a:avLst/>
          </a:prstGeom>
          <a:noFill/>
        </p:spPr>
        <p:txBody>
          <a:bodyPr wrap="square" anchor="t"/>
          <a:lstStyle/>
          <a:p>
            <a:pPr rtl="1" algn="r"/>
            <a:r>
              <a:rPr sz="1100" b="0">
                <a:solidFill>
                  <a:srgbClr val="00512F"/>
                </a:solidFill>
                <a:latin typeface="IBM Plex Mono"/>
                <a:ea typeface="IBM Plex Mono"/>
                <a:cs typeface="IBM Plex Mono"/>
              </a:rPr>
              <a:t>٠٦</a:t>
            </a:r>
          </a:p>
        </p:txBody>
      </p:sp>
      <p:sp>
        <p:nvSpPr>
          <p:cNvPr id="4" name="TextBox 3"/>
          <p:cNvSpPr txBox="1"/>
          <p:nvPr/>
        </p:nvSpPr>
        <p:spPr>
          <a:xfrm>
            <a:off x="1234440" y="384048"/>
            <a:ext cx="10058400" cy="256032"/>
          </a:xfrm>
          <a:prstGeom prst="rect">
            <a:avLst/>
          </a:prstGeom>
          <a:noFill/>
        </p:spPr>
        <p:txBody>
          <a:bodyPr wrap="square" anchor="t"/>
          <a:lstStyle/>
          <a:p>
            <a:pPr rtl="1" algn="r"/>
            <a:r>
              <a:rPr sz="1100" b="0">
                <a:solidFill>
                  <a:srgbClr val="00512F"/>
                </a:solidFill>
                <a:latin typeface="IBM Plex Sans"/>
                <a:ea typeface="IBM Plex Sans"/>
                <a:cs typeface="IBM Plex Sans"/>
              </a:rPr>
              <a:t>الشعار</a:t>
            </a:r>
          </a:p>
        </p:txBody>
      </p:sp>
      <p:sp>
        <p:nvSpPr>
          <p:cNvPr id="5" name="TextBox 4"/>
          <p:cNvSpPr txBox="1"/>
          <p:nvPr/>
        </p:nvSpPr>
        <p:spPr>
          <a:xfrm>
            <a:off x="1234440" y="621792"/>
            <a:ext cx="10241280" cy="640080"/>
          </a:xfrm>
          <a:prstGeom prst="rect">
            <a:avLst/>
          </a:prstGeom>
          <a:noFill/>
        </p:spPr>
        <p:txBody>
          <a:bodyPr wrap="square" anchor="t"/>
          <a:lstStyle/>
          <a:p>
            <a:pPr rtl="1" algn="r"/>
            <a:r>
              <a:rPr sz="2800" b="0">
                <a:solidFill>
                  <a:srgbClr val="0C100E"/>
                </a:solidFill>
                <a:latin typeface="Amiri"/>
                <a:ea typeface="Amiri"/>
                <a:cs typeface="Amiri"/>
              </a:rPr>
              <a:t>لا يُعاد رسمه. يُوضع كما هو.</a:t>
            </a:r>
          </a:p>
        </p:txBody>
      </p:sp>
      <p:sp>
        <p:nvSpPr>
          <p:cNvPr id="6" name="Rectangle 5"/>
          <p:cNvSpPr/>
          <p:nvPr/>
        </p:nvSpPr>
        <p:spPr>
          <a:xfrm>
            <a:off x="566928" y="1554480"/>
            <a:ext cx="5029200" cy="3794760"/>
          </a:xfrm>
          <a:prstGeom prst="rect">
            <a:avLst/>
          </a:prstGeom>
          <a:solidFill>
            <a:srgbClr val="0C1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otana-logo-1400.png"/>
          <p:cNvPicPr>
            <a:picLocks noChangeAspect="1"/>
          </p:cNvPicPr>
          <p:nvPr/>
        </p:nvPicPr>
        <p:blipFill>
          <a:blip r:embed="rId2"/>
          <a:stretch>
            <a:fillRect/>
          </a:stretch>
        </p:blipFill>
        <p:spPr>
          <a:xfrm>
            <a:off x="1051560" y="2788920"/>
            <a:ext cx="4023360" cy="914400"/>
          </a:xfrm>
          <a:prstGeom prst="rect">
            <a:avLst/>
          </a:prstGeom>
        </p:spPr>
      </p:pic>
      <p:sp>
        <p:nvSpPr>
          <p:cNvPr id="8" name="TextBox 7"/>
          <p:cNvSpPr txBox="1"/>
          <p:nvPr/>
        </p:nvSpPr>
        <p:spPr>
          <a:xfrm>
            <a:off x="566928" y="5074920"/>
            <a:ext cx="5029200" cy="256032"/>
          </a:xfrm>
          <a:prstGeom prst="rect">
            <a:avLst/>
          </a:prstGeom>
          <a:noFill/>
        </p:spPr>
        <p:txBody>
          <a:bodyPr wrap="square" anchor="t"/>
          <a:lstStyle/>
          <a:p>
            <a:pPr rtl="1" algn="ctr"/>
            <a:r>
              <a:rPr sz="1200" b="0">
                <a:solidFill>
                  <a:srgbClr val="B8C0B0"/>
                </a:solidFill>
                <a:latin typeface="IBM Plex Sans Arabic"/>
                <a:ea typeface="IBM Plex Sans Arabic"/>
                <a:cs typeface="IBM Plex Sans Arabic"/>
              </a:rPr>
              <a:t>على الحبر</a:t>
            </a:r>
          </a:p>
        </p:txBody>
      </p:sp>
      <p:sp>
        <p:nvSpPr>
          <p:cNvPr id="9" name="Rectangle 8"/>
          <p:cNvSpPr/>
          <p:nvPr/>
        </p:nvSpPr>
        <p:spPr>
          <a:xfrm>
            <a:off x="5806440" y="1554480"/>
            <a:ext cx="3291840" cy="3794760"/>
          </a:xfrm>
          <a:prstGeom prst="rect">
            <a:avLst/>
          </a:prstGeom>
          <a:solidFill>
            <a:srgbClr val="E8E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rotana-logo-1400.png"/>
          <p:cNvPicPr>
            <a:picLocks noChangeAspect="1"/>
          </p:cNvPicPr>
          <p:nvPr/>
        </p:nvPicPr>
        <p:blipFill>
          <a:blip r:embed="rId2"/>
          <a:stretch>
            <a:fillRect/>
          </a:stretch>
        </p:blipFill>
        <p:spPr>
          <a:xfrm>
            <a:off x="6080760" y="2788920"/>
            <a:ext cx="2743200" cy="640080"/>
          </a:xfrm>
          <a:prstGeom prst="rect">
            <a:avLst/>
          </a:prstGeom>
        </p:spPr>
      </p:pic>
      <p:sp>
        <p:nvSpPr>
          <p:cNvPr id="11" name="TextBox 10"/>
          <p:cNvSpPr txBox="1"/>
          <p:nvPr/>
        </p:nvSpPr>
        <p:spPr>
          <a:xfrm>
            <a:off x="5806440" y="5074920"/>
            <a:ext cx="3291840" cy="256032"/>
          </a:xfrm>
          <a:prstGeom prst="rect">
            <a:avLst/>
          </a:prstGeom>
          <a:noFill/>
        </p:spPr>
        <p:txBody>
          <a:bodyPr wrap="square" anchor="t"/>
          <a:lstStyle/>
          <a:p>
            <a:pPr rtl="1" algn="ctr"/>
            <a:r>
              <a:rPr sz="1200" b="0">
                <a:solidFill>
                  <a:srgbClr val="3A403C"/>
                </a:solidFill>
                <a:latin typeface="IBM Plex Sans Arabic"/>
                <a:ea typeface="IBM Plex Sans Arabic"/>
                <a:cs typeface="IBM Plex Sans Arabic"/>
              </a:rPr>
              <a:t>على الرمادي الفاتح</a:t>
            </a:r>
          </a:p>
        </p:txBody>
      </p:sp>
      <p:sp>
        <p:nvSpPr>
          <p:cNvPr id="12" name="Rectangle 11"/>
          <p:cNvSpPr/>
          <p:nvPr/>
        </p:nvSpPr>
        <p:spPr>
          <a:xfrm>
            <a:off x="9281160" y="1554480"/>
            <a:ext cx="2331720" cy="3794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281160" y="1554480"/>
            <a:ext cx="2331720" cy="3794760"/>
          </a:xfrm>
          <a:prstGeom prst="rect">
            <a:avLst/>
          </a:prstGeom>
          <a:noFill/>
          <a:ln w="12700">
            <a:solidFill>
              <a:srgbClr val="E8E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rotana-sphere.png"/>
          <p:cNvPicPr>
            <a:picLocks noChangeAspect="1"/>
          </p:cNvPicPr>
          <p:nvPr/>
        </p:nvPicPr>
        <p:blipFill>
          <a:blip r:embed="rId3"/>
          <a:stretch>
            <a:fillRect/>
          </a:stretch>
        </p:blipFill>
        <p:spPr>
          <a:xfrm>
            <a:off x="9509760" y="2331720"/>
            <a:ext cx="1874519" cy="1965960"/>
          </a:xfrm>
          <a:prstGeom prst="rect">
            <a:avLst/>
          </a:prstGeom>
        </p:spPr>
      </p:pic>
      <p:sp>
        <p:nvSpPr>
          <p:cNvPr id="15" name="TextBox 14"/>
          <p:cNvSpPr txBox="1"/>
          <p:nvPr/>
        </p:nvSpPr>
        <p:spPr>
          <a:xfrm>
            <a:off x="9281160" y="5074920"/>
            <a:ext cx="2331720" cy="256032"/>
          </a:xfrm>
          <a:prstGeom prst="rect">
            <a:avLst/>
          </a:prstGeom>
          <a:noFill/>
        </p:spPr>
        <p:txBody>
          <a:bodyPr wrap="square" anchor="t"/>
          <a:lstStyle/>
          <a:p>
            <a:pPr rtl="1" algn="ctr"/>
            <a:r>
              <a:rPr sz="1200" b="0">
                <a:solidFill>
                  <a:srgbClr val="3A403C"/>
                </a:solidFill>
                <a:latin typeface="IBM Plex Sans Arabic"/>
                <a:ea typeface="IBM Plex Sans Arabic"/>
                <a:cs typeface="IBM Plex Sans Arabic"/>
              </a:rPr>
              <a:t>الكرة — أيقونة</a:t>
            </a:r>
          </a:p>
        </p:txBody>
      </p:sp>
      <p:sp>
        <p:nvSpPr>
          <p:cNvPr id="16" name="TextBox 15"/>
          <p:cNvSpPr txBox="1"/>
          <p:nvPr/>
        </p:nvSpPr>
        <p:spPr>
          <a:xfrm>
            <a:off x="566928" y="5943600"/>
            <a:ext cx="10972800" cy="320040"/>
          </a:xfrm>
          <a:prstGeom prst="rect">
            <a:avLst/>
          </a:prstGeom>
          <a:noFill/>
        </p:spPr>
        <p:txBody>
          <a:bodyPr wrap="square" anchor="t"/>
          <a:lstStyle/>
          <a:p>
            <a:pPr rtl="1" algn="r"/>
            <a:r>
              <a:rPr sz="1300" b="0">
                <a:solidFill>
                  <a:srgbClr val="6A706C"/>
                </a:solidFill>
                <a:latin typeface="IBM Plex Sans Arabic"/>
                <a:ea typeface="IBM Plex Sans Arabic"/>
                <a:cs typeface="IBM Plex Sans Arabic"/>
              </a:rPr>
              <a:t>مساحة الأمان = ارتفاع حرف r. لا ظل، ولا إعادة تلوين للوردمارك.</a:t>
            </a:r>
          </a:p>
        </p:txBody>
      </p:sp>
      <p:sp>
        <p:nvSpPr>
          <p:cNvPr id="17" name="TextBox 16"/>
          <p:cNvSpPr txBox="1"/>
          <p:nvPr/>
        </p:nvSpPr>
        <p:spPr>
          <a:xfrm>
            <a:off x="566928" y="6510528"/>
            <a:ext cx="4572000" cy="256032"/>
          </a:xfrm>
          <a:prstGeom prst="rect">
            <a:avLst/>
          </a:prstGeom>
          <a:noFill/>
        </p:spPr>
        <p:txBody>
          <a:bodyPr wrap="square" anchor="t"/>
          <a:lstStyle/>
          <a:p>
            <a:pPr rtl="1" algn="r"/>
            <a:r>
              <a:rPr sz="1100" b="0">
                <a:solidFill>
                  <a:srgbClr val="6A706C"/>
                </a:solidFill>
                <a:latin typeface="IBM Plex Sans Arabic"/>
                <a:ea typeface="IBM Plex Sans Arabic"/>
                <a:cs typeface="IBM Plex Sans Arabic"/>
              </a:rPr>
              <a:t>روتانا  ·  الموارد البشرية</a:t>
            </a:r>
          </a:p>
        </p:txBody>
      </p:sp>
      <p:sp>
        <p:nvSpPr>
          <p:cNvPr id="18" name="TextBox 17"/>
          <p:cNvSpPr txBox="1"/>
          <p:nvPr/>
        </p:nvSpPr>
        <p:spPr>
          <a:xfrm>
            <a:off x="9509760" y="6510528"/>
            <a:ext cx="2103120" cy="256032"/>
          </a:xfrm>
          <a:prstGeom prst="rect">
            <a:avLst/>
          </a:prstGeom>
          <a:noFill/>
        </p:spPr>
        <p:txBody>
          <a:bodyPr wrap="square" anchor="t"/>
          <a:lstStyle/>
          <a:p>
            <a:pPr rtl="1" algn="l"/>
            <a:r>
              <a:rPr sz="1100" b="0">
                <a:solidFill>
                  <a:srgbClr val="6A706C"/>
                </a:solidFill>
                <a:latin typeface="IBM Plex Mono"/>
                <a:ea typeface="IBM Plex Mono"/>
                <a:cs typeface="IBM Plex Mono"/>
              </a:rPr>
              <a:t>06  /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640080" cy="274320"/>
          </a:xfrm>
          <a:prstGeom prst="rect">
            <a:avLst/>
          </a:prstGeom>
          <a:noFill/>
        </p:spPr>
        <p:txBody>
          <a:bodyPr wrap="square" anchor="t"/>
          <a:lstStyle/>
          <a:p>
            <a:pPr rtl="1" algn="r"/>
            <a:r>
              <a:rPr sz="1100" b="0">
                <a:solidFill>
                  <a:srgbClr val="00512F"/>
                </a:solidFill>
                <a:latin typeface="IBM Plex Mono"/>
                <a:ea typeface="IBM Plex Mono"/>
                <a:cs typeface="IBM Plex Mono"/>
              </a:rPr>
              <a:t>٠٧</a:t>
            </a:r>
          </a:p>
        </p:txBody>
      </p:sp>
      <p:sp>
        <p:nvSpPr>
          <p:cNvPr id="4" name="TextBox 3"/>
          <p:cNvSpPr txBox="1"/>
          <p:nvPr/>
        </p:nvSpPr>
        <p:spPr>
          <a:xfrm>
            <a:off x="1234440" y="384048"/>
            <a:ext cx="10058400" cy="256032"/>
          </a:xfrm>
          <a:prstGeom prst="rect">
            <a:avLst/>
          </a:prstGeom>
          <a:noFill/>
        </p:spPr>
        <p:txBody>
          <a:bodyPr wrap="square" anchor="t"/>
          <a:lstStyle/>
          <a:p>
            <a:pPr rtl="1" algn="r"/>
            <a:r>
              <a:rPr sz="1100" b="0">
                <a:solidFill>
                  <a:srgbClr val="00512F"/>
                </a:solidFill>
                <a:latin typeface="IBM Plex Sans"/>
                <a:ea typeface="IBM Plex Sans"/>
                <a:cs typeface="IBM Plex Sans"/>
              </a:rPr>
              <a:t>ماسكات الصورة</a:t>
            </a:r>
          </a:p>
        </p:txBody>
      </p:sp>
      <p:sp>
        <p:nvSpPr>
          <p:cNvPr id="5" name="TextBox 4"/>
          <p:cNvSpPr txBox="1"/>
          <p:nvPr/>
        </p:nvSpPr>
        <p:spPr>
          <a:xfrm>
            <a:off x="1234440" y="621792"/>
            <a:ext cx="10241280" cy="640080"/>
          </a:xfrm>
          <a:prstGeom prst="rect">
            <a:avLst/>
          </a:prstGeom>
          <a:noFill/>
        </p:spPr>
        <p:txBody>
          <a:bodyPr wrap="square" anchor="t"/>
          <a:lstStyle/>
          <a:p>
            <a:pPr rtl="1" algn="r"/>
            <a:r>
              <a:rPr sz="2800" b="0">
                <a:solidFill>
                  <a:srgbClr val="0C100E"/>
                </a:solidFill>
                <a:latin typeface="Amiri"/>
                <a:ea typeface="Amiri"/>
                <a:cs typeface="Amiri"/>
              </a:rPr>
              <a:t>شكل ثابت. صورة تُستبدل.</a:t>
            </a:r>
          </a:p>
        </p:txBody>
      </p:sp>
      <p:pic>
        <p:nvPicPr>
          <p:cNvPr id="6" name="Picture 5" descr="circle-01.png"/>
          <p:cNvPicPr>
            <a:picLocks noChangeAspect="1"/>
          </p:cNvPicPr>
          <p:nvPr/>
        </p:nvPicPr>
        <p:blipFill>
          <a:blip r:embed="rId2"/>
          <a:stretch>
            <a:fillRect/>
          </a:stretch>
        </p:blipFill>
        <p:spPr>
          <a:xfrm>
            <a:off x="566928" y="1508760"/>
            <a:ext cx="2606040" cy="3977639"/>
          </a:xfrm>
          <a:prstGeom prst="ellipse">
            <a:avLst/>
          </a:prstGeom>
        </p:spPr>
      </p:pic>
      <p:sp>
        <p:nvSpPr>
          <p:cNvPr id="7" name="TextBox 6"/>
          <p:cNvSpPr txBox="1"/>
          <p:nvPr/>
        </p:nvSpPr>
        <p:spPr>
          <a:xfrm>
            <a:off x="566928" y="5577840"/>
            <a:ext cx="2606040" cy="365760"/>
          </a:xfrm>
          <a:prstGeom prst="rect">
            <a:avLst/>
          </a:prstGeom>
          <a:noFill/>
        </p:spPr>
        <p:txBody>
          <a:bodyPr wrap="square" anchor="t"/>
          <a:lstStyle/>
          <a:p>
            <a:pPr rtl="1" algn="ctr"/>
            <a:r>
              <a:rPr sz="1300" b="0">
                <a:solidFill>
                  <a:srgbClr val="3A403C"/>
                </a:solidFill>
                <a:latin typeface="IBM Plex Sans Arabic"/>
                <a:ea typeface="IBM Plex Sans Arabic"/>
                <a:cs typeface="IBM Plex Sans Arabic"/>
              </a:rPr>
              <a:t>دائري · قيادات</a:t>
            </a:r>
          </a:p>
        </p:txBody>
      </p:sp>
      <p:pic>
        <p:nvPicPr>
          <p:cNvPr id="8" name="Picture 7" descr="arch-01.png"/>
          <p:cNvPicPr>
            <a:picLocks noChangeAspect="1"/>
          </p:cNvPicPr>
          <p:nvPr/>
        </p:nvPicPr>
        <p:blipFill>
          <a:blip r:embed="rId3"/>
          <a:stretch>
            <a:fillRect/>
          </a:stretch>
        </p:blipFill>
        <p:spPr>
          <a:xfrm>
            <a:off x="3447288" y="1508760"/>
            <a:ext cx="2606040" cy="3977639"/>
          </a:xfrm>
          <a:prstGeom prst="rect">
            <a:avLst/>
          </a:prstGeom>
        </p:spPr>
      </p:pic>
      <p:sp>
        <p:nvSpPr>
          <p:cNvPr id="9" name="TextBox 8"/>
          <p:cNvSpPr txBox="1"/>
          <p:nvPr/>
        </p:nvSpPr>
        <p:spPr>
          <a:xfrm>
            <a:off x="3447288" y="5577840"/>
            <a:ext cx="2606040" cy="365760"/>
          </a:xfrm>
          <a:prstGeom prst="rect">
            <a:avLst/>
          </a:prstGeom>
          <a:noFill/>
        </p:spPr>
        <p:txBody>
          <a:bodyPr wrap="square" anchor="t"/>
          <a:lstStyle/>
          <a:p>
            <a:pPr rtl="1" algn="ctr"/>
            <a:r>
              <a:rPr sz="1300" b="0">
                <a:solidFill>
                  <a:srgbClr val="3A403C"/>
                </a:solidFill>
                <a:latin typeface="IBM Plex Sans Arabic"/>
                <a:ea typeface="IBM Plex Sans Arabic"/>
                <a:cs typeface="IBM Plex Sans Arabic"/>
              </a:rPr>
              <a:t>قوس · بورتريه</a:t>
            </a:r>
          </a:p>
        </p:txBody>
      </p:sp>
      <p:pic>
        <p:nvPicPr>
          <p:cNvPr id="10" name="Picture 9" descr="rounded-01.png"/>
          <p:cNvPicPr>
            <a:picLocks noChangeAspect="1"/>
          </p:cNvPicPr>
          <p:nvPr/>
        </p:nvPicPr>
        <p:blipFill>
          <a:blip r:embed="rId4"/>
          <a:stretch>
            <a:fillRect/>
          </a:stretch>
        </p:blipFill>
        <p:spPr>
          <a:xfrm>
            <a:off x="6327648" y="1508760"/>
            <a:ext cx="2606040" cy="3977639"/>
          </a:xfrm>
          <a:prstGeom prst="rect">
            <a:avLst/>
          </a:prstGeom>
        </p:spPr>
      </p:pic>
      <p:sp>
        <p:nvSpPr>
          <p:cNvPr id="11" name="TextBox 10"/>
          <p:cNvSpPr txBox="1"/>
          <p:nvPr/>
        </p:nvSpPr>
        <p:spPr>
          <a:xfrm>
            <a:off x="6327648" y="5577840"/>
            <a:ext cx="2606040" cy="365760"/>
          </a:xfrm>
          <a:prstGeom prst="rect">
            <a:avLst/>
          </a:prstGeom>
          <a:noFill/>
        </p:spPr>
        <p:txBody>
          <a:bodyPr wrap="square" anchor="t"/>
          <a:lstStyle/>
          <a:p>
            <a:pPr rtl="1" algn="ctr"/>
            <a:r>
              <a:rPr sz="1300" b="0">
                <a:solidFill>
                  <a:srgbClr val="3A403C"/>
                </a:solidFill>
                <a:latin typeface="IBM Plex Sans Arabic"/>
                <a:ea typeface="IBM Plex Sans Arabic"/>
                <a:cs typeface="IBM Plex Sans Arabic"/>
              </a:rPr>
              <a:t>مستطيل ناعم</a:t>
            </a:r>
          </a:p>
        </p:txBody>
      </p:sp>
      <p:pic>
        <p:nvPicPr>
          <p:cNvPr id="12" name="Picture 11" descr="wave-01.png"/>
          <p:cNvPicPr>
            <a:picLocks noChangeAspect="1"/>
          </p:cNvPicPr>
          <p:nvPr/>
        </p:nvPicPr>
        <p:blipFill>
          <a:blip r:embed="rId5"/>
          <a:stretch>
            <a:fillRect/>
          </a:stretch>
        </p:blipFill>
        <p:spPr>
          <a:xfrm>
            <a:off x="9208008" y="1508760"/>
            <a:ext cx="2606040" cy="3977639"/>
          </a:xfrm>
          <a:prstGeom prst="rect">
            <a:avLst/>
          </a:prstGeom>
        </p:spPr>
      </p:pic>
      <p:sp>
        <p:nvSpPr>
          <p:cNvPr id="13" name="TextBox 12"/>
          <p:cNvSpPr txBox="1"/>
          <p:nvPr/>
        </p:nvSpPr>
        <p:spPr>
          <a:xfrm>
            <a:off x="9208008" y="5577840"/>
            <a:ext cx="2606040" cy="365760"/>
          </a:xfrm>
          <a:prstGeom prst="rect">
            <a:avLst/>
          </a:prstGeom>
          <a:noFill/>
        </p:spPr>
        <p:txBody>
          <a:bodyPr wrap="square" anchor="t"/>
          <a:lstStyle/>
          <a:p>
            <a:pPr rtl="1" algn="ctr"/>
            <a:r>
              <a:rPr sz="1300" b="0">
                <a:solidFill>
                  <a:srgbClr val="3A403C"/>
                </a:solidFill>
                <a:latin typeface="IBM Plex Sans Arabic"/>
                <a:ea typeface="IBM Plex Sans Arabic"/>
                <a:cs typeface="IBM Plex Sans Arabic"/>
              </a:rPr>
              <a:t>موجة روتانا</a:t>
            </a:r>
          </a:p>
        </p:txBody>
      </p:sp>
      <p:sp>
        <p:nvSpPr>
          <p:cNvPr id="14" name="TextBox 13"/>
          <p:cNvSpPr txBox="1"/>
          <p:nvPr/>
        </p:nvSpPr>
        <p:spPr>
          <a:xfrm>
            <a:off x="566928" y="5989320"/>
            <a:ext cx="10972800" cy="274320"/>
          </a:xfrm>
          <a:prstGeom prst="rect">
            <a:avLst/>
          </a:prstGeom>
          <a:noFill/>
        </p:spPr>
        <p:txBody>
          <a:bodyPr wrap="square" anchor="t"/>
          <a:lstStyle/>
          <a:p>
            <a:pPr rtl="1" algn="r"/>
            <a:r>
              <a:rPr sz="1300" b="0">
                <a:solidFill>
                  <a:srgbClr val="6A706C"/>
                </a:solidFill>
                <a:latin typeface="IBM Plex Sans Arabic"/>
                <a:ea typeface="IBM Plex Sans Arabic"/>
                <a:cs typeface="IBM Plex Sans Arabic"/>
              </a:rPr>
              <a:t>Picture Format → Change Picture. الماسك يبقى.</a:t>
            </a:r>
          </a:p>
        </p:txBody>
      </p:sp>
      <p:sp>
        <p:nvSpPr>
          <p:cNvPr id="15" name="TextBox 14"/>
          <p:cNvSpPr txBox="1"/>
          <p:nvPr/>
        </p:nvSpPr>
        <p:spPr>
          <a:xfrm>
            <a:off x="566928" y="6510528"/>
            <a:ext cx="4572000" cy="256032"/>
          </a:xfrm>
          <a:prstGeom prst="rect">
            <a:avLst/>
          </a:prstGeom>
          <a:noFill/>
        </p:spPr>
        <p:txBody>
          <a:bodyPr wrap="square" anchor="t"/>
          <a:lstStyle/>
          <a:p>
            <a:pPr rtl="1" algn="r"/>
            <a:r>
              <a:rPr sz="1100" b="0">
                <a:solidFill>
                  <a:srgbClr val="6A706C"/>
                </a:solidFill>
                <a:latin typeface="IBM Plex Sans Arabic"/>
                <a:ea typeface="IBM Plex Sans Arabic"/>
                <a:cs typeface="IBM Plex Sans Arabic"/>
              </a:rPr>
              <a:t>روتانا  ·  الموارد البشرية</a:t>
            </a:r>
          </a:p>
        </p:txBody>
      </p:sp>
      <p:sp>
        <p:nvSpPr>
          <p:cNvPr id="16" name="TextBox 15"/>
          <p:cNvSpPr txBox="1"/>
          <p:nvPr/>
        </p:nvSpPr>
        <p:spPr>
          <a:xfrm>
            <a:off x="9509760" y="6510528"/>
            <a:ext cx="2103120" cy="256032"/>
          </a:xfrm>
          <a:prstGeom prst="rect">
            <a:avLst/>
          </a:prstGeom>
          <a:noFill/>
        </p:spPr>
        <p:txBody>
          <a:bodyPr wrap="square" anchor="t"/>
          <a:lstStyle/>
          <a:p>
            <a:pPr rtl="1" algn="l"/>
            <a:r>
              <a:rPr sz="1100" b="0">
                <a:solidFill>
                  <a:srgbClr val="6A706C"/>
                </a:solidFill>
                <a:latin typeface="IBM Plex Mono"/>
                <a:ea typeface="IBM Plex Mono"/>
                <a:cs typeface="IBM Plex Mono"/>
              </a:rPr>
              <a:t>07  /  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640080" cy="274320"/>
          </a:xfrm>
          <a:prstGeom prst="rect">
            <a:avLst/>
          </a:prstGeom>
          <a:noFill/>
        </p:spPr>
        <p:txBody>
          <a:bodyPr wrap="square" anchor="t"/>
          <a:lstStyle/>
          <a:p>
            <a:pPr rtl="1" algn="r"/>
            <a:r>
              <a:rPr sz="1100" b="0">
                <a:solidFill>
                  <a:srgbClr val="00512F"/>
                </a:solidFill>
                <a:latin typeface="IBM Plex Mono"/>
                <a:ea typeface="IBM Plex Mono"/>
                <a:cs typeface="IBM Plex Mono"/>
              </a:rPr>
              <a:t>٠٨</a:t>
            </a:r>
          </a:p>
        </p:txBody>
      </p:sp>
      <p:sp>
        <p:nvSpPr>
          <p:cNvPr id="4" name="TextBox 3"/>
          <p:cNvSpPr txBox="1"/>
          <p:nvPr/>
        </p:nvSpPr>
        <p:spPr>
          <a:xfrm>
            <a:off x="1234440" y="384048"/>
            <a:ext cx="10058400" cy="256032"/>
          </a:xfrm>
          <a:prstGeom prst="rect">
            <a:avLst/>
          </a:prstGeom>
          <a:noFill/>
        </p:spPr>
        <p:txBody>
          <a:bodyPr wrap="square" anchor="t"/>
          <a:lstStyle/>
          <a:p>
            <a:pPr rtl="1" algn="r"/>
            <a:r>
              <a:rPr sz="1100" b="0">
                <a:solidFill>
                  <a:srgbClr val="00512F"/>
                </a:solidFill>
                <a:latin typeface="IBM Plex Sans"/>
                <a:ea typeface="IBM Plex Sans"/>
                <a:cs typeface="IBM Plex Sans"/>
              </a:rPr>
              <a:t>مكتبة الأيقونات</a:t>
            </a:r>
          </a:p>
        </p:txBody>
      </p:sp>
      <p:sp>
        <p:nvSpPr>
          <p:cNvPr id="5" name="TextBox 4"/>
          <p:cNvSpPr txBox="1"/>
          <p:nvPr/>
        </p:nvSpPr>
        <p:spPr>
          <a:xfrm>
            <a:off x="1234440" y="621792"/>
            <a:ext cx="10241280" cy="640080"/>
          </a:xfrm>
          <a:prstGeom prst="rect">
            <a:avLst/>
          </a:prstGeom>
          <a:noFill/>
        </p:spPr>
        <p:txBody>
          <a:bodyPr wrap="square" anchor="t"/>
          <a:lstStyle/>
          <a:p>
            <a:pPr rtl="1" algn="r"/>
            <a:r>
              <a:rPr sz="2800" b="0">
                <a:solidFill>
                  <a:srgbClr val="0C100E"/>
                </a:solidFill>
                <a:latin typeface="Amiri"/>
                <a:ea typeface="Amiri"/>
                <a:cs typeface="Amiri"/>
              </a:rPr>
              <a:t>خط واحد، نهايات مدوّرة — بلغة الشعار.</a:t>
            </a:r>
          </a:p>
        </p:txBody>
      </p:sp>
      <p:pic>
        <p:nvPicPr>
          <p:cNvPr id="6" name="Picture 5" descr="people.png"/>
          <p:cNvPicPr>
            <a:picLocks noChangeAspect="1"/>
          </p:cNvPicPr>
          <p:nvPr/>
        </p:nvPicPr>
        <p:blipFill>
          <a:blip r:embed="rId2"/>
          <a:stretch>
            <a:fillRect/>
          </a:stretch>
        </p:blipFill>
        <p:spPr>
          <a:xfrm>
            <a:off x="1069848" y="1554480"/>
            <a:ext cx="384048" cy="384048"/>
          </a:xfrm>
          <a:prstGeom prst="rect">
            <a:avLst/>
          </a:prstGeom>
        </p:spPr>
      </p:pic>
      <p:sp>
        <p:nvSpPr>
          <p:cNvPr id="7" name="TextBox 6"/>
          <p:cNvSpPr txBox="1"/>
          <p:nvPr/>
        </p:nvSpPr>
        <p:spPr>
          <a:xfrm>
            <a:off x="566928" y="2011680"/>
            <a:ext cx="1417320" cy="292608"/>
          </a:xfrm>
          <a:prstGeom prst="rect">
            <a:avLst/>
          </a:prstGeom>
          <a:noFill/>
        </p:spPr>
        <p:txBody>
          <a:bodyPr wrap="square" anchor="t"/>
          <a:lstStyle/>
          <a:p>
            <a:pPr rtl="1" algn="ctr"/>
            <a:r>
              <a:rPr sz="1200" b="0">
                <a:solidFill>
                  <a:srgbClr val="3A403C"/>
                </a:solidFill>
                <a:latin typeface="IBM Plex Sans Arabic"/>
                <a:ea typeface="IBM Plex Sans Arabic"/>
                <a:cs typeface="IBM Plex Sans Arabic"/>
              </a:rPr>
              <a:t>فريق</a:t>
            </a:r>
          </a:p>
        </p:txBody>
      </p:sp>
      <p:pic>
        <p:nvPicPr>
          <p:cNvPr id="8" name="Picture 7" descr="hire.png"/>
          <p:cNvPicPr>
            <a:picLocks noChangeAspect="1"/>
          </p:cNvPicPr>
          <p:nvPr/>
        </p:nvPicPr>
        <p:blipFill>
          <a:blip r:embed="rId3"/>
          <a:stretch>
            <a:fillRect/>
          </a:stretch>
        </p:blipFill>
        <p:spPr>
          <a:xfrm>
            <a:off x="2697480" y="1554480"/>
            <a:ext cx="384048" cy="384048"/>
          </a:xfrm>
          <a:prstGeom prst="rect">
            <a:avLst/>
          </a:prstGeom>
        </p:spPr>
      </p:pic>
      <p:sp>
        <p:nvSpPr>
          <p:cNvPr id="9" name="TextBox 8"/>
          <p:cNvSpPr txBox="1"/>
          <p:nvPr/>
        </p:nvSpPr>
        <p:spPr>
          <a:xfrm>
            <a:off x="2194560" y="2011680"/>
            <a:ext cx="1417320" cy="292608"/>
          </a:xfrm>
          <a:prstGeom prst="rect">
            <a:avLst/>
          </a:prstGeom>
          <a:noFill/>
        </p:spPr>
        <p:txBody>
          <a:bodyPr wrap="square" anchor="t"/>
          <a:lstStyle/>
          <a:p>
            <a:pPr rtl="1" algn="ctr"/>
            <a:r>
              <a:rPr sz="1200" b="0">
                <a:solidFill>
                  <a:srgbClr val="3A403C"/>
                </a:solidFill>
                <a:latin typeface="IBM Plex Sans Arabic"/>
                <a:ea typeface="IBM Plex Sans Arabic"/>
                <a:cs typeface="IBM Plex Sans Arabic"/>
              </a:rPr>
              <a:t>استقطاب</a:t>
            </a:r>
          </a:p>
        </p:txBody>
      </p:sp>
      <p:pic>
        <p:nvPicPr>
          <p:cNvPr id="10" name="Picture 9" descr="onboard.png"/>
          <p:cNvPicPr>
            <a:picLocks noChangeAspect="1"/>
          </p:cNvPicPr>
          <p:nvPr/>
        </p:nvPicPr>
        <p:blipFill>
          <a:blip r:embed="rId4"/>
          <a:stretch>
            <a:fillRect/>
          </a:stretch>
        </p:blipFill>
        <p:spPr>
          <a:xfrm>
            <a:off x="4325112" y="1554480"/>
            <a:ext cx="384048" cy="384048"/>
          </a:xfrm>
          <a:prstGeom prst="rect">
            <a:avLst/>
          </a:prstGeom>
        </p:spPr>
      </p:pic>
      <p:sp>
        <p:nvSpPr>
          <p:cNvPr id="11" name="TextBox 10"/>
          <p:cNvSpPr txBox="1"/>
          <p:nvPr/>
        </p:nvSpPr>
        <p:spPr>
          <a:xfrm>
            <a:off x="3822192" y="2011680"/>
            <a:ext cx="1417320" cy="292608"/>
          </a:xfrm>
          <a:prstGeom prst="rect">
            <a:avLst/>
          </a:prstGeom>
          <a:noFill/>
        </p:spPr>
        <p:txBody>
          <a:bodyPr wrap="square" anchor="t"/>
          <a:lstStyle/>
          <a:p>
            <a:pPr rtl="1" algn="ctr"/>
            <a:r>
              <a:rPr sz="1200" b="0">
                <a:solidFill>
                  <a:srgbClr val="3A403C"/>
                </a:solidFill>
                <a:latin typeface="IBM Plex Sans Arabic"/>
                <a:ea typeface="IBM Plex Sans Arabic"/>
                <a:cs typeface="IBM Plex Sans Arabic"/>
              </a:rPr>
              <a:t>تهيئة</a:t>
            </a:r>
          </a:p>
        </p:txBody>
      </p:sp>
      <p:pic>
        <p:nvPicPr>
          <p:cNvPr id="12" name="Picture 11" descr="train.png"/>
          <p:cNvPicPr>
            <a:picLocks noChangeAspect="1"/>
          </p:cNvPicPr>
          <p:nvPr/>
        </p:nvPicPr>
        <p:blipFill>
          <a:blip r:embed="rId5"/>
          <a:stretch>
            <a:fillRect/>
          </a:stretch>
        </p:blipFill>
        <p:spPr>
          <a:xfrm>
            <a:off x="5952744" y="1554480"/>
            <a:ext cx="384048" cy="384048"/>
          </a:xfrm>
          <a:prstGeom prst="rect">
            <a:avLst/>
          </a:prstGeom>
        </p:spPr>
      </p:pic>
      <p:sp>
        <p:nvSpPr>
          <p:cNvPr id="13" name="TextBox 12"/>
          <p:cNvSpPr txBox="1"/>
          <p:nvPr/>
        </p:nvSpPr>
        <p:spPr>
          <a:xfrm>
            <a:off x="5449824" y="2011680"/>
            <a:ext cx="1417320" cy="292608"/>
          </a:xfrm>
          <a:prstGeom prst="rect">
            <a:avLst/>
          </a:prstGeom>
          <a:noFill/>
        </p:spPr>
        <p:txBody>
          <a:bodyPr wrap="square" anchor="t"/>
          <a:lstStyle/>
          <a:p>
            <a:pPr rtl="1" algn="ctr"/>
            <a:r>
              <a:rPr sz="1200" b="0">
                <a:solidFill>
                  <a:srgbClr val="3A403C"/>
                </a:solidFill>
                <a:latin typeface="IBM Plex Sans Arabic"/>
                <a:ea typeface="IBM Plex Sans Arabic"/>
                <a:cs typeface="IBM Plex Sans Arabic"/>
              </a:rPr>
              <a:t>تدريب</a:t>
            </a:r>
          </a:p>
        </p:txBody>
      </p:sp>
      <p:pic>
        <p:nvPicPr>
          <p:cNvPr id="14" name="Picture 13" descr="performance.png"/>
          <p:cNvPicPr>
            <a:picLocks noChangeAspect="1"/>
          </p:cNvPicPr>
          <p:nvPr/>
        </p:nvPicPr>
        <p:blipFill>
          <a:blip r:embed="rId6"/>
          <a:stretch>
            <a:fillRect/>
          </a:stretch>
        </p:blipFill>
        <p:spPr>
          <a:xfrm>
            <a:off x="7580376" y="1554480"/>
            <a:ext cx="384048" cy="384048"/>
          </a:xfrm>
          <a:prstGeom prst="rect">
            <a:avLst/>
          </a:prstGeom>
        </p:spPr>
      </p:pic>
      <p:sp>
        <p:nvSpPr>
          <p:cNvPr id="15" name="TextBox 14"/>
          <p:cNvSpPr txBox="1"/>
          <p:nvPr/>
        </p:nvSpPr>
        <p:spPr>
          <a:xfrm>
            <a:off x="7077456" y="2011680"/>
            <a:ext cx="1417320" cy="292608"/>
          </a:xfrm>
          <a:prstGeom prst="rect">
            <a:avLst/>
          </a:prstGeom>
          <a:noFill/>
        </p:spPr>
        <p:txBody>
          <a:bodyPr wrap="square" anchor="t"/>
          <a:lstStyle/>
          <a:p>
            <a:pPr rtl="1" algn="ctr"/>
            <a:r>
              <a:rPr sz="1200" b="0">
                <a:solidFill>
                  <a:srgbClr val="3A403C"/>
                </a:solidFill>
                <a:latin typeface="IBM Plex Sans Arabic"/>
                <a:ea typeface="IBM Plex Sans Arabic"/>
                <a:cs typeface="IBM Plex Sans Arabic"/>
              </a:rPr>
              <a:t>أداء</a:t>
            </a:r>
          </a:p>
        </p:txBody>
      </p:sp>
      <p:pic>
        <p:nvPicPr>
          <p:cNvPr id="16" name="Picture 15" descr="benefits.png"/>
          <p:cNvPicPr>
            <a:picLocks noChangeAspect="1"/>
          </p:cNvPicPr>
          <p:nvPr/>
        </p:nvPicPr>
        <p:blipFill>
          <a:blip r:embed="rId7"/>
          <a:stretch>
            <a:fillRect/>
          </a:stretch>
        </p:blipFill>
        <p:spPr>
          <a:xfrm>
            <a:off x="9208008" y="1554480"/>
            <a:ext cx="384048" cy="384048"/>
          </a:xfrm>
          <a:prstGeom prst="rect">
            <a:avLst/>
          </a:prstGeom>
        </p:spPr>
      </p:pic>
      <p:sp>
        <p:nvSpPr>
          <p:cNvPr id="17" name="TextBox 16"/>
          <p:cNvSpPr txBox="1"/>
          <p:nvPr/>
        </p:nvSpPr>
        <p:spPr>
          <a:xfrm>
            <a:off x="8705088" y="2011680"/>
            <a:ext cx="1417320" cy="292608"/>
          </a:xfrm>
          <a:prstGeom prst="rect">
            <a:avLst/>
          </a:prstGeom>
          <a:noFill/>
        </p:spPr>
        <p:txBody>
          <a:bodyPr wrap="square" anchor="t"/>
          <a:lstStyle/>
          <a:p>
            <a:pPr rtl="1" algn="ctr"/>
            <a:r>
              <a:rPr sz="1200" b="0">
                <a:solidFill>
                  <a:srgbClr val="3A403C"/>
                </a:solidFill>
                <a:latin typeface="IBM Plex Sans Arabic"/>
                <a:ea typeface="IBM Plex Sans Arabic"/>
                <a:cs typeface="IBM Plex Sans Arabic"/>
              </a:rPr>
              <a:t>مزايا</a:t>
            </a:r>
          </a:p>
        </p:txBody>
      </p:sp>
      <p:pic>
        <p:nvPicPr>
          <p:cNvPr id="18" name="Picture 17" descr="relations.png"/>
          <p:cNvPicPr>
            <a:picLocks noChangeAspect="1"/>
          </p:cNvPicPr>
          <p:nvPr/>
        </p:nvPicPr>
        <p:blipFill>
          <a:blip r:embed="rId8"/>
          <a:stretch>
            <a:fillRect/>
          </a:stretch>
        </p:blipFill>
        <p:spPr>
          <a:xfrm>
            <a:off x="10835640" y="1554480"/>
            <a:ext cx="384048" cy="384048"/>
          </a:xfrm>
          <a:prstGeom prst="rect">
            <a:avLst/>
          </a:prstGeom>
        </p:spPr>
      </p:pic>
      <p:sp>
        <p:nvSpPr>
          <p:cNvPr id="19" name="TextBox 18"/>
          <p:cNvSpPr txBox="1"/>
          <p:nvPr/>
        </p:nvSpPr>
        <p:spPr>
          <a:xfrm>
            <a:off x="10332720" y="2011680"/>
            <a:ext cx="1417320" cy="292608"/>
          </a:xfrm>
          <a:prstGeom prst="rect">
            <a:avLst/>
          </a:prstGeom>
          <a:noFill/>
        </p:spPr>
        <p:txBody>
          <a:bodyPr wrap="square" anchor="t"/>
          <a:lstStyle/>
          <a:p>
            <a:pPr rtl="1" algn="ctr"/>
            <a:r>
              <a:rPr sz="1200" b="0">
                <a:solidFill>
                  <a:srgbClr val="3A403C"/>
                </a:solidFill>
                <a:latin typeface="IBM Plex Sans Arabic"/>
                <a:ea typeface="IBM Plex Sans Arabic"/>
                <a:cs typeface="IBM Plex Sans Arabic"/>
              </a:rPr>
              <a:t>علاقات</a:t>
            </a:r>
          </a:p>
        </p:txBody>
      </p:sp>
      <p:pic>
        <p:nvPicPr>
          <p:cNvPr id="20" name="Picture 19" descr="culture.png"/>
          <p:cNvPicPr>
            <a:picLocks noChangeAspect="1"/>
          </p:cNvPicPr>
          <p:nvPr/>
        </p:nvPicPr>
        <p:blipFill>
          <a:blip r:embed="rId9"/>
          <a:stretch>
            <a:fillRect/>
          </a:stretch>
        </p:blipFill>
        <p:spPr>
          <a:xfrm>
            <a:off x="1069848" y="2670048"/>
            <a:ext cx="384048" cy="384048"/>
          </a:xfrm>
          <a:prstGeom prst="rect">
            <a:avLst/>
          </a:prstGeom>
        </p:spPr>
      </p:pic>
      <p:sp>
        <p:nvSpPr>
          <p:cNvPr id="21" name="TextBox 20"/>
          <p:cNvSpPr txBox="1"/>
          <p:nvPr/>
        </p:nvSpPr>
        <p:spPr>
          <a:xfrm>
            <a:off x="566928" y="3127248"/>
            <a:ext cx="1417320" cy="292608"/>
          </a:xfrm>
          <a:prstGeom prst="rect">
            <a:avLst/>
          </a:prstGeom>
          <a:noFill/>
        </p:spPr>
        <p:txBody>
          <a:bodyPr wrap="square" anchor="t"/>
          <a:lstStyle/>
          <a:p>
            <a:pPr rtl="1" algn="ctr"/>
            <a:r>
              <a:rPr sz="1200" b="0">
                <a:solidFill>
                  <a:srgbClr val="3A403C"/>
                </a:solidFill>
                <a:latin typeface="IBM Plex Sans Arabic"/>
                <a:ea typeface="IBM Plex Sans Arabic"/>
                <a:cs typeface="IBM Plex Sans Arabic"/>
              </a:rPr>
              <a:t>ثقافة</a:t>
            </a:r>
          </a:p>
        </p:txBody>
      </p:sp>
      <p:pic>
        <p:nvPicPr>
          <p:cNvPr id="22" name="Picture 21" descr="wellness.png"/>
          <p:cNvPicPr>
            <a:picLocks noChangeAspect="1"/>
          </p:cNvPicPr>
          <p:nvPr/>
        </p:nvPicPr>
        <p:blipFill>
          <a:blip r:embed="rId10"/>
          <a:stretch>
            <a:fillRect/>
          </a:stretch>
        </p:blipFill>
        <p:spPr>
          <a:xfrm>
            <a:off x="2697480" y="2670048"/>
            <a:ext cx="384048" cy="384048"/>
          </a:xfrm>
          <a:prstGeom prst="rect">
            <a:avLst/>
          </a:prstGeom>
        </p:spPr>
      </p:pic>
      <p:sp>
        <p:nvSpPr>
          <p:cNvPr id="23" name="TextBox 22"/>
          <p:cNvSpPr txBox="1"/>
          <p:nvPr/>
        </p:nvSpPr>
        <p:spPr>
          <a:xfrm>
            <a:off x="2194560" y="3127248"/>
            <a:ext cx="1417320" cy="292608"/>
          </a:xfrm>
          <a:prstGeom prst="rect">
            <a:avLst/>
          </a:prstGeom>
          <a:noFill/>
        </p:spPr>
        <p:txBody>
          <a:bodyPr wrap="square" anchor="t"/>
          <a:lstStyle/>
          <a:p>
            <a:pPr rtl="1" algn="ctr"/>
            <a:r>
              <a:rPr sz="1200" b="0">
                <a:solidFill>
                  <a:srgbClr val="3A403C"/>
                </a:solidFill>
                <a:latin typeface="IBM Plex Sans Arabic"/>
                <a:ea typeface="IBM Plex Sans Arabic"/>
                <a:cs typeface="IBM Plex Sans Arabic"/>
              </a:rPr>
              <a:t>رفاه</a:t>
            </a:r>
          </a:p>
        </p:txBody>
      </p:sp>
      <p:pic>
        <p:nvPicPr>
          <p:cNvPr id="24" name="Picture 23" descr="payroll.png"/>
          <p:cNvPicPr>
            <a:picLocks noChangeAspect="1"/>
          </p:cNvPicPr>
          <p:nvPr/>
        </p:nvPicPr>
        <p:blipFill>
          <a:blip r:embed="rId11"/>
          <a:stretch>
            <a:fillRect/>
          </a:stretch>
        </p:blipFill>
        <p:spPr>
          <a:xfrm>
            <a:off x="4325112" y="2670048"/>
            <a:ext cx="384048" cy="384048"/>
          </a:xfrm>
          <a:prstGeom prst="rect">
            <a:avLst/>
          </a:prstGeom>
        </p:spPr>
      </p:pic>
      <p:sp>
        <p:nvSpPr>
          <p:cNvPr id="25" name="TextBox 24"/>
          <p:cNvSpPr txBox="1"/>
          <p:nvPr/>
        </p:nvSpPr>
        <p:spPr>
          <a:xfrm>
            <a:off x="3822192" y="3127248"/>
            <a:ext cx="1417320" cy="292608"/>
          </a:xfrm>
          <a:prstGeom prst="rect">
            <a:avLst/>
          </a:prstGeom>
          <a:noFill/>
        </p:spPr>
        <p:txBody>
          <a:bodyPr wrap="square" anchor="t"/>
          <a:lstStyle/>
          <a:p>
            <a:pPr rtl="1" algn="ctr"/>
            <a:r>
              <a:rPr sz="1200" b="0">
                <a:solidFill>
                  <a:srgbClr val="3A403C"/>
                </a:solidFill>
                <a:latin typeface="IBM Plex Sans Arabic"/>
                <a:ea typeface="IBM Plex Sans Arabic"/>
                <a:cs typeface="IBM Plex Sans Arabic"/>
              </a:rPr>
              <a:t>رواتب</a:t>
            </a:r>
          </a:p>
        </p:txBody>
      </p:sp>
      <p:pic>
        <p:nvPicPr>
          <p:cNvPr id="26" name="Picture 25" descr="policy.png"/>
          <p:cNvPicPr>
            <a:picLocks noChangeAspect="1"/>
          </p:cNvPicPr>
          <p:nvPr/>
        </p:nvPicPr>
        <p:blipFill>
          <a:blip r:embed="rId12"/>
          <a:stretch>
            <a:fillRect/>
          </a:stretch>
        </p:blipFill>
        <p:spPr>
          <a:xfrm>
            <a:off x="5952744" y="2670048"/>
            <a:ext cx="384048" cy="384048"/>
          </a:xfrm>
          <a:prstGeom prst="rect">
            <a:avLst/>
          </a:prstGeom>
        </p:spPr>
      </p:pic>
      <p:sp>
        <p:nvSpPr>
          <p:cNvPr id="27" name="TextBox 26"/>
          <p:cNvSpPr txBox="1"/>
          <p:nvPr/>
        </p:nvSpPr>
        <p:spPr>
          <a:xfrm>
            <a:off x="5449824" y="3127248"/>
            <a:ext cx="1417320" cy="292608"/>
          </a:xfrm>
          <a:prstGeom prst="rect">
            <a:avLst/>
          </a:prstGeom>
          <a:noFill/>
        </p:spPr>
        <p:txBody>
          <a:bodyPr wrap="square" anchor="t"/>
          <a:lstStyle/>
          <a:p>
            <a:pPr rtl="1" algn="ctr"/>
            <a:r>
              <a:rPr sz="1200" b="0">
                <a:solidFill>
                  <a:srgbClr val="3A403C"/>
                </a:solidFill>
                <a:latin typeface="IBM Plex Sans Arabic"/>
                <a:ea typeface="IBM Plex Sans Arabic"/>
                <a:cs typeface="IBM Plex Sans Arabic"/>
              </a:rPr>
              <a:t>سياسات</a:t>
            </a:r>
          </a:p>
        </p:txBody>
      </p:sp>
      <p:pic>
        <p:nvPicPr>
          <p:cNvPr id="28" name="Picture 27" descr="talent.png"/>
          <p:cNvPicPr>
            <a:picLocks noChangeAspect="1"/>
          </p:cNvPicPr>
          <p:nvPr/>
        </p:nvPicPr>
        <p:blipFill>
          <a:blip r:embed="rId13"/>
          <a:stretch>
            <a:fillRect/>
          </a:stretch>
        </p:blipFill>
        <p:spPr>
          <a:xfrm>
            <a:off x="7580376" y="2670048"/>
            <a:ext cx="384048" cy="384048"/>
          </a:xfrm>
          <a:prstGeom prst="rect">
            <a:avLst/>
          </a:prstGeom>
        </p:spPr>
      </p:pic>
      <p:sp>
        <p:nvSpPr>
          <p:cNvPr id="29" name="TextBox 28"/>
          <p:cNvSpPr txBox="1"/>
          <p:nvPr/>
        </p:nvSpPr>
        <p:spPr>
          <a:xfrm>
            <a:off x="7077456" y="3127248"/>
            <a:ext cx="1417320" cy="292608"/>
          </a:xfrm>
          <a:prstGeom prst="rect">
            <a:avLst/>
          </a:prstGeom>
          <a:noFill/>
        </p:spPr>
        <p:txBody>
          <a:bodyPr wrap="square" anchor="t"/>
          <a:lstStyle/>
          <a:p>
            <a:pPr rtl="1" algn="ctr"/>
            <a:r>
              <a:rPr sz="1200" b="0">
                <a:solidFill>
                  <a:srgbClr val="3A403C"/>
                </a:solidFill>
                <a:latin typeface="IBM Plex Sans Arabic"/>
                <a:ea typeface="IBM Plex Sans Arabic"/>
                <a:cs typeface="IBM Plex Sans Arabic"/>
              </a:rPr>
              <a:t>مواهب</a:t>
            </a:r>
          </a:p>
        </p:txBody>
      </p:sp>
      <p:pic>
        <p:nvPicPr>
          <p:cNvPr id="30" name="Picture 29" descr="org.png"/>
          <p:cNvPicPr>
            <a:picLocks noChangeAspect="1"/>
          </p:cNvPicPr>
          <p:nvPr/>
        </p:nvPicPr>
        <p:blipFill>
          <a:blip r:embed="rId14"/>
          <a:stretch>
            <a:fillRect/>
          </a:stretch>
        </p:blipFill>
        <p:spPr>
          <a:xfrm>
            <a:off x="9208008" y="2670048"/>
            <a:ext cx="384048" cy="384048"/>
          </a:xfrm>
          <a:prstGeom prst="rect">
            <a:avLst/>
          </a:prstGeom>
        </p:spPr>
      </p:pic>
      <p:sp>
        <p:nvSpPr>
          <p:cNvPr id="31" name="TextBox 30"/>
          <p:cNvSpPr txBox="1"/>
          <p:nvPr/>
        </p:nvSpPr>
        <p:spPr>
          <a:xfrm>
            <a:off x="8705088" y="3127248"/>
            <a:ext cx="1417320" cy="292608"/>
          </a:xfrm>
          <a:prstGeom prst="rect">
            <a:avLst/>
          </a:prstGeom>
          <a:noFill/>
        </p:spPr>
        <p:txBody>
          <a:bodyPr wrap="square" anchor="t"/>
          <a:lstStyle/>
          <a:p>
            <a:pPr rtl="1" algn="ctr"/>
            <a:r>
              <a:rPr sz="1200" b="0">
                <a:solidFill>
                  <a:srgbClr val="3A403C"/>
                </a:solidFill>
                <a:latin typeface="IBM Plex Sans Arabic"/>
                <a:ea typeface="IBM Plex Sans Arabic"/>
                <a:cs typeface="IBM Plex Sans Arabic"/>
              </a:rPr>
              <a:t>هيكل</a:t>
            </a:r>
          </a:p>
        </p:txBody>
      </p:sp>
      <p:pic>
        <p:nvPicPr>
          <p:cNvPr id="32" name="Picture 31" descr="calendar.png"/>
          <p:cNvPicPr>
            <a:picLocks noChangeAspect="1"/>
          </p:cNvPicPr>
          <p:nvPr/>
        </p:nvPicPr>
        <p:blipFill>
          <a:blip r:embed="rId15"/>
          <a:stretch>
            <a:fillRect/>
          </a:stretch>
        </p:blipFill>
        <p:spPr>
          <a:xfrm>
            <a:off x="10835640" y="2670048"/>
            <a:ext cx="384048" cy="384048"/>
          </a:xfrm>
          <a:prstGeom prst="rect">
            <a:avLst/>
          </a:prstGeom>
        </p:spPr>
      </p:pic>
      <p:sp>
        <p:nvSpPr>
          <p:cNvPr id="33" name="TextBox 32"/>
          <p:cNvSpPr txBox="1"/>
          <p:nvPr/>
        </p:nvSpPr>
        <p:spPr>
          <a:xfrm>
            <a:off x="10332720" y="3127248"/>
            <a:ext cx="1417320" cy="292608"/>
          </a:xfrm>
          <a:prstGeom prst="rect">
            <a:avLst/>
          </a:prstGeom>
          <a:noFill/>
        </p:spPr>
        <p:txBody>
          <a:bodyPr wrap="square" anchor="t"/>
          <a:lstStyle/>
          <a:p>
            <a:pPr rtl="1" algn="ctr"/>
            <a:r>
              <a:rPr sz="1200" b="0">
                <a:solidFill>
                  <a:srgbClr val="3A403C"/>
                </a:solidFill>
                <a:latin typeface="IBM Plex Sans Arabic"/>
                <a:ea typeface="IBM Plex Sans Arabic"/>
                <a:cs typeface="IBM Plex Sans Arabic"/>
              </a:rPr>
              <a:t>تقويم</a:t>
            </a:r>
          </a:p>
        </p:txBody>
      </p:sp>
      <p:pic>
        <p:nvPicPr>
          <p:cNvPr id="34" name="Picture 33" descr="chart.png"/>
          <p:cNvPicPr>
            <a:picLocks noChangeAspect="1"/>
          </p:cNvPicPr>
          <p:nvPr/>
        </p:nvPicPr>
        <p:blipFill>
          <a:blip r:embed="rId16"/>
          <a:stretch>
            <a:fillRect/>
          </a:stretch>
        </p:blipFill>
        <p:spPr>
          <a:xfrm>
            <a:off x="1069848" y="3785616"/>
            <a:ext cx="384048" cy="384048"/>
          </a:xfrm>
          <a:prstGeom prst="rect">
            <a:avLst/>
          </a:prstGeom>
        </p:spPr>
      </p:pic>
      <p:sp>
        <p:nvSpPr>
          <p:cNvPr id="35" name="TextBox 34"/>
          <p:cNvSpPr txBox="1"/>
          <p:nvPr/>
        </p:nvSpPr>
        <p:spPr>
          <a:xfrm>
            <a:off x="566928" y="4242816"/>
            <a:ext cx="1417320" cy="292608"/>
          </a:xfrm>
          <a:prstGeom prst="rect">
            <a:avLst/>
          </a:prstGeom>
          <a:noFill/>
        </p:spPr>
        <p:txBody>
          <a:bodyPr wrap="square" anchor="t"/>
          <a:lstStyle/>
          <a:p>
            <a:pPr rtl="1" algn="ctr"/>
            <a:r>
              <a:rPr sz="1200" b="0">
                <a:solidFill>
                  <a:srgbClr val="3A403C"/>
                </a:solidFill>
                <a:latin typeface="IBM Plex Sans Arabic"/>
                <a:ea typeface="IBM Plex Sans Arabic"/>
                <a:cs typeface="IBM Plex Sans Arabic"/>
              </a:rPr>
              <a:t>مؤشر</a:t>
            </a:r>
          </a:p>
        </p:txBody>
      </p:sp>
      <p:pic>
        <p:nvPicPr>
          <p:cNvPr id="36" name="Picture 35" descr="target.png"/>
          <p:cNvPicPr>
            <a:picLocks noChangeAspect="1"/>
          </p:cNvPicPr>
          <p:nvPr/>
        </p:nvPicPr>
        <p:blipFill>
          <a:blip r:embed="rId17"/>
          <a:stretch>
            <a:fillRect/>
          </a:stretch>
        </p:blipFill>
        <p:spPr>
          <a:xfrm>
            <a:off x="2697480" y="3785616"/>
            <a:ext cx="384048" cy="384048"/>
          </a:xfrm>
          <a:prstGeom prst="rect">
            <a:avLst/>
          </a:prstGeom>
        </p:spPr>
      </p:pic>
      <p:sp>
        <p:nvSpPr>
          <p:cNvPr id="37" name="TextBox 36"/>
          <p:cNvSpPr txBox="1"/>
          <p:nvPr/>
        </p:nvSpPr>
        <p:spPr>
          <a:xfrm>
            <a:off x="2194560" y="4242816"/>
            <a:ext cx="1417320" cy="292608"/>
          </a:xfrm>
          <a:prstGeom prst="rect">
            <a:avLst/>
          </a:prstGeom>
          <a:noFill/>
        </p:spPr>
        <p:txBody>
          <a:bodyPr wrap="square" anchor="t"/>
          <a:lstStyle/>
          <a:p>
            <a:pPr rtl="1" algn="ctr"/>
            <a:r>
              <a:rPr sz="1200" b="0">
                <a:solidFill>
                  <a:srgbClr val="3A403C"/>
                </a:solidFill>
                <a:latin typeface="IBM Plex Sans Arabic"/>
                <a:ea typeface="IBM Plex Sans Arabic"/>
                <a:cs typeface="IBM Plex Sans Arabic"/>
              </a:rPr>
              <a:t>هدف</a:t>
            </a:r>
          </a:p>
        </p:txBody>
      </p:sp>
      <p:pic>
        <p:nvPicPr>
          <p:cNvPr id="38" name="Picture 37" descr="handshake.png"/>
          <p:cNvPicPr>
            <a:picLocks noChangeAspect="1"/>
          </p:cNvPicPr>
          <p:nvPr/>
        </p:nvPicPr>
        <p:blipFill>
          <a:blip r:embed="rId18"/>
          <a:stretch>
            <a:fillRect/>
          </a:stretch>
        </p:blipFill>
        <p:spPr>
          <a:xfrm>
            <a:off x="4325112" y="3785616"/>
            <a:ext cx="384048" cy="384048"/>
          </a:xfrm>
          <a:prstGeom prst="rect">
            <a:avLst/>
          </a:prstGeom>
        </p:spPr>
      </p:pic>
      <p:sp>
        <p:nvSpPr>
          <p:cNvPr id="39" name="TextBox 38"/>
          <p:cNvSpPr txBox="1"/>
          <p:nvPr/>
        </p:nvSpPr>
        <p:spPr>
          <a:xfrm>
            <a:off x="3822192" y="4242816"/>
            <a:ext cx="1417320" cy="292608"/>
          </a:xfrm>
          <a:prstGeom prst="rect">
            <a:avLst/>
          </a:prstGeom>
          <a:noFill/>
        </p:spPr>
        <p:txBody>
          <a:bodyPr wrap="square" anchor="t"/>
          <a:lstStyle/>
          <a:p>
            <a:pPr rtl="1" algn="ctr"/>
            <a:r>
              <a:rPr sz="1200" b="0">
                <a:solidFill>
                  <a:srgbClr val="3A403C"/>
                </a:solidFill>
                <a:latin typeface="IBM Plex Sans Arabic"/>
                <a:ea typeface="IBM Plex Sans Arabic"/>
                <a:cs typeface="IBM Plex Sans Arabic"/>
              </a:rPr>
              <a:t>شراكة</a:t>
            </a:r>
          </a:p>
        </p:txBody>
      </p:sp>
      <p:pic>
        <p:nvPicPr>
          <p:cNvPr id="40" name="Picture 39" descr="shield.png"/>
          <p:cNvPicPr>
            <a:picLocks noChangeAspect="1"/>
          </p:cNvPicPr>
          <p:nvPr/>
        </p:nvPicPr>
        <p:blipFill>
          <a:blip r:embed="rId19"/>
          <a:stretch>
            <a:fillRect/>
          </a:stretch>
        </p:blipFill>
        <p:spPr>
          <a:xfrm>
            <a:off x="5952744" y="3785616"/>
            <a:ext cx="384048" cy="384048"/>
          </a:xfrm>
          <a:prstGeom prst="rect">
            <a:avLst/>
          </a:prstGeom>
        </p:spPr>
      </p:pic>
      <p:sp>
        <p:nvSpPr>
          <p:cNvPr id="41" name="TextBox 40"/>
          <p:cNvSpPr txBox="1"/>
          <p:nvPr/>
        </p:nvSpPr>
        <p:spPr>
          <a:xfrm>
            <a:off x="5449824" y="4242816"/>
            <a:ext cx="1417320" cy="292608"/>
          </a:xfrm>
          <a:prstGeom prst="rect">
            <a:avLst/>
          </a:prstGeom>
          <a:noFill/>
        </p:spPr>
        <p:txBody>
          <a:bodyPr wrap="square" anchor="t"/>
          <a:lstStyle/>
          <a:p>
            <a:pPr rtl="1" algn="ctr"/>
            <a:r>
              <a:rPr sz="1200" b="0">
                <a:solidFill>
                  <a:srgbClr val="3A403C"/>
                </a:solidFill>
                <a:latin typeface="IBM Plex Sans Arabic"/>
                <a:ea typeface="IBM Plex Sans Arabic"/>
                <a:cs typeface="IBM Plex Sans Arabic"/>
              </a:rPr>
              <a:t>التزام</a:t>
            </a:r>
          </a:p>
        </p:txBody>
      </p:sp>
      <p:pic>
        <p:nvPicPr>
          <p:cNvPr id="42" name="Picture 41" descr="globe.png"/>
          <p:cNvPicPr>
            <a:picLocks noChangeAspect="1"/>
          </p:cNvPicPr>
          <p:nvPr/>
        </p:nvPicPr>
        <p:blipFill>
          <a:blip r:embed="rId20"/>
          <a:stretch>
            <a:fillRect/>
          </a:stretch>
        </p:blipFill>
        <p:spPr>
          <a:xfrm>
            <a:off x="7580376" y="3785616"/>
            <a:ext cx="384048" cy="384048"/>
          </a:xfrm>
          <a:prstGeom prst="rect">
            <a:avLst/>
          </a:prstGeom>
        </p:spPr>
      </p:pic>
      <p:sp>
        <p:nvSpPr>
          <p:cNvPr id="43" name="TextBox 42"/>
          <p:cNvSpPr txBox="1"/>
          <p:nvPr/>
        </p:nvSpPr>
        <p:spPr>
          <a:xfrm>
            <a:off x="7077456" y="4242816"/>
            <a:ext cx="1417320" cy="292608"/>
          </a:xfrm>
          <a:prstGeom prst="rect">
            <a:avLst/>
          </a:prstGeom>
          <a:noFill/>
        </p:spPr>
        <p:txBody>
          <a:bodyPr wrap="square" anchor="t"/>
          <a:lstStyle/>
          <a:p>
            <a:pPr rtl="1" algn="ctr"/>
            <a:r>
              <a:rPr sz="1200" b="0">
                <a:solidFill>
                  <a:srgbClr val="3A403C"/>
                </a:solidFill>
                <a:latin typeface="IBM Plex Sans Arabic"/>
                <a:ea typeface="IBM Plex Sans Arabic"/>
                <a:cs typeface="IBM Plex Sans Arabic"/>
              </a:rPr>
              <a:t>عالمي</a:t>
            </a:r>
          </a:p>
        </p:txBody>
      </p:sp>
      <p:pic>
        <p:nvPicPr>
          <p:cNvPr id="44" name="Picture 43" descr="music.png"/>
          <p:cNvPicPr>
            <a:picLocks noChangeAspect="1"/>
          </p:cNvPicPr>
          <p:nvPr/>
        </p:nvPicPr>
        <p:blipFill>
          <a:blip r:embed="rId21"/>
          <a:stretch>
            <a:fillRect/>
          </a:stretch>
        </p:blipFill>
        <p:spPr>
          <a:xfrm>
            <a:off x="9208008" y="3785616"/>
            <a:ext cx="384048" cy="384048"/>
          </a:xfrm>
          <a:prstGeom prst="rect">
            <a:avLst/>
          </a:prstGeom>
        </p:spPr>
      </p:pic>
      <p:sp>
        <p:nvSpPr>
          <p:cNvPr id="45" name="TextBox 44"/>
          <p:cNvSpPr txBox="1"/>
          <p:nvPr/>
        </p:nvSpPr>
        <p:spPr>
          <a:xfrm>
            <a:off x="8705088" y="4242816"/>
            <a:ext cx="1417320" cy="292608"/>
          </a:xfrm>
          <a:prstGeom prst="rect">
            <a:avLst/>
          </a:prstGeom>
          <a:noFill/>
        </p:spPr>
        <p:txBody>
          <a:bodyPr wrap="square" anchor="t"/>
          <a:lstStyle/>
          <a:p>
            <a:pPr rtl="1" algn="ctr"/>
            <a:r>
              <a:rPr sz="1200" b="0">
                <a:solidFill>
                  <a:srgbClr val="3A403C"/>
                </a:solidFill>
                <a:latin typeface="IBM Plex Sans Arabic"/>
                <a:ea typeface="IBM Plex Sans Arabic"/>
                <a:cs typeface="IBM Plex Sans Arabic"/>
              </a:rPr>
              <a:t>موسيقى</a:t>
            </a:r>
          </a:p>
        </p:txBody>
      </p:sp>
      <p:pic>
        <p:nvPicPr>
          <p:cNvPr id="46" name="Picture 45" descr="film.png"/>
          <p:cNvPicPr>
            <a:picLocks noChangeAspect="1"/>
          </p:cNvPicPr>
          <p:nvPr/>
        </p:nvPicPr>
        <p:blipFill>
          <a:blip r:embed="rId22"/>
          <a:stretch>
            <a:fillRect/>
          </a:stretch>
        </p:blipFill>
        <p:spPr>
          <a:xfrm>
            <a:off x="10835640" y="3785616"/>
            <a:ext cx="384048" cy="384048"/>
          </a:xfrm>
          <a:prstGeom prst="rect">
            <a:avLst/>
          </a:prstGeom>
        </p:spPr>
      </p:pic>
      <p:sp>
        <p:nvSpPr>
          <p:cNvPr id="47" name="TextBox 46"/>
          <p:cNvSpPr txBox="1"/>
          <p:nvPr/>
        </p:nvSpPr>
        <p:spPr>
          <a:xfrm>
            <a:off x="10332720" y="4242816"/>
            <a:ext cx="1417320" cy="292608"/>
          </a:xfrm>
          <a:prstGeom prst="rect">
            <a:avLst/>
          </a:prstGeom>
          <a:noFill/>
        </p:spPr>
        <p:txBody>
          <a:bodyPr wrap="square" anchor="t"/>
          <a:lstStyle/>
          <a:p>
            <a:pPr rtl="1" algn="ctr"/>
            <a:r>
              <a:rPr sz="1200" b="0">
                <a:solidFill>
                  <a:srgbClr val="3A403C"/>
                </a:solidFill>
                <a:latin typeface="IBM Plex Sans Arabic"/>
                <a:ea typeface="IBM Plex Sans Arabic"/>
                <a:cs typeface="IBM Plex Sans Arabic"/>
              </a:rPr>
              <a:t>سينما</a:t>
            </a:r>
          </a:p>
        </p:txBody>
      </p:sp>
      <p:pic>
        <p:nvPicPr>
          <p:cNvPr id="48" name="Picture 47" descr="tv.png"/>
          <p:cNvPicPr>
            <a:picLocks noChangeAspect="1"/>
          </p:cNvPicPr>
          <p:nvPr/>
        </p:nvPicPr>
        <p:blipFill>
          <a:blip r:embed="rId23"/>
          <a:stretch>
            <a:fillRect/>
          </a:stretch>
        </p:blipFill>
        <p:spPr>
          <a:xfrm>
            <a:off x="1069848" y="4901184"/>
            <a:ext cx="384048" cy="384048"/>
          </a:xfrm>
          <a:prstGeom prst="rect">
            <a:avLst/>
          </a:prstGeom>
        </p:spPr>
      </p:pic>
      <p:sp>
        <p:nvSpPr>
          <p:cNvPr id="49" name="TextBox 48"/>
          <p:cNvSpPr txBox="1"/>
          <p:nvPr/>
        </p:nvSpPr>
        <p:spPr>
          <a:xfrm>
            <a:off x="566928" y="5358384"/>
            <a:ext cx="1417320" cy="292608"/>
          </a:xfrm>
          <a:prstGeom prst="rect">
            <a:avLst/>
          </a:prstGeom>
          <a:noFill/>
        </p:spPr>
        <p:txBody>
          <a:bodyPr wrap="square" anchor="t"/>
          <a:lstStyle/>
          <a:p>
            <a:pPr rtl="1" algn="ctr"/>
            <a:r>
              <a:rPr sz="1200" b="0">
                <a:solidFill>
                  <a:srgbClr val="3A403C"/>
                </a:solidFill>
                <a:latin typeface="IBM Plex Sans Arabic"/>
                <a:ea typeface="IBM Plex Sans Arabic"/>
                <a:cs typeface="IBM Plex Sans Arabic"/>
              </a:rPr>
              <a:t>تلفزيون</a:t>
            </a:r>
          </a:p>
        </p:txBody>
      </p:sp>
      <p:pic>
        <p:nvPicPr>
          <p:cNvPr id="50" name="Picture 49" descr="megaphone.png"/>
          <p:cNvPicPr>
            <a:picLocks noChangeAspect="1"/>
          </p:cNvPicPr>
          <p:nvPr/>
        </p:nvPicPr>
        <p:blipFill>
          <a:blip r:embed="rId24"/>
          <a:stretch>
            <a:fillRect/>
          </a:stretch>
        </p:blipFill>
        <p:spPr>
          <a:xfrm>
            <a:off x="2697480" y="4901184"/>
            <a:ext cx="384048" cy="384048"/>
          </a:xfrm>
          <a:prstGeom prst="rect">
            <a:avLst/>
          </a:prstGeom>
        </p:spPr>
      </p:pic>
      <p:sp>
        <p:nvSpPr>
          <p:cNvPr id="51" name="TextBox 50"/>
          <p:cNvSpPr txBox="1"/>
          <p:nvPr/>
        </p:nvSpPr>
        <p:spPr>
          <a:xfrm>
            <a:off x="2194560" y="5358384"/>
            <a:ext cx="1417320" cy="292608"/>
          </a:xfrm>
          <a:prstGeom prst="rect">
            <a:avLst/>
          </a:prstGeom>
          <a:noFill/>
        </p:spPr>
        <p:txBody>
          <a:bodyPr wrap="square" anchor="t"/>
          <a:lstStyle/>
          <a:p>
            <a:pPr rtl="1" algn="ctr"/>
            <a:r>
              <a:rPr sz="1200" b="0">
                <a:solidFill>
                  <a:srgbClr val="3A403C"/>
                </a:solidFill>
                <a:latin typeface="IBM Plex Sans Arabic"/>
                <a:ea typeface="IBM Plex Sans Arabic"/>
                <a:cs typeface="IBM Plex Sans Arabic"/>
              </a:rPr>
              <a:t>إعلام</a:t>
            </a:r>
          </a:p>
        </p:txBody>
      </p:sp>
      <p:pic>
        <p:nvPicPr>
          <p:cNvPr id="52" name="Picture 51" descr="building.png"/>
          <p:cNvPicPr>
            <a:picLocks noChangeAspect="1"/>
          </p:cNvPicPr>
          <p:nvPr/>
        </p:nvPicPr>
        <p:blipFill>
          <a:blip r:embed="rId25"/>
          <a:stretch>
            <a:fillRect/>
          </a:stretch>
        </p:blipFill>
        <p:spPr>
          <a:xfrm>
            <a:off x="4325112" y="4901184"/>
            <a:ext cx="384048" cy="384048"/>
          </a:xfrm>
          <a:prstGeom prst="rect">
            <a:avLst/>
          </a:prstGeom>
        </p:spPr>
      </p:pic>
      <p:sp>
        <p:nvSpPr>
          <p:cNvPr id="53" name="TextBox 52"/>
          <p:cNvSpPr txBox="1"/>
          <p:nvPr/>
        </p:nvSpPr>
        <p:spPr>
          <a:xfrm>
            <a:off x="3822192" y="5358384"/>
            <a:ext cx="1417320" cy="292608"/>
          </a:xfrm>
          <a:prstGeom prst="rect">
            <a:avLst/>
          </a:prstGeom>
          <a:noFill/>
        </p:spPr>
        <p:txBody>
          <a:bodyPr wrap="square" anchor="t"/>
          <a:lstStyle/>
          <a:p>
            <a:pPr rtl="1" algn="ctr"/>
            <a:r>
              <a:rPr sz="1200" b="0">
                <a:solidFill>
                  <a:srgbClr val="3A403C"/>
                </a:solidFill>
                <a:latin typeface="IBM Plex Sans Arabic"/>
                <a:ea typeface="IBM Plex Sans Arabic"/>
                <a:cs typeface="IBM Plex Sans Arabic"/>
              </a:rPr>
              <a:t>مقر</a:t>
            </a:r>
          </a:p>
        </p:txBody>
      </p:sp>
      <p:pic>
        <p:nvPicPr>
          <p:cNvPr id="54" name="Picture 53" descr="document.png"/>
          <p:cNvPicPr>
            <a:picLocks noChangeAspect="1"/>
          </p:cNvPicPr>
          <p:nvPr/>
        </p:nvPicPr>
        <p:blipFill>
          <a:blip r:embed="rId26"/>
          <a:stretch>
            <a:fillRect/>
          </a:stretch>
        </p:blipFill>
        <p:spPr>
          <a:xfrm>
            <a:off x="5952744" y="4901184"/>
            <a:ext cx="384048" cy="384048"/>
          </a:xfrm>
          <a:prstGeom prst="rect">
            <a:avLst/>
          </a:prstGeom>
        </p:spPr>
      </p:pic>
      <p:sp>
        <p:nvSpPr>
          <p:cNvPr id="55" name="TextBox 54"/>
          <p:cNvSpPr txBox="1"/>
          <p:nvPr/>
        </p:nvSpPr>
        <p:spPr>
          <a:xfrm>
            <a:off x="5449824" y="5358384"/>
            <a:ext cx="1417320" cy="292608"/>
          </a:xfrm>
          <a:prstGeom prst="rect">
            <a:avLst/>
          </a:prstGeom>
          <a:noFill/>
        </p:spPr>
        <p:txBody>
          <a:bodyPr wrap="square" anchor="t"/>
          <a:lstStyle/>
          <a:p>
            <a:pPr rtl="1" algn="ctr"/>
            <a:r>
              <a:rPr sz="1200" b="0">
                <a:solidFill>
                  <a:srgbClr val="3A403C"/>
                </a:solidFill>
                <a:latin typeface="IBM Plex Sans Arabic"/>
                <a:ea typeface="IBM Plex Sans Arabic"/>
                <a:cs typeface="IBM Plex Sans Arabic"/>
              </a:rPr>
              <a:t>مستند</a:t>
            </a:r>
          </a:p>
        </p:txBody>
      </p:sp>
      <p:pic>
        <p:nvPicPr>
          <p:cNvPr id="56" name="Picture 55" descr="clock.png"/>
          <p:cNvPicPr>
            <a:picLocks noChangeAspect="1"/>
          </p:cNvPicPr>
          <p:nvPr/>
        </p:nvPicPr>
        <p:blipFill>
          <a:blip r:embed="rId27"/>
          <a:stretch>
            <a:fillRect/>
          </a:stretch>
        </p:blipFill>
        <p:spPr>
          <a:xfrm>
            <a:off x="7580376" y="4901184"/>
            <a:ext cx="384048" cy="384048"/>
          </a:xfrm>
          <a:prstGeom prst="rect">
            <a:avLst/>
          </a:prstGeom>
        </p:spPr>
      </p:pic>
      <p:sp>
        <p:nvSpPr>
          <p:cNvPr id="57" name="TextBox 56"/>
          <p:cNvSpPr txBox="1"/>
          <p:nvPr/>
        </p:nvSpPr>
        <p:spPr>
          <a:xfrm>
            <a:off x="7077456" y="5358384"/>
            <a:ext cx="1417320" cy="292608"/>
          </a:xfrm>
          <a:prstGeom prst="rect">
            <a:avLst/>
          </a:prstGeom>
          <a:noFill/>
        </p:spPr>
        <p:txBody>
          <a:bodyPr wrap="square" anchor="t"/>
          <a:lstStyle/>
          <a:p>
            <a:pPr rtl="1" algn="ctr"/>
            <a:r>
              <a:rPr sz="1200" b="0">
                <a:solidFill>
                  <a:srgbClr val="3A403C"/>
                </a:solidFill>
                <a:latin typeface="IBM Plex Sans Arabic"/>
                <a:ea typeface="IBM Plex Sans Arabic"/>
                <a:cs typeface="IBM Plex Sans Arabic"/>
              </a:rPr>
              <a:t>زمن</a:t>
            </a:r>
          </a:p>
        </p:txBody>
      </p:sp>
      <p:pic>
        <p:nvPicPr>
          <p:cNvPr id="58" name="Picture 57" descr="pin.png"/>
          <p:cNvPicPr>
            <a:picLocks noChangeAspect="1"/>
          </p:cNvPicPr>
          <p:nvPr/>
        </p:nvPicPr>
        <p:blipFill>
          <a:blip r:embed="rId28"/>
          <a:stretch>
            <a:fillRect/>
          </a:stretch>
        </p:blipFill>
        <p:spPr>
          <a:xfrm>
            <a:off x="9208008" y="4901184"/>
            <a:ext cx="384048" cy="384048"/>
          </a:xfrm>
          <a:prstGeom prst="rect">
            <a:avLst/>
          </a:prstGeom>
        </p:spPr>
      </p:pic>
      <p:sp>
        <p:nvSpPr>
          <p:cNvPr id="59" name="TextBox 58"/>
          <p:cNvSpPr txBox="1"/>
          <p:nvPr/>
        </p:nvSpPr>
        <p:spPr>
          <a:xfrm>
            <a:off x="8705088" y="5358384"/>
            <a:ext cx="1417320" cy="292608"/>
          </a:xfrm>
          <a:prstGeom prst="rect">
            <a:avLst/>
          </a:prstGeom>
          <a:noFill/>
        </p:spPr>
        <p:txBody>
          <a:bodyPr wrap="square" anchor="t"/>
          <a:lstStyle/>
          <a:p>
            <a:pPr rtl="1" algn="ctr"/>
            <a:r>
              <a:rPr sz="1200" b="0">
                <a:solidFill>
                  <a:srgbClr val="3A403C"/>
                </a:solidFill>
                <a:latin typeface="IBM Plex Sans Arabic"/>
                <a:ea typeface="IBM Plex Sans Arabic"/>
                <a:cs typeface="IBM Plex Sans Arabic"/>
              </a:rPr>
              <a:t>موقع</a:t>
            </a:r>
          </a:p>
        </p:txBody>
      </p:sp>
      <p:pic>
        <p:nvPicPr>
          <p:cNvPr id="60" name="Picture 59" descr="message.png"/>
          <p:cNvPicPr>
            <a:picLocks noChangeAspect="1"/>
          </p:cNvPicPr>
          <p:nvPr/>
        </p:nvPicPr>
        <p:blipFill>
          <a:blip r:embed="rId29"/>
          <a:stretch>
            <a:fillRect/>
          </a:stretch>
        </p:blipFill>
        <p:spPr>
          <a:xfrm>
            <a:off x="10835640" y="4901184"/>
            <a:ext cx="384048" cy="384048"/>
          </a:xfrm>
          <a:prstGeom prst="rect">
            <a:avLst/>
          </a:prstGeom>
        </p:spPr>
      </p:pic>
      <p:sp>
        <p:nvSpPr>
          <p:cNvPr id="61" name="TextBox 60"/>
          <p:cNvSpPr txBox="1"/>
          <p:nvPr/>
        </p:nvSpPr>
        <p:spPr>
          <a:xfrm>
            <a:off x="10332720" y="5358384"/>
            <a:ext cx="1417320" cy="292608"/>
          </a:xfrm>
          <a:prstGeom prst="rect">
            <a:avLst/>
          </a:prstGeom>
          <a:noFill/>
        </p:spPr>
        <p:txBody>
          <a:bodyPr wrap="square" anchor="t"/>
          <a:lstStyle/>
          <a:p>
            <a:pPr rtl="1" algn="ctr"/>
            <a:r>
              <a:rPr sz="1200" b="0">
                <a:solidFill>
                  <a:srgbClr val="3A403C"/>
                </a:solidFill>
                <a:latin typeface="IBM Plex Sans Arabic"/>
                <a:ea typeface="IBM Plex Sans Arabic"/>
                <a:cs typeface="IBM Plex Sans Arabic"/>
              </a:rPr>
              <a:t>رسالة</a:t>
            </a:r>
          </a:p>
        </p:txBody>
      </p:sp>
      <p:sp>
        <p:nvSpPr>
          <p:cNvPr id="62" name="TextBox 61"/>
          <p:cNvSpPr txBox="1"/>
          <p:nvPr/>
        </p:nvSpPr>
        <p:spPr>
          <a:xfrm>
            <a:off x="566928" y="6510528"/>
            <a:ext cx="4572000" cy="256032"/>
          </a:xfrm>
          <a:prstGeom prst="rect">
            <a:avLst/>
          </a:prstGeom>
          <a:noFill/>
        </p:spPr>
        <p:txBody>
          <a:bodyPr wrap="square" anchor="t"/>
          <a:lstStyle/>
          <a:p>
            <a:pPr rtl="1" algn="r"/>
            <a:r>
              <a:rPr sz="1100" b="0">
                <a:solidFill>
                  <a:srgbClr val="6A706C"/>
                </a:solidFill>
                <a:latin typeface="IBM Plex Sans Arabic"/>
                <a:ea typeface="IBM Plex Sans Arabic"/>
                <a:cs typeface="IBM Plex Sans Arabic"/>
              </a:rPr>
              <a:t>روتانا  ·  الموارد البشرية</a:t>
            </a:r>
          </a:p>
        </p:txBody>
      </p:sp>
      <p:sp>
        <p:nvSpPr>
          <p:cNvPr id="63" name="TextBox 62"/>
          <p:cNvSpPr txBox="1"/>
          <p:nvPr/>
        </p:nvSpPr>
        <p:spPr>
          <a:xfrm>
            <a:off x="9509760" y="6510528"/>
            <a:ext cx="2103120" cy="256032"/>
          </a:xfrm>
          <a:prstGeom prst="rect">
            <a:avLst/>
          </a:prstGeom>
          <a:noFill/>
        </p:spPr>
        <p:txBody>
          <a:bodyPr wrap="square" anchor="t"/>
          <a:lstStyle/>
          <a:p>
            <a:pPr rtl="1" algn="l"/>
            <a:r>
              <a:rPr sz="1100" b="0">
                <a:solidFill>
                  <a:srgbClr val="6A706C"/>
                </a:solidFill>
                <a:latin typeface="IBM Plex Mono"/>
                <a:ea typeface="IBM Plex Mono"/>
                <a:cs typeface="IBM Plex Mono"/>
              </a:rPr>
              <a:t>08  /  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640080" cy="274320"/>
          </a:xfrm>
          <a:prstGeom prst="rect">
            <a:avLst/>
          </a:prstGeom>
          <a:noFill/>
        </p:spPr>
        <p:txBody>
          <a:bodyPr wrap="square" anchor="t"/>
          <a:lstStyle/>
          <a:p>
            <a:pPr rtl="1" algn="r"/>
            <a:r>
              <a:rPr sz="1100" b="0">
                <a:solidFill>
                  <a:srgbClr val="00512F"/>
                </a:solidFill>
                <a:latin typeface="IBM Plex Mono"/>
                <a:ea typeface="IBM Plex Mono"/>
                <a:cs typeface="IBM Plex Mono"/>
              </a:rPr>
              <a:t>٠٩</a:t>
            </a:r>
          </a:p>
        </p:txBody>
      </p:sp>
      <p:sp>
        <p:nvSpPr>
          <p:cNvPr id="4" name="TextBox 3"/>
          <p:cNvSpPr txBox="1"/>
          <p:nvPr/>
        </p:nvSpPr>
        <p:spPr>
          <a:xfrm>
            <a:off x="1234440" y="384048"/>
            <a:ext cx="10058400" cy="256032"/>
          </a:xfrm>
          <a:prstGeom prst="rect">
            <a:avLst/>
          </a:prstGeom>
          <a:noFill/>
        </p:spPr>
        <p:txBody>
          <a:bodyPr wrap="square" anchor="t"/>
          <a:lstStyle/>
          <a:p>
            <a:pPr rtl="1" algn="r"/>
            <a:r>
              <a:rPr sz="1100" b="0">
                <a:solidFill>
                  <a:srgbClr val="00512F"/>
                </a:solidFill>
                <a:latin typeface="IBM Plex Sans"/>
                <a:ea typeface="IBM Plex Sans"/>
                <a:cs typeface="IBM Plex Sans"/>
              </a:rPr>
              <a:t>إنفوجرافيك الأرقام</a:t>
            </a:r>
          </a:p>
        </p:txBody>
      </p:sp>
      <p:sp>
        <p:nvSpPr>
          <p:cNvPr id="5" name="TextBox 4"/>
          <p:cNvSpPr txBox="1"/>
          <p:nvPr/>
        </p:nvSpPr>
        <p:spPr>
          <a:xfrm>
            <a:off x="1234440" y="621792"/>
            <a:ext cx="10241280" cy="640080"/>
          </a:xfrm>
          <a:prstGeom prst="rect">
            <a:avLst/>
          </a:prstGeom>
          <a:noFill/>
        </p:spPr>
        <p:txBody>
          <a:bodyPr wrap="square" anchor="t"/>
          <a:lstStyle/>
          <a:p>
            <a:pPr rtl="1" algn="r"/>
            <a:r>
              <a:rPr sz="2800" b="0">
                <a:solidFill>
                  <a:srgbClr val="0C100E"/>
                </a:solidFill>
                <a:latin typeface="Amiri"/>
                <a:ea typeface="Amiri"/>
                <a:cs typeface="Amiri"/>
              </a:rPr>
              <a:t>رقم كبير. شرح صغير. بلا صندوق.</a:t>
            </a:r>
          </a:p>
        </p:txBody>
      </p:sp>
      <p:sp>
        <p:nvSpPr>
          <p:cNvPr id="6" name="TextBox 5"/>
          <p:cNvSpPr txBox="1"/>
          <p:nvPr/>
        </p:nvSpPr>
        <p:spPr>
          <a:xfrm>
            <a:off x="566928" y="1554480"/>
            <a:ext cx="2697480" cy="1051560"/>
          </a:xfrm>
          <a:prstGeom prst="rect">
            <a:avLst/>
          </a:prstGeom>
          <a:noFill/>
        </p:spPr>
        <p:txBody>
          <a:bodyPr wrap="square" anchor="t"/>
          <a:lstStyle/>
          <a:p>
            <a:pPr rtl="1" algn="r"/>
            <a:r>
              <a:rPr sz="4400" b="0">
                <a:solidFill>
                  <a:srgbClr val="00512F"/>
                </a:solidFill>
                <a:latin typeface="Amiri"/>
                <a:ea typeface="Amiri"/>
                <a:cs typeface="Amiri"/>
              </a:rPr>
              <a:t>1,240</a:t>
            </a:r>
          </a:p>
        </p:txBody>
      </p:sp>
      <p:sp>
        <p:nvSpPr>
          <p:cNvPr id="7" name="TextBox 6"/>
          <p:cNvSpPr txBox="1"/>
          <p:nvPr/>
        </p:nvSpPr>
        <p:spPr>
          <a:xfrm>
            <a:off x="566928" y="2606040"/>
            <a:ext cx="2697480" cy="320040"/>
          </a:xfrm>
          <a:prstGeom prst="rect">
            <a:avLst/>
          </a:prstGeom>
          <a:noFill/>
        </p:spPr>
        <p:txBody>
          <a:bodyPr wrap="square" anchor="t"/>
          <a:lstStyle/>
          <a:p>
            <a:pPr rtl="1" algn="r"/>
            <a:r>
              <a:rPr sz="1600" b="1">
                <a:solidFill>
                  <a:srgbClr val="0C100E"/>
                </a:solidFill>
                <a:latin typeface="IBM Plex Sans Arabic"/>
                <a:ea typeface="IBM Plex Sans Arabic"/>
                <a:cs typeface="IBM Plex Sans Arabic"/>
              </a:rPr>
              <a:t>إجمالي القوة</a:t>
            </a:r>
          </a:p>
        </p:txBody>
      </p:sp>
      <p:sp>
        <p:nvSpPr>
          <p:cNvPr id="8" name="TextBox 7"/>
          <p:cNvSpPr txBox="1"/>
          <p:nvPr/>
        </p:nvSpPr>
        <p:spPr>
          <a:xfrm>
            <a:off x="566928" y="2926080"/>
            <a:ext cx="2697480" cy="274320"/>
          </a:xfrm>
          <a:prstGeom prst="rect">
            <a:avLst/>
          </a:prstGeom>
          <a:noFill/>
        </p:spPr>
        <p:txBody>
          <a:bodyPr wrap="square" anchor="t"/>
          <a:lstStyle/>
          <a:p>
            <a:pPr rtl="1" algn="r"/>
            <a:r>
              <a:rPr sz="1200" b="0">
                <a:solidFill>
                  <a:srgbClr val="6A706C"/>
                </a:solidFill>
                <a:latin typeface="IBM Plex Sans"/>
                <a:ea typeface="IBM Plex Sans"/>
                <a:cs typeface="IBM Plex Sans"/>
              </a:rPr>
              <a:t>Headcount · Q2</a:t>
            </a:r>
          </a:p>
        </p:txBody>
      </p:sp>
      <p:sp>
        <p:nvSpPr>
          <p:cNvPr id="9" name="TextBox 8"/>
          <p:cNvSpPr txBox="1"/>
          <p:nvPr/>
        </p:nvSpPr>
        <p:spPr>
          <a:xfrm>
            <a:off x="3447288" y="1554480"/>
            <a:ext cx="2697480" cy="1051560"/>
          </a:xfrm>
          <a:prstGeom prst="rect">
            <a:avLst/>
          </a:prstGeom>
          <a:noFill/>
        </p:spPr>
        <p:txBody>
          <a:bodyPr wrap="square" anchor="t"/>
          <a:lstStyle/>
          <a:p>
            <a:pPr rtl="1" algn="r"/>
            <a:r>
              <a:rPr sz="4400" b="0">
                <a:solidFill>
                  <a:srgbClr val="00512F"/>
                </a:solidFill>
                <a:latin typeface="Amiri"/>
                <a:ea typeface="Amiri"/>
                <a:cs typeface="Amiri"/>
              </a:rPr>
              <a:t>87%</a:t>
            </a:r>
          </a:p>
        </p:txBody>
      </p:sp>
      <p:sp>
        <p:nvSpPr>
          <p:cNvPr id="10" name="TextBox 9"/>
          <p:cNvSpPr txBox="1"/>
          <p:nvPr/>
        </p:nvSpPr>
        <p:spPr>
          <a:xfrm>
            <a:off x="3447288" y="2606040"/>
            <a:ext cx="2697480" cy="320040"/>
          </a:xfrm>
          <a:prstGeom prst="rect">
            <a:avLst/>
          </a:prstGeom>
          <a:noFill/>
        </p:spPr>
        <p:txBody>
          <a:bodyPr wrap="square" anchor="t"/>
          <a:lstStyle/>
          <a:p>
            <a:pPr rtl="1" algn="r"/>
            <a:r>
              <a:rPr sz="1600" b="1">
                <a:solidFill>
                  <a:srgbClr val="0C100E"/>
                </a:solidFill>
                <a:latin typeface="IBM Plex Sans Arabic"/>
                <a:ea typeface="IBM Plex Sans Arabic"/>
                <a:cs typeface="IBM Plex Sans Arabic"/>
              </a:rPr>
              <a:t>نسبة التهيئة</a:t>
            </a:r>
          </a:p>
        </p:txBody>
      </p:sp>
      <p:sp>
        <p:nvSpPr>
          <p:cNvPr id="11" name="TextBox 10"/>
          <p:cNvSpPr txBox="1"/>
          <p:nvPr/>
        </p:nvSpPr>
        <p:spPr>
          <a:xfrm>
            <a:off x="3447288" y="2926080"/>
            <a:ext cx="2697480" cy="274320"/>
          </a:xfrm>
          <a:prstGeom prst="rect">
            <a:avLst/>
          </a:prstGeom>
          <a:noFill/>
        </p:spPr>
        <p:txBody>
          <a:bodyPr wrap="square" anchor="t"/>
          <a:lstStyle/>
          <a:p>
            <a:pPr rtl="1" algn="r"/>
            <a:r>
              <a:rPr sz="1200" b="0">
                <a:solidFill>
                  <a:srgbClr val="6A706C"/>
                </a:solidFill>
                <a:latin typeface="IBM Plex Sans"/>
                <a:ea typeface="IBM Plex Sans"/>
                <a:cs typeface="IBM Plex Sans"/>
              </a:rPr>
              <a:t>Onboarding complete</a:t>
            </a:r>
          </a:p>
        </p:txBody>
      </p:sp>
      <p:sp>
        <p:nvSpPr>
          <p:cNvPr id="12" name="TextBox 11"/>
          <p:cNvSpPr txBox="1"/>
          <p:nvPr/>
        </p:nvSpPr>
        <p:spPr>
          <a:xfrm>
            <a:off x="6327648" y="1554480"/>
            <a:ext cx="2697480" cy="1051560"/>
          </a:xfrm>
          <a:prstGeom prst="rect">
            <a:avLst/>
          </a:prstGeom>
          <a:noFill/>
        </p:spPr>
        <p:txBody>
          <a:bodyPr wrap="square" anchor="t"/>
          <a:lstStyle/>
          <a:p>
            <a:pPr rtl="1" algn="r"/>
            <a:r>
              <a:rPr sz="4400" b="0">
                <a:solidFill>
                  <a:srgbClr val="00512F"/>
                </a:solidFill>
                <a:latin typeface="Amiri"/>
                <a:ea typeface="Amiri"/>
                <a:cs typeface="Amiri"/>
              </a:rPr>
              <a:t>24</a:t>
            </a:r>
          </a:p>
        </p:txBody>
      </p:sp>
      <p:sp>
        <p:nvSpPr>
          <p:cNvPr id="13" name="TextBox 12"/>
          <p:cNvSpPr txBox="1"/>
          <p:nvPr/>
        </p:nvSpPr>
        <p:spPr>
          <a:xfrm>
            <a:off x="6327648" y="2606040"/>
            <a:ext cx="2697480" cy="320040"/>
          </a:xfrm>
          <a:prstGeom prst="rect">
            <a:avLst/>
          </a:prstGeom>
          <a:noFill/>
        </p:spPr>
        <p:txBody>
          <a:bodyPr wrap="square" anchor="t"/>
          <a:lstStyle/>
          <a:p>
            <a:pPr rtl="1" algn="r"/>
            <a:r>
              <a:rPr sz="1600" b="1">
                <a:solidFill>
                  <a:srgbClr val="0C100E"/>
                </a:solidFill>
                <a:latin typeface="IBM Plex Sans Arabic"/>
                <a:ea typeface="IBM Plex Sans Arabic"/>
                <a:cs typeface="IBM Plex Sans Arabic"/>
              </a:rPr>
              <a:t>يومًا للتوظيف</a:t>
            </a:r>
          </a:p>
        </p:txBody>
      </p:sp>
      <p:sp>
        <p:nvSpPr>
          <p:cNvPr id="14" name="TextBox 13"/>
          <p:cNvSpPr txBox="1"/>
          <p:nvPr/>
        </p:nvSpPr>
        <p:spPr>
          <a:xfrm>
            <a:off x="6327648" y="2926080"/>
            <a:ext cx="2697480" cy="274320"/>
          </a:xfrm>
          <a:prstGeom prst="rect">
            <a:avLst/>
          </a:prstGeom>
          <a:noFill/>
        </p:spPr>
        <p:txBody>
          <a:bodyPr wrap="square" anchor="t"/>
          <a:lstStyle/>
          <a:p>
            <a:pPr rtl="1" algn="r"/>
            <a:r>
              <a:rPr sz="1200" b="0">
                <a:solidFill>
                  <a:srgbClr val="6A706C"/>
                </a:solidFill>
                <a:latin typeface="IBM Plex Sans"/>
                <a:ea typeface="IBM Plex Sans"/>
                <a:cs typeface="IBM Plex Sans"/>
              </a:rPr>
              <a:t>Time to hire</a:t>
            </a:r>
          </a:p>
        </p:txBody>
      </p:sp>
      <p:sp>
        <p:nvSpPr>
          <p:cNvPr id="15" name="TextBox 14"/>
          <p:cNvSpPr txBox="1"/>
          <p:nvPr/>
        </p:nvSpPr>
        <p:spPr>
          <a:xfrm>
            <a:off x="9208008" y="1554480"/>
            <a:ext cx="2697480" cy="1051560"/>
          </a:xfrm>
          <a:prstGeom prst="rect">
            <a:avLst/>
          </a:prstGeom>
          <a:noFill/>
        </p:spPr>
        <p:txBody>
          <a:bodyPr wrap="square" anchor="t"/>
          <a:lstStyle/>
          <a:p>
            <a:pPr rtl="1" algn="r"/>
            <a:r>
              <a:rPr sz="4400" b="0">
                <a:solidFill>
                  <a:srgbClr val="00512F"/>
                </a:solidFill>
                <a:latin typeface="Amiri"/>
                <a:ea typeface="Amiri"/>
                <a:cs typeface="Amiri"/>
              </a:rPr>
              <a:t>+6.2</a:t>
            </a:r>
          </a:p>
        </p:txBody>
      </p:sp>
      <p:sp>
        <p:nvSpPr>
          <p:cNvPr id="16" name="TextBox 15"/>
          <p:cNvSpPr txBox="1"/>
          <p:nvPr/>
        </p:nvSpPr>
        <p:spPr>
          <a:xfrm>
            <a:off x="9208008" y="2606040"/>
            <a:ext cx="2697480" cy="320040"/>
          </a:xfrm>
          <a:prstGeom prst="rect">
            <a:avLst/>
          </a:prstGeom>
          <a:noFill/>
        </p:spPr>
        <p:txBody>
          <a:bodyPr wrap="square" anchor="t"/>
          <a:lstStyle/>
          <a:p>
            <a:pPr rtl="1" algn="r"/>
            <a:r>
              <a:rPr sz="1600" b="1">
                <a:solidFill>
                  <a:srgbClr val="0C100E"/>
                </a:solidFill>
                <a:latin typeface="IBM Plex Sans Arabic"/>
                <a:ea typeface="IBM Plex Sans Arabic"/>
                <a:cs typeface="IBM Plex Sans Arabic"/>
              </a:rPr>
              <a:t>eNPS</a:t>
            </a:r>
          </a:p>
        </p:txBody>
      </p:sp>
      <p:sp>
        <p:nvSpPr>
          <p:cNvPr id="17" name="TextBox 16"/>
          <p:cNvSpPr txBox="1"/>
          <p:nvPr/>
        </p:nvSpPr>
        <p:spPr>
          <a:xfrm>
            <a:off x="9208008" y="2926080"/>
            <a:ext cx="2697480" cy="274320"/>
          </a:xfrm>
          <a:prstGeom prst="rect">
            <a:avLst/>
          </a:prstGeom>
          <a:noFill/>
        </p:spPr>
        <p:txBody>
          <a:bodyPr wrap="square" anchor="t"/>
          <a:lstStyle/>
          <a:p>
            <a:pPr rtl="1" algn="r"/>
            <a:r>
              <a:rPr sz="1200" b="0">
                <a:solidFill>
                  <a:srgbClr val="6A706C"/>
                </a:solidFill>
                <a:latin typeface="IBM Plex Sans"/>
                <a:ea typeface="IBM Plex Sans"/>
                <a:cs typeface="IBM Plex Sans"/>
              </a:rPr>
              <a:t>مقابل الربع السابق</a:t>
            </a:r>
          </a:p>
        </p:txBody>
      </p:sp>
      <p:sp>
        <p:nvSpPr>
          <p:cNvPr id="18" name="Rectangle 17"/>
          <p:cNvSpPr/>
          <p:nvPr/>
        </p:nvSpPr>
        <p:spPr>
          <a:xfrm>
            <a:off x="566928" y="3383280"/>
            <a:ext cx="11064240" cy="12700"/>
          </a:xfrm>
          <a:prstGeom prst="rect">
            <a:avLst/>
          </a:prstGeom>
          <a:solidFill>
            <a:srgbClr val="C5C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703320"/>
            <a:ext cx="3017520" cy="274320"/>
          </a:xfrm>
          <a:prstGeom prst="rect">
            <a:avLst/>
          </a:prstGeom>
          <a:noFill/>
        </p:spPr>
        <p:txBody>
          <a:bodyPr wrap="square" anchor="t"/>
          <a:lstStyle/>
          <a:p>
            <a:pPr rtl="1" algn="r"/>
            <a:r>
              <a:rPr sz="1400" b="0">
                <a:solidFill>
                  <a:srgbClr val="3A403C"/>
                </a:solidFill>
                <a:latin typeface="IBM Plex Sans Arabic"/>
                <a:ea typeface="IBM Plex Sans Arabic"/>
                <a:cs typeface="IBM Plex Sans Arabic"/>
              </a:rPr>
              <a:t>استبقاء السنة الأولى</a:t>
            </a:r>
          </a:p>
        </p:txBody>
      </p:sp>
      <p:sp>
        <p:nvSpPr>
          <p:cNvPr id="20" name="Rectangle 19"/>
          <p:cNvSpPr/>
          <p:nvPr/>
        </p:nvSpPr>
        <p:spPr>
          <a:xfrm>
            <a:off x="3749039" y="3776472"/>
            <a:ext cx="6766560" cy="146304"/>
          </a:xfrm>
          <a:prstGeom prst="rect">
            <a:avLst/>
          </a:prstGeom>
          <a:solidFill>
            <a:srgbClr val="E8E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237682" y="3776472"/>
            <a:ext cx="5277916" cy="146304"/>
          </a:xfrm>
          <a:prstGeom prst="rect">
            <a:avLst/>
          </a:prstGeom>
          <a:solidFill>
            <a:srgbClr val="005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07040" y="3703320"/>
            <a:ext cx="1005840" cy="274320"/>
          </a:xfrm>
          <a:prstGeom prst="rect">
            <a:avLst/>
          </a:prstGeom>
          <a:noFill/>
        </p:spPr>
        <p:txBody>
          <a:bodyPr wrap="square" anchor="t"/>
          <a:lstStyle/>
          <a:p>
            <a:pPr rtl="1" algn="l"/>
            <a:r>
              <a:rPr sz="1300" b="0">
                <a:solidFill>
                  <a:srgbClr val="00512F"/>
                </a:solidFill>
                <a:latin typeface="IBM Plex Mono"/>
                <a:ea typeface="IBM Plex Mono"/>
                <a:cs typeface="IBM Plex Mono"/>
              </a:rPr>
              <a:t>78%</a:t>
            </a:r>
          </a:p>
        </p:txBody>
      </p:sp>
      <p:sp>
        <p:nvSpPr>
          <p:cNvPr id="23" name="TextBox 22"/>
          <p:cNvSpPr txBox="1"/>
          <p:nvPr/>
        </p:nvSpPr>
        <p:spPr>
          <a:xfrm>
            <a:off x="566928" y="4361688"/>
            <a:ext cx="3017520" cy="274320"/>
          </a:xfrm>
          <a:prstGeom prst="rect">
            <a:avLst/>
          </a:prstGeom>
          <a:noFill/>
        </p:spPr>
        <p:txBody>
          <a:bodyPr wrap="square" anchor="t"/>
          <a:lstStyle/>
          <a:p>
            <a:pPr rtl="1" algn="r"/>
            <a:r>
              <a:rPr sz="1400" b="0">
                <a:solidFill>
                  <a:srgbClr val="3A403C"/>
                </a:solidFill>
                <a:latin typeface="IBM Plex Sans Arabic"/>
                <a:ea typeface="IBM Plex Sans Arabic"/>
                <a:cs typeface="IBM Plex Sans Arabic"/>
              </a:rPr>
              <a:t>اكتمال التقييمات</a:t>
            </a:r>
          </a:p>
        </p:txBody>
      </p:sp>
      <p:sp>
        <p:nvSpPr>
          <p:cNvPr id="24" name="Rectangle 23"/>
          <p:cNvSpPr/>
          <p:nvPr/>
        </p:nvSpPr>
        <p:spPr>
          <a:xfrm>
            <a:off x="3749039" y="4434840"/>
            <a:ext cx="6766560" cy="146304"/>
          </a:xfrm>
          <a:prstGeom prst="rect">
            <a:avLst/>
          </a:prstGeom>
          <a:solidFill>
            <a:srgbClr val="E8E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85000" y="4434840"/>
            <a:ext cx="4330598" cy="146304"/>
          </a:xfrm>
          <a:prstGeom prst="rect">
            <a:avLst/>
          </a:prstGeom>
          <a:solidFill>
            <a:srgbClr val="005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607040" y="4361688"/>
            <a:ext cx="1005840" cy="274320"/>
          </a:xfrm>
          <a:prstGeom prst="rect">
            <a:avLst/>
          </a:prstGeom>
          <a:noFill/>
        </p:spPr>
        <p:txBody>
          <a:bodyPr wrap="square" anchor="t"/>
          <a:lstStyle/>
          <a:p>
            <a:pPr rtl="1" algn="l"/>
            <a:r>
              <a:rPr sz="1300" b="0">
                <a:solidFill>
                  <a:srgbClr val="00512F"/>
                </a:solidFill>
                <a:latin typeface="IBM Plex Mono"/>
                <a:ea typeface="IBM Plex Mono"/>
                <a:cs typeface="IBM Plex Mono"/>
              </a:rPr>
              <a:t>64%</a:t>
            </a:r>
          </a:p>
        </p:txBody>
      </p:sp>
      <p:sp>
        <p:nvSpPr>
          <p:cNvPr id="27" name="TextBox 26"/>
          <p:cNvSpPr txBox="1"/>
          <p:nvPr/>
        </p:nvSpPr>
        <p:spPr>
          <a:xfrm>
            <a:off x="566928" y="5020056"/>
            <a:ext cx="3017520" cy="274320"/>
          </a:xfrm>
          <a:prstGeom prst="rect">
            <a:avLst/>
          </a:prstGeom>
          <a:noFill/>
        </p:spPr>
        <p:txBody>
          <a:bodyPr wrap="square" anchor="t"/>
          <a:lstStyle/>
          <a:p>
            <a:pPr rtl="1" algn="r"/>
            <a:r>
              <a:rPr sz="1400" b="0">
                <a:solidFill>
                  <a:srgbClr val="3A403C"/>
                </a:solidFill>
                <a:latin typeface="IBM Plex Sans Arabic"/>
                <a:ea typeface="IBM Plex Sans Arabic"/>
                <a:cs typeface="IBM Plex Sans Arabic"/>
              </a:rPr>
              <a:t>شواغر حرجة مغلقة</a:t>
            </a:r>
          </a:p>
        </p:txBody>
      </p:sp>
      <p:sp>
        <p:nvSpPr>
          <p:cNvPr id="28" name="Rectangle 27"/>
          <p:cNvSpPr/>
          <p:nvPr/>
        </p:nvSpPr>
        <p:spPr>
          <a:xfrm>
            <a:off x="3749039" y="5093208"/>
            <a:ext cx="6766560" cy="146304"/>
          </a:xfrm>
          <a:prstGeom prst="rect">
            <a:avLst/>
          </a:prstGeom>
          <a:solidFill>
            <a:srgbClr val="E8E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41309" y="5093208"/>
            <a:ext cx="2774289" cy="146304"/>
          </a:xfrm>
          <a:prstGeom prst="rect">
            <a:avLst/>
          </a:prstGeom>
          <a:solidFill>
            <a:srgbClr val="005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607040" y="5020056"/>
            <a:ext cx="1005840" cy="274320"/>
          </a:xfrm>
          <a:prstGeom prst="rect">
            <a:avLst/>
          </a:prstGeom>
          <a:noFill/>
        </p:spPr>
        <p:txBody>
          <a:bodyPr wrap="square" anchor="t"/>
          <a:lstStyle/>
          <a:p>
            <a:pPr rtl="1" algn="l"/>
            <a:r>
              <a:rPr sz="1300" b="0">
                <a:solidFill>
                  <a:srgbClr val="00512F"/>
                </a:solidFill>
                <a:latin typeface="IBM Plex Mono"/>
                <a:ea typeface="IBM Plex Mono"/>
                <a:cs typeface="IBM Plex Mono"/>
              </a:rPr>
              <a:t>41%</a:t>
            </a:r>
          </a:p>
        </p:txBody>
      </p:sp>
      <p:sp>
        <p:nvSpPr>
          <p:cNvPr id="31" name="TextBox 30"/>
          <p:cNvSpPr txBox="1"/>
          <p:nvPr/>
        </p:nvSpPr>
        <p:spPr>
          <a:xfrm>
            <a:off x="566928" y="6510528"/>
            <a:ext cx="4572000" cy="256032"/>
          </a:xfrm>
          <a:prstGeom prst="rect">
            <a:avLst/>
          </a:prstGeom>
          <a:noFill/>
        </p:spPr>
        <p:txBody>
          <a:bodyPr wrap="square" anchor="t"/>
          <a:lstStyle/>
          <a:p>
            <a:pPr rtl="1" algn="r"/>
            <a:r>
              <a:rPr sz="1100" b="0">
                <a:solidFill>
                  <a:srgbClr val="6A706C"/>
                </a:solidFill>
                <a:latin typeface="IBM Plex Sans Arabic"/>
                <a:ea typeface="IBM Plex Sans Arabic"/>
                <a:cs typeface="IBM Plex Sans Arabic"/>
              </a:rPr>
              <a:t>روتانا  ·  الموارد البشرية</a:t>
            </a:r>
          </a:p>
        </p:txBody>
      </p:sp>
      <p:sp>
        <p:nvSpPr>
          <p:cNvPr id="32" name="TextBox 31"/>
          <p:cNvSpPr txBox="1"/>
          <p:nvPr/>
        </p:nvSpPr>
        <p:spPr>
          <a:xfrm>
            <a:off x="9509760" y="6510528"/>
            <a:ext cx="2103120" cy="256032"/>
          </a:xfrm>
          <a:prstGeom prst="rect">
            <a:avLst/>
          </a:prstGeom>
          <a:noFill/>
        </p:spPr>
        <p:txBody>
          <a:bodyPr wrap="square" anchor="t"/>
          <a:lstStyle/>
          <a:p>
            <a:pPr rtl="1" algn="l"/>
            <a:r>
              <a:rPr sz="1100" b="0">
                <a:solidFill>
                  <a:srgbClr val="6A706C"/>
                </a:solidFill>
                <a:latin typeface="IBM Plex Mono"/>
                <a:ea typeface="IBM Plex Mono"/>
                <a:cs typeface="IBM Plex Mono"/>
              </a:rPr>
              <a:t>09  /  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640080" cy="274320"/>
          </a:xfrm>
          <a:prstGeom prst="rect">
            <a:avLst/>
          </a:prstGeom>
          <a:noFill/>
        </p:spPr>
        <p:txBody>
          <a:bodyPr wrap="square" anchor="t"/>
          <a:lstStyle/>
          <a:p>
            <a:pPr rtl="1" algn="r"/>
            <a:r>
              <a:rPr sz="1100" b="0">
                <a:solidFill>
                  <a:srgbClr val="00512F"/>
                </a:solidFill>
                <a:latin typeface="IBM Plex Mono"/>
                <a:ea typeface="IBM Plex Mono"/>
                <a:cs typeface="IBM Plex Mono"/>
              </a:rPr>
              <a:t>١٠</a:t>
            </a:r>
          </a:p>
        </p:txBody>
      </p:sp>
      <p:sp>
        <p:nvSpPr>
          <p:cNvPr id="4" name="TextBox 3"/>
          <p:cNvSpPr txBox="1"/>
          <p:nvPr/>
        </p:nvSpPr>
        <p:spPr>
          <a:xfrm>
            <a:off x="1234440" y="384048"/>
            <a:ext cx="10058400" cy="256032"/>
          </a:xfrm>
          <a:prstGeom prst="rect">
            <a:avLst/>
          </a:prstGeom>
          <a:noFill/>
        </p:spPr>
        <p:txBody>
          <a:bodyPr wrap="square" anchor="t"/>
          <a:lstStyle/>
          <a:p>
            <a:pPr rtl="1" algn="r"/>
            <a:r>
              <a:rPr sz="1100" b="0">
                <a:solidFill>
                  <a:srgbClr val="00512F"/>
                </a:solidFill>
                <a:latin typeface="IBM Plex Sans"/>
                <a:ea typeface="IBM Plex Sans"/>
                <a:cs typeface="IBM Plex Sans"/>
              </a:rPr>
              <a:t>تكوين القوة</a:t>
            </a:r>
          </a:p>
        </p:txBody>
      </p:sp>
      <p:sp>
        <p:nvSpPr>
          <p:cNvPr id="5" name="TextBox 4"/>
          <p:cNvSpPr txBox="1"/>
          <p:nvPr/>
        </p:nvSpPr>
        <p:spPr>
          <a:xfrm>
            <a:off x="1234440" y="621792"/>
            <a:ext cx="10241280" cy="640080"/>
          </a:xfrm>
          <a:prstGeom prst="rect">
            <a:avLst/>
          </a:prstGeom>
          <a:noFill/>
        </p:spPr>
        <p:txBody>
          <a:bodyPr wrap="square" anchor="t"/>
          <a:lstStyle/>
          <a:p>
            <a:pPr rtl="1" algn="r"/>
            <a:r>
              <a:rPr sz="2800" b="0">
                <a:solidFill>
                  <a:srgbClr val="0C100E"/>
                </a:solidFill>
                <a:latin typeface="Amiri"/>
                <a:ea typeface="Amiri"/>
                <a:cs typeface="Amiri"/>
              </a:rPr>
              <a:t>دائرة القرار، وأعمدة المقارنة — عدّل الأرقام من الشارت.</a:t>
            </a:r>
          </a:p>
        </p:txBody>
      </p:sp>
      <p:graphicFrame>
        <p:nvGraphicFramePr>
          <p:cNvPr id="6" name="Chart 5"/>
          <p:cNvGraphicFramePr>
            <a:graphicFrameLocks noGrp="1"/>
          </p:cNvGraphicFramePr>
          <p:nvPr/>
        </p:nvGraphicFramePr>
        <p:xfrm>
          <a:off x="566928" y="1508760"/>
          <a:ext cx="4206240" cy="4206240"/>
        </p:xfrm>
        <a:graphic>
          <a:graphicData uri="http://schemas.openxmlformats.org/drawingml/2006/chart">
            <c:chart xmlns:c="http://schemas.openxmlformats.org/drawingml/2006/chart" r:id="rId2"/>
          </a:graphicData>
        </a:graphic>
      </p:graphicFrame>
      <p:graphicFrame>
        <p:nvGraphicFramePr>
          <p:cNvPr id="7" name="Chart 6"/>
          <p:cNvGraphicFramePr>
            <a:graphicFrameLocks noGrp="1"/>
          </p:cNvGraphicFramePr>
          <p:nvPr/>
        </p:nvGraphicFramePr>
        <p:xfrm>
          <a:off x="5852160" y="1691640"/>
          <a:ext cx="5852160" cy="4023360"/>
        </p:xfrm>
        <a:graphic>
          <a:graphicData uri="http://schemas.openxmlformats.org/drawingml/2006/chart">
            <c:chart xmlns:c="http://schemas.openxmlformats.org/drawingml/2006/chart" r:id="rId3"/>
          </a:graphicData>
        </a:graphic>
      </p:graphicFrame>
      <p:sp>
        <p:nvSpPr>
          <p:cNvPr id="8" name="TextBox 7"/>
          <p:cNvSpPr txBox="1"/>
          <p:nvPr/>
        </p:nvSpPr>
        <p:spPr>
          <a:xfrm>
            <a:off x="566928" y="6510528"/>
            <a:ext cx="4572000" cy="256032"/>
          </a:xfrm>
          <a:prstGeom prst="rect">
            <a:avLst/>
          </a:prstGeom>
          <a:noFill/>
        </p:spPr>
        <p:txBody>
          <a:bodyPr wrap="square" anchor="t"/>
          <a:lstStyle/>
          <a:p>
            <a:pPr rtl="1" algn="r"/>
            <a:r>
              <a:rPr sz="1100" b="0">
                <a:solidFill>
                  <a:srgbClr val="6A706C"/>
                </a:solidFill>
                <a:latin typeface="IBM Plex Sans Arabic"/>
                <a:ea typeface="IBM Plex Sans Arabic"/>
                <a:cs typeface="IBM Plex Sans Arabic"/>
              </a:rPr>
              <a:t>روتانا  ·  الموارد البشرية</a:t>
            </a:r>
          </a:p>
        </p:txBody>
      </p:sp>
      <p:sp>
        <p:nvSpPr>
          <p:cNvPr id="9" name="TextBox 8"/>
          <p:cNvSpPr txBox="1"/>
          <p:nvPr/>
        </p:nvSpPr>
        <p:spPr>
          <a:xfrm>
            <a:off x="9509760" y="6510528"/>
            <a:ext cx="2103120" cy="256032"/>
          </a:xfrm>
          <a:prstGeom prst="rect">
            <a:avLst/>
          </a:prstGeom>
          <a:noFill/>
        </p:spPr>
        <p:txBody>
          <a:bodyPr wrap="square" anchor="t"/>
          <a:lstStyle/>
          <a:p>
            <a:pPr rtl="1" algn="l"/>
            <a:r>
              <a:rPr sz="1100" b="0">
                <a:solidFill>
                  <a:srgbClr val="6A706C"/>
                </a:solidFill>
                <a:latin typeface="IBM Plex Mono"/>
                <a:ea typeface="IBM Plex Mono"/>
                <a:cs typeface="IBM Plex Mono"/>
              </a:rPr>
              <a:t>10  /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640080" cy="274320"/>
          </a:xfrm>
          <a:prstGeom prst="rect">
            <a:avLst/>
          </a:prstGeom>
          <a:noFill/>
        </p:spPr>
        <p:txBody>
          <a:bodyPr wrap="square" anchor="t"/>
          <a:lstStyle/>
          <a:p>
            <a:pPr rtl="1" algn="r"/>
            <a:r>
              <a:rPr sz="1100" b="0">
                <a:solidFill>
                  <a:srgbClr val="00512F"/>
                </a:solidFill>
                <a:latin typeface="IBM Plex Mono"/>
                <a:ea typeface="IBM Plex Mono"/>
                <a:cs typeface="IBM Plex Mono"/>
              </a:rPr>
              <a:t>١١</a:t>
            </a:r>
          </a:p>
        </p:txBody>
      </p:sp>
      <p:sp>
        <p:nvSpPr>
          <p:cNvPr id="4" name="TextBox 3"/>
          <p:cNvSpPr txBox="1"/>
          <p:nvPr/>
        </p:nvSpPr>
        <p:spPr>
          <a:xfrm>
            <a:off x="1234440" y="384048"/>
            <a:ext cx="10058400" cy="256032"/>
          </a:xfrm>
          <a:prstGeom prst="rect">
            <a:avLst/>
          </a:prstGeom>
          <a:noFill/>
        </p:spPr>
        <p:txBody>
          <a:bodyPr wrap="square" anchor="t"/>
          <a:lstStyle/>
          <a:p>
            <a:pPr rtl="1" algn="r"/>
            <a:r>
              <a:rPr sz="1100" b="0">
                <a:solidFill>
                  <a:srgbClr val="00512F"/>
                </a:solidFill>
                <a:latin typeface="IBM Plex Sans"/>
                <a:ea typeface="IBM Plex Sans"/>
                <a:cs typeface="IBM Plex Sans"/>
              </a:rPr>
              <a:t>إدارات روتانا</a:t>
            </a:r>
          </a:p>
        </p:txBody>
      </p:sp>
      <p:sp>
        <p:nvSpPr>
          <p:cNvPr id="5" name="TextBox 4"/>
          <p:cNvSpPr txBox="1"/>
          <p:nvPr/>
        </p:nvSpPr>
        <p:spPr>
          <a:xfrm>
            <a:off x="1234440" y="621792"/>
            <a:ext cx="10241280" cy="640080"/>
          </a:xfrm>
          <a:prstGeom prst="rect">
            <a:avLst/>
          </a:prstGeom>
          <a:noFill/>
        </p:spPr>
        <p:txBody>
          <a:bodyPr wrap="square" anchor="t"/>
          <a:lstStyle/>
          <a:p>
            <a:pPr rtl="1" algn="r"/>
            <a:r>
              <a:rPr sz="2800" b="0">
                <a:solidFill>
                  <a:srgbClr val="0C100E"/>
                </a:solidFill>
                <a:latin typeface="Amiri"/>
                <a:ea typeface="Amiri"/>
                <a:cs typeface="Amiri"/>
              </a:rPr>
              <a:t>وحدات العمل — انسخ البطاقة إلى عرض القسم.</a:t>
            </a:r>
          </a:p>
        </p:txBody>
      </p:sp>
      <p:sp>
        <p:nvSpPr>
          <p:cNvPr id="6" name="Rounded Rectangle 5"/>
          <p:cNvSpPr/>
          <p:nvPr/>
        </p:nvSpPr>
        <p:spPr>
          <a:xfrm>
            <a:off x="566928" y="1508760"/>
            <a:ext cx="3611880" cy="566928"/>
          </a:xfrm>
          <a:prstGeom prst="roundRect">
            <a:avLst/>
          </a:prstGeom>
          <a:solidFill>
            <a:srgbClr val="FFFFFF"/>
          </a:solidFill>
          <a:ln w="12700">
            <a:solidFill>
              <a:srgbClr val="C5C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36776"/>
            <a:ext cx="3291840" cy="329184"/>
          </a:xfrm>
          <a:prstGeom prst="rect">
            <a:avLst/>
          </a:prstGeom>
          <a:noFill/>
        </p:spPr>
        <p:txBody>
          <a:bodyPr wrap="square" anchor="t"/>
          <a:lstStyle/>
          <a:p>
            <a:pPr rtl="1" algn="r"/>
            <a:r>
              <a:rPr sz="1500" b="0">
                <a:solidFill>
                  <a:srgbClr val="0C100E"/>
                </a:solidFill>
                <a:latin typeface="IBM Plex Sans Arabic"/>
                <a:ea typeface="IBM Plex Sans Arabic"/>
                <a:cs typeface="IBM Plex Sans Arabic"/>
              </a:rPr>
              <a:t>روتانا موسيقى</a:t>
            </a:r>
          </a:p>
        </p:txBody>
      </p:sp>
      <p:sp>
        <p:nvSpPr>
          <p:cNvPr id="8" name="Rounded Rectangle 7"/>
          <p:cNvSpPr/>
          <p:nvPr/>
        </p:nvSpPr>
        <p:spPr>
          <a:xfrm>
            <a:off x="4361688" y="1508760"/>
            <a:ext cx="3611880" cy="566928"/>
          </a:xfrm>
          <a:prstGeom prst="roundRect">
            <a:avLst/>
          </a:prstGeom>
          <a:solidFill>
            <a:srgbClr val="FFFFFF"/>
          </a:solidFill>
          <a:ln w="12700">
            <a:solidFill>
              <a:srgbClr val="C5C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636776"/>
            <a:ext cx="3291840" cy="329184"/>
          </a:xfrm>
          <a:prstGeom prst="rect">
            <a:avLst/>
          </a:prstGeom>
          <a:noFill/>
        </p:spPr>
        <p:txBody>
          <a:bodyPr wrap="square" anchor="t"/>
          <a:lstStyle/>
          <a:p>
            <a:pPr rtl="1" algn="r"/>
            <a:r>
              <a:rPr sz="1500" b="0">
                <a:solidFill>
                  <a:srgbClr val="0C100E"/>
                </a:solidFill>
                <a:latin typeface="IBM Plex Sans Arabic"/>
                <a:ea typeface="IBM Plex Sans Arabic"/>
                <a:cs typeface="IBM Plex Sans Arabic"/>
              </a:rPr>
              <a:t>روتانا خليجية</a:t>
            </a:r>
          </a:p>
        </p:txBody>
      </p:sp>
      <p:sp>
        <p:nvSpPr>
          <p:cNvPr id="10" name="Rounded Rectangle 9"/>
          <p:cNvSpPr/>
          <p:nvPr/>
        </p:nvSpPr>
        <p:spPr>
          <a:xfrm>
            <a:off x="8156448" y="1508760"/>
            <a:ext cx="3611880" cy="566928"/>
          </a:xfrm>
          <a:prstGeom prst="roundRect">
            <a:avLst/>
          </a:prstGeom>
          <a:solidFill>
            <a:srgbClr val="FFFFFF"/>
          </a:solidFill>
          <a:ln w="12700">
            <a:solidFill>
              <a:srgbClr val="C5C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636776"/>
            <a:ext cx="3291840" cy="329184"/>
          </a:xfrm>
          <a:prstGeom prst="rect">
            <a:avLst/>
          </a:prstGeom>
          <a:noFill/>
        </p:spPr>
        <p:txBody>
          <a:bodyPr wrap="square" anchor="t"/>
          <a:lstStyle/>
          <a:p>
            <a:pPr rtl="1" algn="r"/>
            <a:r>
              <a:rPr sz="1500" b="0">
                <a:solidFill>
                  <a:srgbClr val="0C100E"/>
                </a:solidFill>
                <a:latin typeface="IBM Plex Sans Arabic"/>
                <a:ea typeface="IBM Plex Sans Arabic"/>
                <a:cs typeface="IBM Plex Sans Arabic"/>
              </a:rPr>
              <a:t>روتانا سينما</a:t>
            </a:r>
          </a:p>
        </p:txBody>
      </p:sp>
      <p:sp>
        <p:nvSpPr>
          <p:cNvPr id="12" name="Rounded Rectangle 11"/>
          <p:cNvSpPr/>
          <p:nvPr/>
        </p:nvSpPr>
        <p:spPr>
          <a:xfrm>
            <a:off x="566928" y="2221992"/>
            <a:ext cx="3611880" cy="566928"/>
          </a:xfrm>
          <a:prstGeom prst="roundRect">
            <a:avLst/>
          </a:prstGeom>
          <a:solidFill>
            <a:srgbClr val="FFFFFF"/>
          </a:solidFill>
          <a:ln w="12700">
            <a:solidFill>
              <a:srgbClr val="C5C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350008"/>
            <a:ext cx="3291840" cy="329184"/>
          </a:xfrm>
          <a:prstGeom prst="rect">
            <a:avLst/>
          </a:prstGeom>
          <a:noFill/>
        </p:spPr>
        <p:txBody>
          <a:bodyPr wrap="square" anchor="t"/>
          <a:lstStyle/>
          <a:p>
            <a:pPr rtl="1" algn="r"/>
            <a:r>
              <a:rPr sz="1500" b="0">
                <a:solidFill>
                  <a:srgbClr val="0C100E"/>
                </a:solidFill>
                <a:latin typeface="IBM Plex Sans Arabic"/>
                <a:ea typeface="IBM Plex Sans Arabic"/>
                <a:cs typeface="IBM Plex Sans Arabic"/>
              </a:rPr>
              <a:t>روتانا دراما</a:t>
            </a:r>
          </a:p>
        </p:txBody>
      </p:sp>
      <p:sp>
        <p:nvSpPr>
          <p:cNvPr id="14" name="Rounded Rectangle 13"/>
          <p:cNvSpPr/>
          <p:nvPr/>
        </p:nvSpPr>
        <p:spPr>
          <a:xfrm>
            <a:off x="4361688" y="2221992"/>
            <a:ext cx="3611880" cy="566928"/>
          </a:xfrm>
          <a:prstGeom prst="roundRect">
            <a:avLst/>
          </a:prstGeom>
          <a:solidFill>
            <a:srgbClr val="FFFFFF"/>
          </a:solidFill>
          <a:ln w="12700">
            <a:solidFill>
              <a:srgbClr val="C5C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2350008"/>
            <a:ext cx="3291840" cy="329184"/>
          </a:xfrm>
          <a:prstGeom prst="rect">
            <a:avLst/>
          </a:prstGeom>
          <a:noFill/>
        </p:spPr>
        <p:txBody>
          <a:bodyPr wrap="square" anchor="t"/>
          <a:lstStyle/>
          <a:p>
            <a:pPr rtl="1" algn="r"/>
            <a:r>
              <a:rPr sz="1500" b="0">
                <a:solidFill>
                  <a:srgbClr val="0C100E"/>
                </a:solidFill>
                <a:latin typeface="IBM Plex Sans Arabic"/>
                <a:ea typeface="IBM Plex Sans Arabic"/>
                <a:cs typeface="IBM Plex Sans Arabic"/>
              </a:rPr>
              <a:t>روتانا كوميدي</a:t>
            </a:r>
          </a:p>
        </p:txBody>
      </p:sp>
      <p:sp>
        <p:nvSpPr>
          <p:cNvPr id="16" name="Rounded Rectangle 15"/>
          <p:cNvSpPr/>
          <p:nvPr/>
        </p:nvSpPr>
        <p:spPr>
          <a:xfrm>
            <a:off x="8156448" y="2221992"/>
            <a:ext cx="3611880" cy="566928"/>
          </a:xfrm>
          <a:prstGeom prst="roundRect">
            <a:avLst/>
          </a:prstGeom>
          <a:solidFill>
            <a:srgbClr val="FFFFFF"/>
          </a:solidFill>
          <a:ln w="12700">
            <a:solidFill>
              <a:srgbClr val="C5C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2350008"/>
            <a:ext cx="3291840" cy="329184"/>
          </a:xfrm>
          <a:prstGeom prst="rect">
            <a:avLst/>
          </a:prstGeom>
          <a:noFill/>
        </p:spPr>
        <p:txBody>
          <a:bodyPr wrap="square" anchor="t"/>
          <a:lstStyle/>
          <a:p>
            <a:pPr rtl="1" algn="r"/>
            <a:r>
              <a:rPr sz="1500" b="0">
                <a:solidFill>
                  <a:srgbClr val="0C100E"/>
                </a:solidFill>
                <a:latin typeface="IBM Plex Sans Arabic"/>
                <a:ea typeface="IBM Plex Sans Arabic"/>
                <a:cs typeface="IBM Plex Sans Arabic"/>
              </a:rPr>
              <a:t>روتانا زمان</a:t>
            </a:r>
          </a:p>
        </p:txBody>
      </p:sp>
      <p:sp>
        <p:nvSpPr>
          <p:cNvPr id="18" name="Rounded Rectangle 17"/>
          <p:cNvSpPr/>
          <p:nvPr/>
        </p:nvSpPr>
        <p:spPr>
          <a:xfrm>
            <a:off x="566928" y="2935224"/>
            <a:ext cx="3611880" cy="566928"/>
          </a:xfrm>
          <a:prstGeom prst="roundRect">
            <a:avLst/>
          </a:prstGeom>
          <a:solidFill>
            <a:srgbClr val="FFFFFF"/>
          </a:solidFill>
          <a:ln w="12700">
            <a:solidFill>
              <a:srgbClr val="C5C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063240"/>
            <a:ext cx="3291840" cy="329184"/>
          </a:xfrm>
          <a:prstGeom prst="rect">
            <a:avLst/>
          </a:prstGeom>
          <a:noFill/>
        </p:spPr>
        <p:txBody>
          <a:bodyPr wrap="square" anchor="t"/>
          <a:lstStyle/>
          <a:p>
            <a:pPr rtl="1" algn="r"/>
            <a:r>
              <a:rPr sz="1500" b="0">
                <a:solidFill>
                  <a:srgbClr val="0C100E"/>
                </a:solidFill>
                <a:latin typeface="IBM Plex Sans Arabic"/>
                <a:ea typeface="IBM Plex Sans Arabic"/>
                <a:cs typeface="IBM Plex Sans Arabic"/>
              </a:rPr>
              <a:t>روتانا كلاسيك</a:t>
            </a:r>
          </a:p>
        </p:txBody>
      </p:sp>
      <p:sp>
        <p:nvSpPr>
          <p:cNvPr id="20" name="Rounded Rectangle 19"/>
          <p:cNvSpPr/>
          <p:nvPr/>
        </p:nvSpPr>
        <p:spPr>
          <a:xfrm>
            <a:off x="4361688" y="2935224"/>
            <a:ext cx="3611880" cy="566928"/>
          </a:xfrm>
          <a:prstGeom prst="roundRect">
            <a:avLst/>
          </a:prstGeom>
          <a:solidFill>
            <a:srgbClr val="FFFFFF"/>
          </a:solidFill>
          <a:ln w="12700">
            <a:solidFill>
              <a:srgbClr val="C5C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26280" y="3063240"/>
            <a:ext cx="3291840" cy="329184"/>
          </a:xfrm>
          <a:prstGeom prst="rect">
            <a:avLst/>
          </a:prstGeom>
          <a:noFill/>
        </p:spPr>
        <p:txBody>
          <a:bodyPr wrap="square" anchor="t"/>
          <a:lstStyle/>
          <a:p>
            <a:pPr rtl="1" algn="r"/>
            <a:r>
              <a:rPr sz="1500" b="0">
                <a:solidFill>
                  <a:srgbClr val="0C100E"/>
                </a:solidFill>
                <a:latin typeface="IBM Plex Sans Arabic"/>
                <a:ea typeface="IBM Plex Sans Arabic"/>
                <a:cs typeface="IBM Plex Sans Arabic"/>
              </a:rPr>
              <a:t>روتانا كيدز</a:t>
            </a:r>
          </a:p>
        </p:txBody>
      </p:sp>
      <p:sp>
        <p:nvSpPr>
          <p:cNvPr id="22" name="Rounded Rectangle 21"/>
          <p:cNvSpPr/>
          <p:nvPr/>
        </p:nvSpPr>
        <p:spPr>
          <a:xfrm>
            <a:off x="8156448" y="2935224"/>
            <a:ext cx="3611880" cy="566928"/>
          </a:xfrm>
          <a:prstGeom prst="roundRect">
            <a:avLst/>
          </a:prstGeom>
          <a:solidFill>
            <a:srgbClr val="FFFFFF"/>
          </a:solidFill>
          <a:ln w="12700">
            <a:solidFill>
              <a:srgbClr val="C5C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0" y="3063240"/>
            <a:ext cx="3291840" cy="329184"/>
          </a:xfrm>
          <a:prstGeom prst="rect">
            <a:avLst/>
          </a:prstGeom>
          <a:noFill/>
        </p:spPr>
        <p:txBody>
          <a:bodyPr wrap="square" anchor="t"/>
          <a:lstStyle/>
          <a:p>
            <a:pPr rtl="1" algn="r"/>
            <a:r>
              <a:rPr sz="1500" b="0">
                <a:solidFill>
                  <a:srgbClr val="0C100E"/>
                </a:solidFill>
                <a:latin typeface="IBM Plex Sans Arabic"/>
                <a:ea typeface="IBM Plex Sans Arabic"/>
                <a:cs typeface="IBM Plex Sans Arabic"/>
              </a:rPr>
              <a:t>المنصات الرقمية</a:t>
            </a:r>
          </a:p>
        </p:txBody>
      </p:sp>
      <p:sp>
        <p:nvSpPr>
          <p:cNvPr id="24" name="Rounded Rectangle 23"/>
          <p:cNvSpPr/>
          <p:nvPr/>
        </p:nvSpPr>
        <p:spPr>
          <a:xfrm>
            <a:off x="566928" y="3648456"/>
            <a:ext cx="3611880" cy="566928"/>
          </a:xfrm>
          <a:prstGeom prst="roundRect">
            <a:avLst/>
          </a:prstGeom>
          <a:solidFill>
            <a:srgbClr val="FFFFFF"/>
          </a:solidFill>
          <a:ln w="12700">
            <a:solidFill>
              <a:srgbClr val="C5C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3776472"/>
            <a:ext cx="3291840" cy="329184"/>
          </a:xfrm>
          <a:prstGeom prst="rect">
            <a:avLst/>
          </a:prstGeom>
          <a:noFill/>
        </p:spPr>
        <p:txBody>
          <a:bodyPr wrap="square" anchor="t"/>
          <a:lstStyle/>
          <a:p>
            <a:pPr rtl="1" algn="r"/>
            <a:r>
              <a:rPr sz="1500" b="0">
                <a:solidFill>
                  <a:srgbClr val="0C100E"/>
                </a:solidFill>
                <a:latin typeface="IBM Plex Sans Arabic"/>
                <a:ea typeface="IBM Plex Sans Arabic"/>
                <a:cs typeface="IBM Plex Sans Arabic"/>
              </a:rPr>
              <a:t>التسويق والعلامات</a:t>
            </a:r>
          </a:p>
        </p:txBody>
      </p:sp>
      <p:sp>
        <p:nvSpPr>
          <p:cNvPr id="26" name="Rounded Rectangle 25"/>
          <p:cNvSpPr/>
          <p:nvPr/>
        </p:nvSpPr>
        <p:spPr>
          <a:xfrm>
            <a:off x="4361688" y="3648456"/>
            <a:ext cx="3611880" cy="566928"/>
          </a:xfrm>
          <a:prstGeom prst="roundRect">
            <a:avLst/>
          </a:prstGeom>
          <a:solidFill>
            <a:srgbClr val="FFFFFF"/>
          </a:solidFill>
          <a:ln w="12700">
            <a:solidFill>
              <a:srgbClr val="C5C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26280" y="3776472"/>
            <a:ext cx="3291840" cy="329184"/>
          </a:xfrm>
          <a:prstGeom prst="rect">
            <a:avLst/>
          </a:prstGeom>
          <a:noFill/>
        </p:spPr>
        <p:txBody>
          <a:bodyPr wrap="square" anchor="t"/>
          <a:lstStyle/>
          <a:p>
            <a:pPr rtl="1" algn="r"/>
            <a:r>
              <a:rPr sz="1500" b="0">
                <a:solidFill>
                  <a:srgbClr val="0C100E"/>
                </a:solidFill>
                <a:latin typeface="IBM Plex Sans Arabic"/>
                <a:ea typeface="IBM Plex Sans Arabic"/>
                <a:cs typeface="IBM Plex Sans Arabic"/>
              </a:rPr>
              <a:t>المبيعات والشراكات</a:t>
            </a:r>
          </a:p>
        </p:txBody>
      </p:sp>
      <p:sp>
        <p:nvSpPr>
          <p:cNvPr id="28" name="Rounded Rectangle 27"/>
          <p:cNvSpPr/>
          <p:nvPr/>
        </p:nvSpPr>
        <p:spPr>
          <a:xfrm>
            <a:off x="8156448" y="3648456"/>
            <a:ext cx="3611880" cy="566928"/>
          </a:xfrm>
          <a:prstGeom prst="roundRect">
            <a:avLst/>
          </a:prstGeom>
          <a:solidFill>
            <a:srgbClr val="FFFFFF"/>
          </a:solidFill>
          <a:ln w="12700">
            <a:solidFill>
              <a:srgbClr val="C5C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40" y="3776472"/>
            <a:ext cx="3291840" cy="329184"/>
          </a:xfrm>
          <a:prstGeom prst="rect">
            <a:avLst/>
          </a:prstGeom>
          <a:noFill/>
        </p:spPr>
        <p:txBody>
          <a:bodyPr wrap="square" anchor="t"/>
          <a:lstStyle/>
          <a:p>
            <a:pPr rtl="1" algn="r"/>
            <a:r>
              <a:rPr sz="1500" b="0">
                <a:solidFill>
                  <a:srgbClr val="0C100E"/>
                </a:solidFill>
                <a:latin typeface="IBM Plex Sans Arabic"/>
                <a:ea typeface="IBM Plex Sans Arabic"/>
                <a:cs typeface="IBM Plex Sans Arabic"/>
              </a:rPr>
              <a:t>الإنتاج</a:t>
            </a:r>
          </a:p>
        </p:txBody>
      </p:sp>
      <p:sp>
        <p:nvSpPr>
          <p:cNvPr id="30" name="Rounded Rectangle 29"/>
          <p:cNvSpPr/>
          <p:nvPr/>
        </p:nvSpPr>
        <p:spPr>
          <a:xfrm>
            <a:off x="566928" y="4361688"/>
            <a:ext cx="3611880" cy="566928"/>
          </a:xfrm>
          <a:prstGeom prst="roundRect">
            <a:avLst/>
          </a:prstGeom>
          <a:solidFill>
            <a:srgbClr val="FFFFFF"/>
          </a:solidFill>
          <a:ln w="12700">
            <a:solidFill>
              <a:srgbClr val="C5C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489704"/>
            <a:ext cx="3291840" cy="329184"/>
          </a:xfrm>
          <a:prstGeom prst="rect">
            <a:avLst/>
          </a:prstGeom>
          <a:noFill/>
        </p:spPr>
        <p:txBody>
          <a:bodyPr wrap="square" anchor="t"/>
          <a:lstStyle/>
          <a:p>
            <a:pPr rtl="1" algn="r"/>
            <a:r>
              <a:rPr sz="1500" b="0">
                <a:solidFill>
                  <a:srgbClr val="0C100E"/>
                </a:solidFill>
                <a:latin typeface="IBM Plex Sans Arabic"/>
                <a:ea typeface="IBM Plex Sans Arabic"/>
                <a:cs typeface="IBM Plex Sans Arabic"/>
              </a:rPr>
              <a:t>التوزيع والحقوق</a:t>
            </a:r>
          </a:p>
        </p:txBody>
      </p:sp>
      <p:sp>
        <p:nvSpPr>
          <p:cNvPr id="32" name="Rounded Rectangle 31"/>
          <p:cNvSpPr/>
          <p:nvPr/>
        </p:nvSpPr>
        <p:spPr>
          <a:xfrm>
            <a:off x="4361688" y="4361688"/>
            <a:ext cx="3611880" cy="566928"/>
          </a:xfrm>
          <a:prstGeom prst="roundRect">
            <a:avLst/>
          </a:prstGeom>
          <a:solidFill>
            <a:srgbClr val="FFFFFF"/>
          </a:solidFill>
          <a:ln w="12700">
            <a:solidFill>
              <a:srgbClr val="C5C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26280" y="4489704"/>
            <a:ext cx="3291840" cy="329184"/>
          </a:xfrm>
          <a:prstGeom prst="rect">
            <a:avLst/>
          </a:prstGeom>
          <a:noFill/>
        </p:spPr>
        <p:txBody>
          <a:bodyPr wrap="square" anchor="t"/>
          <a:lstStyle/>
          <a:p>
            <a:pPr rtl="1" algn="r"/>
            <a:r>
              <a:rPr sz="1500" b="0">
                <a:solidFill>
                  <a:srgbClr val="0C100E"/>
                </a:solidFill>
                <a:latin typeface="IBM Plex Sans Arabic"/>
                <a:ea typeface="IBM Plex Sans Arabic"/>
                <a:cs typeface="IBM Plex Sans Arabic"/>
              </a:rPr>
              <a:t>المالية</a:t>
            </a:r>
          </a:p>
        </p:txBody>
      </p:sp>
      <p:sp>
        <p:nvSpPr>
          <p:cNvPr id="34" name="Rounded Rectangle 33"/>
          <p:cNvSpPr/>
          <p:nvPr/>
        </p:nvSpPr>
        <p:spPr>
          <a:xfrm>
            <a:off x="8156448" y="4361688"/>
            <a:ext cx="3611880" cy="566928"/>
          </a:xfrm>
          <a:prstGeom prst="roundRect">
            <a:avLst/>
          </a:prstGeom>
          <a:solidFill>
            <a:srgbClr val="FFFFFF"/>
          </a:solidFill>
          <a:ln w="12700">
            <a:solidFill>
              <a:srgbClr val="C5C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21040" y="4489704"/>
            <a:ext cx="3291840" cy="329184"/>
          </a:xfrm>
          <a:prstGeom prst="rect">
            <a:avLst/>
          </a:prstGeom>
          <a:noFill/>
        </p:spPr>
        <p:txBody>
          <a:bodyPr wrap="square" anchor="t"/>
          <a:lstStyle/>
          <a:p>
            <a:pPr rtl="1" algn="r"/>
            <a:r>
              <a:rPr sz="1500" b="0">
                <a:solidFill>
                  <a:srgbClr val="0C100E"/>
                </a:solidFill>
                <a:latin typeface="IBM Plex Sans Arabic"/>
                <a:ea typeface="IBM Plex Sans Arabic"/>
                <a:cs typeface="IBM Plex Sans Arabic"/>
              </a:rPr>
              <a:t>الشؤون القانونية</a:t>
            </a:r>
          </a:p>
        </p:txBody>
      </p:sp>
      <p:sp>
        <p:nvSpPr>
          <p:cNvPr id="36" name="Rounded Rectangle 35"/>
          <p:cNvSpPr/>
          <p:nvPr/>
        </p:nvSpPr>
        <p:spPr>
          <a:xfrm>
            <a:off x="566928" y="5074920"/>
            <a:ext cx="3611880" cy="566928"/>
          </a:xfrm>
          <a:prstGeom prst="roundRect">
            <a:avLst/>
          </a:prstGeom>
          <a:solidFill>
            <a:srgbClr val="FFFFFF"/>
          </a:solidFill>
          <a:ln w="12700">
            <a:solidFill>
              <a:srgbClr val="C5C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5202936"/>
            <a:ext cx="3291840" cy="329184"/>
          </a:xfrm>
          <a:prstGeom prst="rect">
            <a:avLst/>
          </a:prstGeom>
          <a:noFill/>
        </p:spPr>
        <p:txBody>
          <a:bodyPr wrap="square" anchor="t"/>
          <a:lstStyle/>
          <a:p>
            <a:pPr rtl="1" algn="r"/>
            <a:r>
              <a:rPr sz="1500" b="0">
                <a:solidFill>
                  <a:srgbClr val="0C100E"/>
                </a:solidFill>
                <a:latin typeface="IBM Plex Sans Arabic"/>
                <a:ea typeface="IBM Plex Sans Arabic"/>
                <a:cs typeface="IBM Plex Sans Arabic"/>
              </a:rPr>
              <a:t>تقنية المعلومات</a:t>
            </a:r>
          </a:p>
        </p:txBody>
      </p:sp>
      <p:sp>
        <p:nvSpPr>
          <p:cNvPr id="38" name="Rounded Rectangle 37"/>
          <p:cNvSpPr/>
          <p:nvPr/>
        </p:nvSpPr>
        <p:spPr>
          <a:xfrm>
            <a:off x="4361688" y="5074920"/>
            <a:ext cx="3611880" cy="566928"/>
          </a:xfrm>
          <a:prstGeom prst="roundRect">
            <a:avLst/>
          </a:prstGeom>
          <a:solidFill>
            <a:srgbClr val="FFFFFF"/>
          </a:solidFill>
          <a:ln w="12700">
            <a:solidFill>
              <a:srgbClr val="C5C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26280" y="5202936"/>
            <a:ext cx="3291840" cy="329184"/>
          </a:xfrm>
          <a:prstGeom prst="rect">
            <a:avLst/>
          </a:prstGeom>
          <a:noFill/>
        </p:spPr>
        <p:txBody>
          <a:bodyPr wrap="square" anchor="t"/>
          <a:lstStyle/>
          <a:p>
            <a:pPr rtl="1" algn="r"/>
            <a:r>
              <a:rPr sz="1500" b="0">
                <a:solidFill>
                  <a:srgbClr val="0C100E"/>
                </a:solidFill>
                <a:latin typeface="IBM Plex Sans Arabic"/>
                <a:ea typeface="IBM Plex Sans Arabic"/>
                <a:cs typeface="IBM Plex Sans Arabic"/>
              </a:rPr>
              <a:t>الاتصال المؤسسي</a:t>
            </a:r>
          </a:p>
        </p:txBody>
      </p:sp>
      <p:sp>
        <p:nvSpPr>
          <p:cNvPr id="40" name="Rounded Rectangle 39"/>
          <p:cNvSpPr/>
          <p:nvPr/>
        </p:nvSpPr>
        <p:spPr>
          <a:xfrm>
            <a:off x="8156448" y="5074920"/>
            <a:ext cx="3611880" cy="566928"/>
          </a:xfrm>
          <a:prstGeom prst="roundRect">
            <a:avLst/>
          </a:prstGeom>
          <a:solidFill>
            <a:srgbClr val="FFFFFF"/>
          </a:solidFill>
          <a:ln w="12700">
            <a:solidFill>
              <a:srgbClr val="C5C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21040" y="5202936"/>
            <a:ext cx="3291840" cy="329184"/>
          </a:xfrm>
          <a:prstGeom prst="rect">
            <a:avLst/>
          </a:prstGeom>
          <a:noFill/>
        </p:spPr>
        <p:txBody>
          <a:bodyPr wrap="square" anchor="t"/>
          <a:lstStyle/>
          <a:p>
            <a:pPr rtl="1" algn="r"/>
            <a:r>
              <a:rPr sz="1500" b="0">
                <a:solidFill>
                  <a:srgbClr val="0C100E"/>
                </a:solidFill>
                <a:latin typeface="IBM Plex Sans Arabic"/>
                <a:ea typeface="IBM Plex Sans Arabic"/>
                <a:cs typeface="IBM Plex Sans Arabic"/>
              </a:rPr>
              <a:t>الموارد البشرية</a:t>
            </a:r>
          </a:p>
        </p:txBody>
      </p:sp>
      <p:sp>
        <p:nvSpPr>
          <p:cNvPr id="42" name="TextBox 41"/>
          <p:cNvSpPr txBox="1"/>
          <p:nvPr/>
        </p:nvSpPr>
        <p:spPr>
          <a:xfrm>
            <a:off x="566928" y="6510528"/>
            <a:ext cx="4572000" cy="256032"/>
          </a:xfrm>
          <a:prstGeom prst="rect">
            <a:avLst/>
          </a:prstGeom>
          <a:noFill/>
        </p:spPr>
        <p:txBody>
          <a:bodyPr wrap="square" anchor="t"/>
          <a:lstStyle/>
          <a:p>
            <a:pPr rtl="1" algn="r"/>
            <a:r>
              <a:rPr sz="1100" b="0">
                <a:solidFill>
                  <a:srgbClr val="6A706C"/>
                </a:solidFill>
                <a:latin typeface="IBM Plex Sans Arabic"/>
                <a:ea typeface="IBM Plex Sans Arabic"/>
                <a:cs typeface="IBM Plex Sans Arabic"/>
              </a:rPr>
              <a:t>روتانا  ·  الموارد البشرية</a:t>
            </a:r>
          </a:p>
        </p:txBody>
      </p:sp>
      <p:sp>
        <p:nvSpPr>
          <p:cNvPr id="43" name="TextBox 42"/>
          <p:cNvSpPr txBox="1"/>
          <p:nvPr/>
        </p:nvSpPr>
        <p:spPr>
          <a:xfrm>
            <a:off x="9509760" y="6510528"/>
            <a:ext cx="2103120" cy="256032"/>
          </a:xfrm>
          <a:prstGeom prst="rect">
            <a:avLst/>
          </a:prstGeom>
          <a:noFill/>
        </p:spPr>
        <p:txBody>
          <a:bodyPr wrap="square" anchor="t"/>
          <a:lstStyle/>
          <a:p>
            <a:pPr rtl="1" algn="l"/>
            <a:r>
              <a:rPr sz="1100" b="0">
                <a:solidFill>
                  <a:srgbClr val="6A706C"/>
                </a:solidFill>
                <a:latin typeface="IBM Plex Mono"/>
                <a:ea typeface="IBM Plex Mono"/>
                <a:cs typeface="IBM Plex Mono"/>
              </a:rPr>
              <a:t>11  /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640080" cy="274320"/>
          </a:xfrm>
          <a:prstGeom prst="rect">
            <a:avLst/>
          </a:prstGeom>
          <a:noFill/>
        </p:spPr>
        <p:txBody>
          <a:bodyPr wrap="square" anchor="t"/>
          <a:lstStyle/>
          <a:p>
            <a:pPr rtl="1" algn="r"/>
            <a:r>
              <a:rPr sz="1100" b="0">
                <a:solidFill>
                  <a:srgbClr val="00512F"/>
                </a:solidFill>
                <a:latin typeface="IBM Plex Mono"/>
                <a:ea typeface="IBM Plex Mono"/>
                <a:cs typeface="IBM Plex Mono"/>
              </a:rPr>
              <a:t>١٢</a:t>
            </a:r>
          </a:p>
        </p:txBody>
      </p:sp>
      <p:sp>
        <p:nvSpPr>
          <p:cNvPr id="4" name="TextBox 3"/>
          <p:cNvSpPr txBox="1"/>
          <p:nvPr/>
        </p:nvSpPr>
        <p:spPr>
          <a:xfrm>
            <a:off x="1234440" y="384048"/>
            <a:ext cx="10058400" cy="256032"/>
          </a:xfrm>
          <a:prstGeom prst="rect">
            <a:avLst/>
          </a:prstGeom>
          <a:noFill/>
        </p:spPr>
        <p:txBody>
          <a:bodyPr wrap="square" anchor="t"/>
          <a:lstStyle/>
          <a:p>
            <a:pPr rtl="1" algn="r"/>
            <a:r>
              <a:rPr sz="1100" b="0">
                <a:solidFill>
                  <a:srgbClr val="00512F"/>
                </a:solidFill>
                <a:latin typeface="IBM Plex Sans"/>
                <a:ea typeface="IBM Plex Sans"/>
                <a:cs typeface="IBM Plex Sans"/>
              </a:rPr>
              <a:t>وحدات الموارد البشرية</a:t>
            </a:r>
          </a:p>
        </p:txBody>
      </p:sp>
      <p:sp>
        <p:nvSpPr>
          <p:cNvPr id="5" name="TextBox 4"/>
          <p:cNvSpPr txBox="1"/>
          <p:nvPr/>
        </p:nvSpPr>
        <p:spPr>
          <a:xfrm>
            <a:off x="1234440" y="621792"/>
            <a:ext cx="10241280" cy="640080"/>
          </a:xfrm>
          <a:prstGeom prst="rect">
            <a:avLst/>
          </a:prstGeom>
          <a:noFill/>
        </p:spPr>
        <p:txBody>
          <a:bodyPr wrap="square" anchor="t"/>
          <a:lstStyle/>
          <a:p>
            <a:pPr rtl="1" algn="r"/>
            <a:r>
              <a:rPr sz="2800" b="0">
                <a:solidFill>
                  <a:srgbClr val="0C100E"/>
                </a:solidFill>
                <a:latin typeface="Amiri"/>
                <a:ea typeface="Amiri"/>
                <a:cs typeface="Amiri"/>
              </a:rPr>
              <a:t>كل وظيفة لها أيقونة — انسخ الصف.</a:t>
            </a:r>
          </a:p>
        </p:txBody>
      </p:sp>
      <p:pic>
        <p:nvPicPr>
          <p:cNvPr id="6" name="Picture 5" descr="hire.png"/>
          <p:cNvPicPr>
            <a:picLocks noChangeAspect="1"/>
          </p:cNvPicPr>
          <p:nvPr/>
        </p:nvPicPr>
        <p:blipFill>
          <a:blip r:embed="rId2"/>
          <a:stretch>
            <a:fillRect/>
          </a:stretch>
        </p:blipFill>
        <p:spPr>
          <a:xfrm>
            <a:off x="566928" y="1673352"/>
            <a:ext cx="365760" cy="365760"/>
          </a:xfrm>
          <a:prstGeom prst="rect">
            <a:avLst/>
          </a:prstGeom>
        </p:spPr>
      </p:pic>
      <p:sp>
        <p:nvSpPr>
          <p:cNvPr id="7" name="TextBox 6"/>
          <p:cNvSpPr txBox="1"/>
          <p:nvPr/>
        </p:nvSpPr>
        <p:spPr>
          <a:xfrm>
            <a:off x="1069848" y="1618488"/>
            <a:ext cx="3017520" cy="292608"/>
          </a:xfrm>
          <a:prstGeom prst="rect">
            <a:avLst/>
          </a:prstGeom>
          <a:noFill/>
        </p:spPr>
        <p:txBody>
          <a:bodyPr wrap="square" anchor="t"/>
          <a:lstStyle/>
          <a:p>
            <a:pPr rtl="1" algn="r"/>
            <a:r>
              <a:rPr sz="1600" b="1">
                <a:solidFill>
                  <a:srgbClr val="0C100E"/>
                </a:solidFill>
                <a:latin typeface="IBM Plex Sans Arabic"/>
                <a:ea typeface="IBM Plex Sans Arabic"/>
                <a:cs typeface="IBM Plex Sans Arabic"/>
              </a:rPr>
              <a:t>الاستقطاب</a:t>
            </a:r>
          </a:p>
        </p:txBody>
      </p:sp>
      <p:sp>
        <p:nvSpPr>
          <p:cNvPr id="8" name="TextBox 7"/>
          <p:cNvSpPr txBox="1"/>
          <p:nvPr/>
        </p:nvSpPr>
        <p:spPr>
          <a:xfrm>
            <a:off x="1069848" y="1911096"/>
            <a:ext cx="3017520" cy="256032"/>
          </a:xfrm>
          <a:prstGeom prst="rect">
            <a:avLst/>
          </a:prstGeom>
          <a:noFill/>
        </p:spPr>
        <p:txBody>
          <a:bodyPr wrap="square" anchor="t"/>
          <a:lstStyle/>
          <a:p>
            <a:pPr rtl="1" algn="r"/>
            <a:r>
              <a:rPr sz="1100" b="0">
                <a:solidFill>
                  <a:srgbClr val="6A706C"/>
                </a:solidFill>
                <a:latin typeface="IBM Plex Sans"/>
                <a:ea typeface="IBM Plex Sans"/>
                <a:cs typeface="IBM Plex Sans"/>
              </a:rPr>
              <a:t>Talent Acquisition</a:t>
            </a:r>
          </a:p>
        </p:txBody>
      </p:sp>
      <p:sp>
        <p:nvSpPr>
          <p:cNvPr id="9" name="Rectangle 8"/>
          <p:cNvSpPr/>
          <p:nvPr/>
        </p:nvSpPr>
        <p:spPr>
          <a:xfrm>
            <a:off x="566928" y="2331720"/>
            <a:ext cx="3520440" cy="6350"/>
          </a:xfrm>
          <a:prstGeom prst="rect">
            <a:avLst/>
          </a:prstGeom>
          <a:solidFill>
            <a:srgbClr val="E8E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onboard.png"/>
          <p:cNvPicPr>
            <a:picLocks noChangeAspect="1"/>
          </p:cNvPicPr>
          <p:nvPr/>
        </p:nvPicPr>
        <p:blipFill>
          <a:blip r:embed="rId3"/>
          <a:stretch>
            <a:fillRect/>
          </a:stretch>
        </p:blipFill>
        <p:spPr>
          <a:xfrm>
            <a:off x="4361688" y="1673352"/>
            <a:ext cx="365760" cy="365760"/>
          </a:xfrm>
          <a:prstGeom prst="rect">
            <a:avLst/>
          </a:prstGeom>
        </p:spPr>
      </p:pic>
      <p:sp>
        <p:nvSpPr>
          <p:cNvPr id="11" name="TextBox 10"/>
          <p:cNvSpPr txBox="1"/>
          <p:nvPr/>
        </p:nvSpPr>
        <p:spPr>
          <a:xfrm>
            <a:off x="4864608" y="1618488"/>
            <a:ext cx="3017520" cy="292608"/>
          </a:xfrm>
          <a:prstGeom prst="rect">
            <a:avLst/>
          </a:prstGeom>
          <a:noFill/>
        </p:spPr>
        <p:txBody>
          <a:bodyPr wrap="square" anchor="t"/>
          <a:lstStyle/>
          <a:p>
            <a:pPr rtl="1" algn="r"/>
            <a:r>
              <a:rPr sz="1600" b="1">
                <a:solidFill>
                  <a:srgbClr val="0C100E"/>
                </a:solidFill>
                <a:latin typeface="IBM Plex Sans Arabic"/>
                <a:ea typeface="IBM Plex Sans Arabic"/>
                <a:cs typeface="IBM Plex Sans Arabic"/>
              </a:rPr>
              <a:t>التهيئة</a:t>
            </a:r>
          </a:p>
        </p:txBody>
      </p:sp>
      <p:sp>
        <p:nvSpPr>
          <p:cNvPr id="12" name="TextBox 11"/>
          <p:cNvSpPr txBox="1"/>
          <p:nvPr/>
        </p:nvSpPr>
        <p:spPr>
          <a:xfrm>
            <a:off x="4864608" y="1911096"/>
            <a:ext cx="3017520" cy="256032"/>
          </a:xfrm>
          <a:prstGeom prst="rect">
            <a:avLst/>
          </a:prstGeom>
          <a:noFill/>
        </p:spPr>
        <p:txBody>
          <a:bodyPr wrap="square" anchor="t"/>
          <a:lstStyle/>
          <a:p>
            <a:pPr rtl="1" algn="r"/>
            <a:r>
              <a:rPr sz="1100" b="0">
                <a:solidFill>
                  <a:srgbClr val="6A706C"/>
                </a:solidFill>
                <a:latin typeface="IBM Plex Sans"/>
                <a:ea typeface="IBM Plex Sans"/>
                <a:cs typeface="IBM Plex Sans"/>
              </a:rPr>
              <a:t>Onboarding</a:t>
            </a:r>
          </a:p>
        </p:txBody>
      </p:sp>
      <p:sp>
        <p:nvSpPr>
          <p:cNvPr id="13" name="Rectangle 12"/>
          <p:cNvSpPr/>
          <p:nvPr/>
        </p:nvSpPr>
        <p:spPr>
          <a:xfrm>
            <a:off x="4361688" y="2331720"/>
            <a:ext cx="3520440" cy="6350"/>
          </a:xfrm>
          <a:prstGeom prst="rect">
            <a:avLst/>
          </a:prstGeom>
          <a:solidFill>
            <a:srgbClr val="E8E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train.png"/>
          <p:cNvPicPr>
            <a:picLocks noChangeAspect="1"/>
          </p:cNvPicPr>
          <p:nvPr/>
        </p:nvPicPr>
        <p:blipFill>
          <a:blip r:embed="rId4"/>
          <a:stretch>
            <a:fillRect/>
          </a:stretch>
        </p:blipFill>
        <p:spPr>
          <a:xfrm>
            <a:off x="8156448" y="1673352"/>
            <a:ext cx="365760" cy="365760"/>
          </a:xfrm>
          <a:prstGeom prst="rect">
            <a:avLst/>
          </a:prstGeom>
        </p:spPr>
      </p:pic>
      <p:sp>
        <p:nvSpPr>
          <p:cNvPr id="15" name="TextBox 14"/>
          <p:cNvSpPr txBox="1"/>
          <p:nvPr/>
        </p:nvSpPr>
        <p:spPr>
          <a:xfrm>
            <a:off x="8659368" y="1618488"/>
            <a:ext cx="3017520" cy="292608"/>
          </a:xfrm>
          <a:prstGeom prst="rect">
            <a:avLst/>
          </a:prstGeom>
          <a:noFill/>
        </p:spPr>
        <p:txBody>
          <a:bodyPr wrap="square" anchor="t"/>
          <a:lstStyle/>
          <a:p>
            <a:pPr rtl="1" algn="r"/>
            <a:r>
              <a:rPr sz="1600" b="1">
                <a:solidFill>
                  <a:srgbClr val="0C100E"/>
                </a:solidFill>
                <a:latin typeface="IBM Plex Sans Arabic"/>
                <a:ea typeface="IBM Plex Sans Arabic"/>
                <a:cs typeface="IBM Plex Sans Arabic"/>
              </a:rPr>
              <a:t>التدريب والتطوير</a:t>
            </a:r>
          </a:p>
        </p:txBody>
      </p:sp>
      <p:sp>
        <p:nvSpPr>
          <p:cNvPr id="16" name="TextBox 15"/>
          <p:cNvSpPr txBox="1"/>
          <p:nvPr/>
        </p:nvSpPr>
        <p:spPr>
          <a:xfrm>
            <a:off x="8659368" y="1911096"/>
            <a:ext cx="3017520" cy="256032"/>
          </a:xfrm>
          <a:prstGeom prst="rect">
            <a:avLst/>
          </a:prstGeom>
          <a:noFill/>
        </p:spPr>
        <p:txBody>
          <a:bodyPr wrap="square" anchor="t"/>
          <a:lstStyle/>
          <a:p>
            <a:pPr rtl="1" algn="r"/>
            <a:r>
              <a:rPr sz="1100" b="0">
                <a:solidFill>
                  <a:srgbClr val="6A706C"/>
                </a:solidFill>
                <a:latin typeface="IBM Plex Sans"/>
                <a:ea typeface="IBM Plex Sans"/>
                <a:cs typeface="IBM Plex Sans"/>
              </a:rPr>
              <a:t>L&amp;D</a:t>
            </a:r>
          </a:p>
        </p:txBody>
      </p:sp>
      <p:sp>
        <p:nvSpPr>
          <p:cNvPr id="17" name="Rectangle 16"/>
          <p:cNvSpPr/>
          <p:nvPr/>
        </p:nvSpPr>
        <p:spPr>
          <a:xfrm>
            <a:off x="8156448" y="2331720"/>
            <a:ext cx="3520440" cy="6350"/>
          </a:xfrm>
          <a:prstGeom prst="rect">
            <a:avLst/>
          </a:prstGeom>
          <a:solidFill>
            <a:srgbClr val="E8E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performance.png"/>
          <p:cNvPicPr>
            <a:picLocks noChangeAspect="1"/>
          </p:cNvPicPr>
          <p:nvPr/>
        </p:nvPicPr>
        <p:blipFill>
          <a:blip r:embed="rId5"/>
          <a:stretch>
            <a:fillRect/>
          </a:stretch>
        </p:blipFill>
        <p:spPr>
          <a:xfrm>
            <a:off x="566928" y="2752344"/>
            <a:ext cx="365760" cy="365760"/>
          </a:xfrm>
          <a:prstGeom prst="rect">
            <a:avLst/>
          </a:prstGeom>
        </p:spPr>
      </p:pic>
      <p:sp>
        <p:nvSpPr>
          <p:cNvPr id="19" name="TextBox 18"/>
          <p:cNvSpPr txBox="1"/>
          <p:nvPr/>
        </p:nvSpPr>
        <p:spPr>
          <a:xfrm>
            <a:off x="1069848" y="2697480"/>
            <a:ext cx="3017520" cy="292608"/>
          </a:xfrm>
          <a:prstGeom prst="rect">
            <a:avLst/>
          </a:prstGeom>
          <a:noFill/>
        </p:spPr>
        <p:txBody>
          <a:bodyPr wrap="square" anchor="t"/>
          <a:lstStyle/>
          <a:p>
            <a:pPr rtl="1" algn="r"/>
            <a:r>
              <a:rPr sz="1600" b="1">
                <a:solidFill>
                  <a:srgbClr val="0C100E"/>
                </a:solidFill>
                <a:latin typeface="IBM Plex Sans Arabic"/>
                <a:ea typeface="IBM Plex Sans Arabic"/>
                <a:cs typeface="IBM Plex Sans Arabic"/>
              </a:rPr>
              <a:t>إدارة الأداء</a:t>
            </a:r>
          </a:p>
        </p:txBody>
      </p:sp>
      <p:sp>
        <p:nvSpPr>
          <p:cNvPr id="20" name="TextBox 19"/>
          <p:cNvSpPr txBox="1"/>
          <p:nvPr/>
        </p:nvSpPr>
        <p:spPr>
          <a:xfrm>
            <a:off x="1069848" y="2990088"/>
            <a:ext cx="3017520" cy="256032"/>
          </a:xfrm>
          <a:prstGeom prst="rect">
            <a:avLst/>
          </a:prstGeom>
          <a:noFill/>
        </p:spPr>
        <p:txBody>
          <a:bodyPr wrap="square" anchor="t"/>
          <a:lstStyle/>
          <a:p>
            <a:pPr rtl="1" algn="r"/>
            <a:r>
              <a:rPr sz="1100" b="0">
                <a:solidFill>
                  <a:srgbClr val="6A706C"/>
                </a:solidFill>
                <a:latin typeface="IBM Plex Sans"/>
                <a:ea typeface="IBM Plex Sans"/>
                <a:cs typeface="IBM Plex Sans"/>
              </a:rPr>
              <a:t>Performance</a:t>
            </a:r>
          </a:p>
        </p:txBody>
      </p:sp>
      <p:sp>
        <p:nvSpPr>
          <p:cNvPr id="21" name="Rectangle 20"/>
          <p:cNvSpPr/>
          <p:nvPr/>
        </p:nvSpPr>
        <p:spPr>
          <a:xfrm>
            <a:off x="566928" y="3410712"/>
            <a:ext cx="3520440" cy="6350"/>
          </a:xfrm>
          <a:prstGeom prst="rect">
            <a:avLst/>
          </a:prstGeom>
          <a:solidFill>
            <a:srgbClr val="E8E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benefits.png"/>
          <p:cNvPicPr>
            <a:picLocks noChangeAspect="1"/>
          </p:cNvPicPr>
          <p:nvPr/>
        </p:nvPicPr>
        <p:blipFill>
          <a:blip r:embed="rId6"/>
          <a:stretch>
            <a:fillRect/>
          </a:stretch>
        </p:blipFill>
        <p:spPr>
          <a:xfrm>
            <a:off x="4361688" y="2752344"/>
            <a:ext cx="365760" cy="365760"/>
          </a:xfrm>
          <a:prstGeom prst="rect">
            <a:avLst/>
          </a:prstGeom>
        </p:spPr>
      </p:pic>
      <p:sp>
        <p:nvSpPr>
          <p:cNvPr id="23" name="TextBox 22"/>
          <p:cNvSpPr txBox="1"/>
          <p:nvPr/>
        </p:nvSpPr>
        <p:spPr>
          <a:xfrm>
            <a:off x="4864608" y="2697480"/>
            <a:ext cx="3017520" cy="292608"/>
          </a:xfrm>
          <a:prstGeom prst="rect">
            <a:avLst/>
          </a:prstGeom>
          <a:noFill/>
        </p:spPr>
        <p:txBody>
          <a:bodyPr wrap="square" anchor="t"/>
          <a:lstStyle/>
          <a:p>
            <a:pPr rtl="1" algn="r"/>
            <a:r>
              <a:rPr sz="1600" b="1">
                <a:solidFill>
                  <a:srgbClr val="0C100E"/>
                </a:solidFill>
                <a:latin typeface="IBM Plex Sans Arabic"/>
                <a:ea typeface="IBM Plex Sans Arabic"/>
                <a:cs typeface="IBM Plex Sans Arabic"/>
              </a:rPr>
              <a:t>التعويضات والمزايا</a:t>
            </a:r>
          </a:p>
        </p:txBody>
      </p:sp>
      <p:sp>
        <p:nvSpPr>
          <p:cNvPr id="24" name="TextBox 23"/>
          <p:cNvSpPr txBox="1"/>
          <p:nvPr/>
        </p:nvSpPr>
        <p:spPr>
          <a:xfrm>
            <a:off x="4864608" y="2990088"/>
            <a:ext cx="3017520" cy="256032"/>
          </a:xfrm>
          <a:prstGeom prst="rect">
            <a:avLst/>
          </a:prstGeom>
          <a:noFill/>
        </p:spPr>
        <p:txBody>
          <a:bodyPr wrap="square" anchor="t"/>
          <a:lstStyle/>
          <a:p>
            <a:pPr rtl="1" algn="r"/>
            <a:r>
              <a:rPr sz="1100" b="0">
                <a:solidFill>
                  <a:srgbClr val="6A706C"/>
                </a:solidFill>
                <a:latin typeface="IBM Plex Sans"/>
                <a:ea typeface="IBM Plex Sans"/>
                <a:cs typeface="IBM Plex Sans"/>
              </a:rPr>
              <a:t>C&amp;B</a:t>
            </a:r>
          </a:p>
        </p:txBody>
      </p:sp>
      <p:sp>
        <p:nvSpPr>
          <p:cNvPr id="25" name="Rectangle 24"/>
          <p:cNvSpPr/>
          <p:nvPr/>
        </p:nvSpPr>
        <p:spPr>
          <a:xfrm>
            <a:off x="4361688" y="3410712"/>
            <a:ext cx="3520440" cy="6350"/>
          </a:xfrm>
          <a:prstGeom prst="rect">
            <a:avLst/>
          </a:prstGeom>
          <a:solidFill>
            <a:srgbClr val="E8E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relations.png"/>
          <p:cNvPicPr>
            <a:picLocks noChangeAspect="1"/>
          </p:cNvPicPr>
          <p:nvPr/>
        </p:nvPicPr>
        <p:blipFill>
          <a:blip r:embed="rId7"/>
          <a:stretch>
            <a:fillRect/>
          </a:stretch>
        </p:blipFill>
        <p:spPr>
          <a:xfrm>
            <a:off x="8156448" y="2752344"/>
            <a:ext cx="365760" cy="365760"/>
          </a:xfrm>
          <a:prstGeom prst="rect">
            <a:avLst/>
          </a:prstGeom>
        </p:spPr>
      </p:pic>
      <p:sp>
        <p:nvSpPr>
          <p:cNvPr id="27" name="TextBox 26"/>
          <p:cNvSpPr txBox="1"/>
          <p:nvPr/>
        </p:nvSpPr>
        <p:spPr>
          <a:xfrm>
            <a:off x="8659368" y="2697480"/>
            <a:ext cx="3017520" cy="292608"/>
          </a:xfrm>
          <a:prstGeom prst="rect">
            <a:avLst/>
          </a:prstGeom>
          <a:noFill/>
        </p:spPr>
        <p:txBody>
          <a:bodyPr wrap="square" anchor="t"/>
          <a:lstStyle/>
          <a:p>
            <a:pPr rtl="1" algn="r"/>
            <a:r>
              <a:rPr sz="1600" b="1">
                <a:solidFill>
                  <a:srgbClr val="0C100E"/>
                </a:solidFill>
                <a:latin typeface="IBM Plex Sans Arabic"/>
                <a:ea typeface="IBM Plex Sans Arabic"/>
                <a:cs typeface="IBM Plex Sans Arabic"/>
              </a:rPr>
              <a:t>علاقات الموظفين</a:t>
            </a:r>
          </a:p>
        </p:txBody>
      </p:sp>
      <p:sp>
        <p:nvSpPr>
          <p:cNvPr id="28" name="TextBox 27"/>
          <p:cNvSpPr txBox="1"/>
          <p:nvPr/>
        </p:nvSpPr>
        <p:spPr>
          <a:xfrm>
            <a:off x="8659368" y="2990088"/>
            <a:ext cx="3017520" cy="256032"/>
          </a:xfrm>
          <a:prstGeom prst="rect">
            <a:avLst/>
          </a:prstGeom>
          <a:noFill/>
        </p:spPr>
        <p:txBody>
          <a:bodyPr wrap="square" anchor="t"/>
          <a:lstStyle/>
          <a:p>
            <a:pPr rtl="1" algn="r"/>
            <a:r>
              <a:rPr sz="1100" b="0">
                <a:solidFill>
                  <a:srgbClr val="6A706C"/>
                </a:solidFill>
                <a:latin typeface="IBM Plex Sans"/>
                <a:ea typeface="IBM Plex Sans"/>
                <a:cs typeface="IBM Plex Sans"/>
              </a:rPr>
              <a:t>ER</a:t>
            </a:r>
          </a:p>
        </p:txBody>
      </p:sp>
      <p:sp>
        <p:nvSpPr>
          <p:cNvPr id="29" name="Rectangle 28"/>
          <p:cNvSpPr/>
          <p:nvPr/>
        </p:nvSpPr>
        <p:spPr>
          <a:xfrm>
            <a:off x="8156448" y="3410712"/>
            <a:ext cx="3520440" cy="6350"/>
          </a:xfrm>
          <a:prstGeom prst="rect">
            <a:avLst/>
          </a:prstGeom>
          <a:solidFill>
            <a:srgbClr val="E8E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culture.png"/>
          <p:cNvPicPr>
            <a:picLocks noChangeAspect="1"/>
          </p:cNvPicPr>
          <p:nvPr/>
        </p:nvPicPr>
        <p:blipFill>
          <a:blip r:embed="rId8"/>
          <a:stretch>
            <a:fillRect/>
          </a:stretch>
        </p:blipFill>
        <p:spPr>
          <a:xfrm>
            <a:off x="566928" y="3831336"/>
            <a:ext cx="365760" cy="365760"/>
          </a:xfrm>
          <a:prstGeom prst="rect">
            <a:avLst/>
          </a:prstGeom>
        </p:spPr>
      </p:pic>
      <p:sp>
        <p:nvSpPr>
          <p:cNvPr id="31" name="TextBox 30"/>
          <p:cNvSpPr txBox="1"/>
          <p:nvPr/>
        </p:nvSpPr>
        <p:spPr>
          <a:xfrm>
            <a:off x="1069848" y="3776472"/>
            <a:ext cx="3017520" cy="292608"/>
          </a:xfrm>
          <a:prstGeom prst="rect">
            <a:avLst/>
          </a:prstGeom>
          <a:noFill/>
        </p:spPr>
        <p:txBody>
          <a:bodyPr wrap="square" anchor="t"/>
          <a:lstStyle/>
          <a:p>
            <a:pPr rtl="1" algn="r"/>
            <a:r>
              <a:rPr sz="1600" b="1">
                <a:solidFill>
                  <a:srgbClr val="0C100E"/>
                </a:solidFill>
                <a:latin typeface="IBM Plex Sans Arabic"/>
                <a:ea typeface="IBM Plex Sans Arabic"/>
                <a:cs typeface="IBM Plex Sans Arabic"/>
              </a:rPr>
              <a:t>الثقافة والرفاه</a:t>
            </a:r>
          </a:p>
        </p:txBody>
      </p:sp>
      <p:sp>
        <p:nvSpPr>
          <p:cNvPr id="32" name="TextBox 31"/>
          <p:cNvSpPr txBox="1"/>
          <p:nvPr/>
        </p:nvSpPr>
        <p:spPr>
          <a:xfrm>
            <a:off x="1069848" y="4069080"/>
            <a:ext cx="3017520" cy="256032"/>
          </a:xfrm>
          <a:prstGeom prst="rect">
            <a:avLst/>
          </a:prstGeom>
          <a:noFill/>
        </p:spPr>
        <p:txBody>
          <a:bodyPr wrap="square" anchor="t"/>
          <a:lstStyle/>
          <a:p>
            <a:pPr rtl="1" algn="r"/>
            <a:r>
              <a:rPr sz="1100" b="0">
                <a:solidFill>
                  <a:srgbClr val="6A706C"/>
                </a:solidFill>
                <a:latin typeface="IBM Plex Sans"/>
                <a:ea typeface="IBM Plex Sans"/>
                <a:cs typeface="IBM Plex Sans"/>
              </a:rPr>
              <a:t>Culture</a:t>
            </a:r>
          </a:p>
        </p:txBody>
      </p:sp>
      <p:sp>
        <p:nvSpPr>
          <p:cNvPr id="33" name="Rectangle 32"/>
          <p:cNvSpPr/>
          <p:nvPr/>
        </p:nvSpPr>
        <p:spPr>
          <a:xfrm>
            <a:off x="566928" y="4489704"/>
            <a:ext cx="3520440" cy="6350"/>
          </a:xfrm>
          <a:prstGeom prst="rect">
            <a:avLst/>
          </a:prstGeom>
          <a:solidFill>
            <a:srgbClr val="E8E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org.png"/>
          <p:cNvPicPr>
            <a:picLocks noChangeAspect="1"/>
          </p:cNvPicPr>
          <p:nvPr/>
        </p:nvPicPr>
        <p:blipFill>
          <a:blip r:embed="rId9"/>
          <a:stretch>
            <a:fillRect/>
          </a:stretch>
        </p:blipFill>
        <p:spPr>
          <a:xfrm>
            <a:off x="4361688" y="3831336"/>
            <a:ext cx="365760" cy="365760"/>
          </a:xfrm>
          <a:prstGeom prst="rect">
            <a:avLst/>
          </a:prstGeom>
        </p:spPr>
      </p:pic>
      <p:sp>
        <p:nvSpPr>
          <p:cNvPr id="35" name="TextBox 34"/>
          <p:cNvSpPr txBox="1"/>
          <p:nvPr/>
        </p:nvSpPr>
        <p:spPr>
          <a:xfrm>
            <a:off x="4864608" y="3776472"/>
            <a:ext cx="3017520" cy="292608"/>
          </a:xfrm>
          <a:prstGeom prst="rect">
            <a:avLst/>
          </a:prstGeom>
          <a:noFill/>
        </p:spPr>
        <p:txBody>
          <a:bodyPr wrap="square" anchor="t"/>
          <a:lstStyle/>
          <a:p>
            <a:pPr rtl="1" algn="r"/>
            <a:r>
              <a:rPr sz="1600" b="1">
                <a:solidFill>
                  <a:srgbClr val="0C100E"/>
                </a:solidFill>
                <a:latin typeface="IBM Plex Sans Arabic"/>
                <a:ea typeface="IBM Plex Sans Arabic"/>
                <a:cs typeface="IBM Plex Sans Arabic"/>
              </a:rPr>
              <a:t>تخطيط القوة</a:t>
            </a:r>
          </a:p>
        </p:txBody>
      </p:sp>
      <p:sp>
        <p:nvSpPr>
          <p:cNvPr id="36" name="TextBox 35"/>
          <p:cNvSpPr txBox="1"/>
          <p:nvPr/>
        </p:nvSpPr>
        <p:spPr>
          <a:xfrm>
            <a:off x="4864608" y="4069080"/>
            <a:ext cx="3017520" cy="256032"/>
          </a:xfrm>
          <a:prstGeom prst="rect">
            <a:avLst/>
          </a:prstGeom>
          <a:noFill/>
        </p:spPr>
        <p:txBody>
          <a:bodyPr wrap="square" anchor="t"/>
          <a:lstStyle/>
          <a:p>
            <a:pPr rtl="1" algn="r"/>
            <a:r>
              <a:rPr sz="1100" b="0">
                <a:solidFill>
                  <a:srgbClr val="6A706C"/>
                </a:solidFill>
                <a:latin typeface="IBM Plex Sans"/>
                <a:ea typeface="IBM Plex Sans"/>
                <a:cs typeface="IBM Plex Sans"/>
              </a:rPr>
              <a:t>Workforce</a:t>
            </a:r>
          </a:p>
        </p:txBody>
      </p:sp>
      <p:sp>
        <p:nvSpPr>
          <p:cNvPr id="37" name="Rectangle 36"/>
          <p:cNvSpPr/>
          <p:nvPr/>
        </p:nvSpPr>
        <p:spPr>
          <a:xfrm>
            <a:off x="4361688" y="4489704"/>
            <a:ext cx="3520440" cy="6350"/>
          </a:xfrm>
          <a:prstGeom prst="rect">
            <a:avLst/>
          </a:prstGeom>
          <a:solidFill>
            <a:srgbClr val="E8E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policy.png"/>
          <p:cNvPicPr>
            <a:picLocks noChangeAspect="1"/>
          </p:cNvPicPr>
          <p:nvPr/>
        </p:nvPicPr>
        <p:blipFill>
          <a:blip r:embed="rId10"/>
          <a:stretch>
            <a:fillRect/>
          </a:stretch>
        </p:blipFill>
        <p:spPr>
          <a:xfrm>
            <a:off x="8156448" y="3831336"/>
            <a:ext cx="365760" cy="365760"/>
          </a:xfrm>
          <a:prstGeom prst="rect">
            <a:avLst/>
          </a:prstGeom>
        </p:spPr>
      </p:pic>
      <p:sp>
        <p:nvSpPr>
          <p:cNvPr id="39" name="TextBox 38"/>
          <p:cNvSpPr txBox="1"/>
          <p:nvPr/>
        </p:nvSpPr>
        <p:spPr>
          <a:xfrm>
            <a:off x="8659368" y="3776472"/>
            <a:ext cx="3017520" cy="292608"/>
          </a:xfrm>
          <a:prstGeom prst="rect">
            <a:avLst/>
          </a:prstGeom>
          <a:noFill/>
        </p:spPr>
        <p:txBody>
          <a:bodyPr wrap="square" anchor="t"/>
          <a:lstStyle/>
          <a:p>
            <a:pPr rtl="1" algn="r"/>
            <a:r>
              <a:rPr sz="1600" b="1">
                <a:solidFill>
                  <a:srgbClr val="0C100E"/>
                </a:solidFill>
                <a:latin typeface="IBM Plex Sans Arabic"/>
                <a:ea typeface="IBM Plex Sans Arabic"/>
                <a:cs typeface="IBM Plex Sans Arabic"/>
              </a:rPr>
              <a:t>السياسات والالتزام</a:t>
            </a:r>
          </a:p>
        </p:txBody>
      </p:sp>
      <p:sp>
        <p:nvSpPr>
          <p:cNvPr id="40" name="TextBox 39"/>
          <p:cNvSpPr txBox="1"/>
          <p:nvPr/>
        </p:nvSpPr>
        <p:spPr>
          <a:xfrm>
            <a:off x="8659368" y="4069080"/>
            <a:ext cx="3017520" cy="256032"/>
          </a:xfrm>
          <a:prstGeom prst="rect">
            <a:avLst/>
          </a:prstGeom>
          <a:noFill/>
        </p:spPr>
        <p:txBody>
          <a:bodyPr wrap="square" anchor="t"/>
          <a:lstStyle/>
          <a:p>
            <a:pPr rtl="1" algn="r"/>
            <a:r>
              <a:rPr sz="1100" b="0">
                <a:solidFill>
                  <a:srgbClr val="6A706C"/>
                </a:solidFill>
                <a:latin typeface="IBM Plex Sans"/>
                <a:ea typeface="IBM Plex Sans"/>
                <a:cs typeface="IBM Plex Sans"/>
              </a:rPr>
              <a:t>Compliance</a:t>
            </a:r>
          </a:p>
        </p:txBody>
      </p:sp>
      <p:sp>
        <p:nvSpPr>
          <p:cNvPr id="41" name="Rectangle 40"/>
          <p:cNvSpPr/>
          <p:nvPr/>
        </p:nvSpPr>
        <p:spPr>
          <a:xfrm>
            <a:off x="8156448" y="4489704"/>
            <a:ext cx="3520440" cy="6350"/>
          </a:xfrm>
          <a:prstGeom prst="rect">
            <a:avLst/>
          </a:prstGeom>
          <a:solidFill>
            <a:srgbClr val="E8E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payroll.png"/>
          <p:cNvPicPr>
            <a:picLocks noChangeAspect="1"/>
          </p:cNvPicPr>
          <p:nvPr/>
        </p:nvPicPr>
        <p:blipFill>
          <a:blip r:embed="rId11"/>
          <a:stretch>
            <a:fillRect/>
          </a:stretch>
        </p:blipFill>
        <p:spPr>
          <a:xfrm>
            <a:off x="566928" y="4910328"/>
            <a:ext cx="365760" cy="365760"/>
          </a:xfrm>
          <a:prstGeom prst="rect">
            <a:avLst/>
          </a:prstGeom>
        </p:spPr>
      </p:pic>
      <p:sp>
        <p:nvSpPr>
          <p:cNvPr id="43" name="TextBox 42"/>
          <p:cNvSpPr txBox="1"/>
          <p:nvPr/>
        </p:nvSpPr>
        <p:spPr>
          <a:xfrm>
            <a:off x="1069848" y="4855464"/>
            <a:ext cx="3017520" cy="292608"/>
          </a:xfrm>
          <a:prstGeom prst="rect">
            <a:avLst/>
          </a:prstGeom>
          <a:noFill/>
        </p:spPr>
        <p:txBody>
          <a:bodyPr wrap="square" anchor="t"/>
          <a:lstStyle/>
          <a:p>
            <a:pPr rtl="1" algn="r"/>
            <a:r>
              <a:rPr sz="1600" b="1">
                <a:solidFill>
                  <a:srgbClr val="0C100E"/>
                </a:solidFill>
                <a:latin typeface="IBM Plex Sans Arabic"/>
                <a:ea typeface="IBM Plex Sans Arabic"/>
                <a:cs typeface="IBM Plex Sans Arabic"/>
              </a:rPr>
              <a:t>الرواتب</a:t>
            </a:r>
          </a:p>
        </p:txBody>
      </p:sp>
      <p:sp>
        <p:nvSpPr>
          <p:cNvPr id="44" name="TextBox 43"/>
          <p:cNvSpPr txBox="1"/>
          <p:nvPr/>
        </p:nvSpPr>
        <p:spPr>
          <a:xfrm>
            <a:off x="1069848" y="5148072"/>
            <a:ext cx="3017520" cy="256032"/>
          </a:xfrm>
          <a:prstGeom prst="rect">
            <a:avLst/>
          </a:prstGeom>
          <a:noFill/>
        </p:spPr>
        <p:txBody>
          <a:bodyPr wrap="square" anchor="t"/>
          <a:lstStyle/>
          <a:p>
            <a:pPr rtl="1" algn="r"/>
            <a:r>
              <a:rPr sz="1100" b="0">
                <a:solidFill>
                  <a:srgbClr val="6A706C"/>
                </a:solidFill>
                <a:latin typeface="IBM Plex Sans"/>
                <a:ea typeface="IBM Plex Sans"/>
                <a:cs typeface="IBM Plex Sans"/>
              </a:rPr>
              <a:t>Payroll</a:t>
            </a:r>
          </a:p>
        </p:txBody>
      </p:sp>
      <p:sp>
        <p:nvSpPr>
          <p:cNvPr id="45" name="Rectangle 44"/>
          <p:cNvSpPr/>
          <p:nvPr/>
        </p:nvSpPr>
        <p:spPr>
          <a:xfrm>
            <a:off x="566928" y="5568696"/>
            <a:ext cx="3520440" cy="6350"/>
          </a:xfrm>
          <a:prstGeom prst="rect">
            <a:avLst/>
          </a:prstGeom>
          <a:solidFill>
            <a:srgbClr val="E8E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talent.png"/>
          <p:cNvPicPr>
            <a:picLocks noChangeAspect="1"/>
          </p:cNvPicPr>
          <p:nvPr/>
        </p:nvPicPr>
        <p:blipFill>
          <a:blip r:embed="rId12"/>
          <a:stretch>
            <a:fillRect/>
          </a:stretch>
        </p:blipFill>
        <p:spPr>
          <a:xfrm>
            <a:off x="4361688" y="4910328"/>
            <a:ext cx="365760" cy="365760"/>
          </a:xfrm>
          <a:prstGeom prst="rect">
            <a:avLst/>
          </a:prstGeom>
        </p:spPr>
      </p:pic>
      <p:sp>
        <p:nvSpPr>
          <p:cNvPr id="47" name="TextBox 46"/>
          <p:cNvSpPr txBox="1"/>
          <p:nvPr/>
        </p:nvSpPr>
        <p:spPr>
          <a:xfrm>
            <a:off x="4864608" y="4855464"/>
            <a:ext cx="3017520" cy="292608"/>
          </a:xfrm>
          <a:prstGeom prst="rect">
            <a:avLst/>
          </a:prstGeom>
          <a:noFill/>
        </p:spPr>
        <p:txBody>
          <a:bodyPr wrap="square" anchor="t"/>
          <a:lstStyle/>
          <a:p>
            <a:pPr rtl="1" algn="r"/>
            <a:r>
              <a:rPr sz="1600" b="1">
                <a:solidFill>
                  <a:srgbClr val="0C100E"/>
                </a:solidFill>
                <a:latin typeface="IBM Plex Sans Arabic"/>
                <a:ea typeface="IBM Plex Sans Arabic"/>
                <a:cs typeface="IBM Plex Sans Arabic"/>
              </a:rPr>
              <a:t>المواهب والخلافة</a:t>
            </a:r>
          </a:p>
        </p:txBody>
      </p:sp>
      <p:sp>
        <p:nvSpPr>
          <p:cNvPr id="48" name="TextBox 47"/>
          <p:cNvSpPr txBox="1"/>
          <p:nvPr/>
        </p:nvSpPr>
        <p:spPr>
          <a:xfrm>
            <a:off x="4864608" y="5148072"/>
            <a:ext cx="3017520" cy="256032"/>
          </a:xfrm>
          <a:prstGeom prst="rect">
            <a:avLst/>
          </a:prstGeom>
          <a:noFill/>
        </p:spPr>
        <p:txBody>
          <a:bodyPr wrap="square" anchor="t"/>
          <a:lstStyle/>
          <a:p>
            <a:pPr rtl="1" algn="r"/>
            <a:r>
              <a:rPr sz="1100" b="0">
                <a:solidFill>
                  <a:srgbClr val="6A706C"/>
                </a:solidFill>
                <a:latin typeface="IBM Plex Sans"/>
                <a:ea typeface="IBM Plex Sans"/>
                <a:cs typeface="IBM Plex Sans"/>
              </a:rPr>
              <a:t>Talent</a:t>
            </a:r>
          </a:p>
        </p:txBody>
      </p:sp>
      <p:sp>
        <p:nvSpPr>
          <p:cNvPr id="49" name="Rectangle 48"/>
          <p:cNvSpPr/>
          <p:nvPr/>
        </p:nvSpPr>
        <p:spPr>
          <a:xfrm>
            <a:off x="4361688" y="5568696"/>
            <a:ext cx="3520440" cy="6350"/>
          </a:xfrm>
          <a:prstGeom prst="rect">
            <a:avLst/>
          </a:prstGeom>
          <a:solidFill>
            <a:srgbClr val="E8E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wellness.png"/>
          <p:cNvPicPr>
            <a:picLocks noChangeAspect="1"/>
          </p:cNvPicPr>
          <p:nvPr/>
        </p:nvPicPr>
        <p:blipFill>
          <a:blip r:embed="rId13"/>
          <a:stretch>
            <a:fillRect/>
          </a:stretch>
        </p:blipFill>
        <p:spPr>
          <a:xfrm>
            <a:off x="8156448" y="4910328"/>
            <a:ext cx="365760" cy="365760"/>
          </a:xfrm>
          <a:prstGeom prst="rect">
            <a:avLst/>
          </a:prstGeom>
        </p:spPr>
      </p:pic>
      <p:sp>
        <p:nvSpPr>
          <p:cNvPr id="51" name="TextBox 50"/>
          <p:cNvSpPr txBox="1"/>
          <p:nvPr/>
        </p:nvSpPr>
        <p:spPr>
          <a:xfrm>
            <a:off x="8659368" y="4855464"/>
            <a:ext cx="3017520" cy="292608"/>
          </a:xfrm>
          <a:prstGeom prst="rect">
            <a:avLst/>
          </a:prstGeom>
          <a:noFill/>
        </p:spPr>
        <p:txBody>
          <a:bodyPr wrap="square" anchor="t"/>
          <a:lstStyle/>
          <a:p>
            <a:pPr rtl="1" algn="r"/>
            <a:r>
              <a:rPr sz="1600" b="1">
                <a:solidFill>
                  <a:srgbClr val="0C100E"/>
                </a:solidFill>
                <a:latin typeface="IBM Plex Sans Arabic"/>
                <a:ea typeface="IBM Plex Sans Arabic"/>
                <a:cs typeface="IBM Plex Sans Arabic"/>
              </a:rPr>
              <a:t>الصحة المهنية</a:t>
            </a:r>
          </a:p>
        </p:txBody>
      </p:sp>
      <p:sp>
        <p:nvSpPr>
          <p:cNvPr id="52" name="TextBox 51"/>
          <p:cNvSpPr txBox="1"/>
          <p:nvPr/>
        </p:nvSpPr>
        <p:spPr>
          <a:xfrm>
            <a:off x="8659368" y="5148072"/>
            <a:ext cx="3017520" cy="256032"/>
          </a:xfrm>
          <a:prstGeom prst="rect">
            <a:avLst/>
          </a:prstGeom>
          <a:noFill/>
        </p:spPr>
        <p:txBody>
          <a:bodyPr wrap="square" anchor="t"/>
          <a:lstStyle/>
          <a:p>
            <a:pPr rtl="1" algn="r"/>
            <a:r>
              <a:rPr sz="1100" b="0">
                <a:solidFill>
                  <a:srgbClr val="6A706C"/>
                </a:solidFill>
                <a:latin typeface="IBM Plex Sans"/>
                <a:ea typeface="IBM Plex Sans"/>
                <a:cs typeface="IBM Plex Sans"/>
              </a:rPr>
              <a:t>Wellbeing</a:t>
            </a:r>
          </a:p>
        </p:txBody>
      </p:sp>
      <p:sp>
        <p:nvSpPr>
          <p:cNvPr id="53" name="Rectangle 52"/>
          <p:cNvSpPr/>
          <p:nvPr/>
        </p:nvSpPr>
        <p:spPr>
          <a:xfrm>
            <a:off x="8156448" y="5568696"/>
            <a:ext cx="3520440" cy="6350"/>
          </a:xfrm>
          <a:prstGeom prst="rect">
            <a:avLst/>
          </a:prstGeom>
          <a:solidFill>
            <a:srgbClr val="E8E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66928" y="6510528"/>
            <a:ext cx="4572000" cy="256032"/>
          </a:xfrm>
          <a:prstGeom prst="rect">
            <a:avLst/>
          </a:prstGeom>
          <a:noFill/>
        </p:spPr>
        <p:txBody>
          <a:bodyPr wrap="square" anchor="t"/>
          <a:lstStyle/>
          <a:p>
            <a:pPr rtl="1" algn="r"/>
            <a:r>
              <a:rPr sz="1100" b="0">
                <a:solidFill>
                  <a:srgbClr val="6A706C"/>
                </a:solidFill>
                <a:latin typeface="IBM Plex Sans Arabic"/>
                <a:ea typeface="IBM Plex Sans Arabic"/>
                <a:cs typeface="IBM Plex Sans Arabic"/>
              </a:rPr>
              <a:t>روتانا  ·  الموارد البشرية</a:t>
            </a:r>
          </a:p>
        </p:txBody>
      </p:sp>
      <p:sp>
        <p:nvSpPr>
          <p:cNvPr id="55" name="TextBox 54"/>
          <p:cNvSpPr txBox="1"/>
          <p:nvPr/>
        </p:nvSpPr>
        <p:spPr>
          <a:xfrm>
            <a:off x="9509760" y="6510528"/>
            <a:ext cx="2103120" cy="256032"/>
          </a:xfrm>
          <a:prstGeom prst="rect">
            <a:avLst/>
          </a:prstGeom>
          <a:noFill/>
        </p:spPr>
        <p:txBody>
          <a:bodyPr wrap="square" anchor="t"/>
          <a:lstStyle/>
          <a:p>
            <a:pPr rtl="1" algn="l"/>
            <a:r>
              <a:rPr sz="1100" b="0">
                <a:solidFill>
                  <a:srgbClr val="6A706C"/>
                </a:solidFill>
                <a:latin typeface="IBM Plex Mono"/>
                <a:ea typeface="IBM Plex Mono"/>
                <a:cs typeface="IBM Plex Mono"/>
              </a:rPr>
              <a:t>12  /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C1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965960"/>
            <a:ext cx="3657600" cy="274320"/>
          </a:xfrm>
          <a:prstGeom prst="rect">
            <a:avLst/>
          </a:prstGeom>
          <a:noFill/>
        </p:spPr>
        <p:txBody>
          <a:bodyPr wrap="square" anchor="t"/>
          <a:lstStyle/>
          <a:p>
            <a:pPr rtl="1" algn="r"/>
            <a:r>
              <a:rPr sz="1400" b="0">
                <a:solidFill>
                  <a:srgbClr val="2BA86C"/>
                </a:solidFill>
                <a:latin typeface="IBM Plex Mono"/>
                <a:ea typeface="IBM Plex Mono"/>
                <a:cs typeface="IBM Plex Mono"/>
              </a:rPr>
              <a:t>٠١</a:t>
            </a:r>
          </a:p>
        </p:txBody>
      </p:sp>
      <p:sp>
        <p:nvSpPr>
          <p:cNvPr id="4" name="TextBox 3"/>
          <p:cNvSpPr txBox="1"/>
          <p:nvPr/>
        </p:nvSpPr>
        <p:spPr>
          <a:xfrm>
            <a:off x="566928" y="2331720"/>
            <a:ext cx="10058400" cy="1828800"/>
          </a:xfrm>
          <a:prstGeom prst="rect">
            <a:avLst/>
          </a:prstGeom>
          <a:noFill/>
        </p:spPr>
        <p:txBody>
          <a:bodyPr wrap="square" anchor="t"/>
          <a:lstStyle/>
          <a:p>
            <a:pPr rtl="1" algn="r"/>
            <a:r>
              <a:rPr sz="5400" b="0">
                <a:solidFill>
                  <a:srgbClr val="FFFFFF"/>
                </a:solidFill>
                <a:latin typeface="Amiri"/>
                <a:ea typeface="Amiri"/>
                <a:cs typeface="Amiri"/>
              </a:rPr>
              <a:t>الاستقطاب
والاختيار</a:t>
            </a:r>
          </a:p>
        </p:txBody>
      </p:sp>
      <p:sp>
        <p:nvSpPr>
          <p:cNvPr id="5" name="TextBox 4"/>
          <p:cNvSpPr txBox="1"/>
          <p:nvPr/>
        </p:nvSpPr>
        <p:spPr>
          <a:xfrm>
            <a:off x="566928" y="4343400"/>
            <a:ext cx="7315200" cy="320040"/>
          </a:xfrm>
          <a:prstGeom prst="rect">
            <a:avLst/>
          </a:prstGeom>
          <a:noFill/>
        </p:spPr>
        <p:txBody>
          <a:bodyPr wrap="square" anchor="t"/>
          <a:lstStyle/>
          <a:p>
            <a:pPr rtl="1" algn="r"/>
            <a:r>
              <a:rPr sz="1300" b="0">
                <a:solidFill>
                  <a:srgbClr val="B8C0B0"/>
                </a:solidFill>
                <a:latin typeface="IBM Plex Sans"/>
                <a:ea typeface="IBM Plex Sans"/>
                <a:cs typeface="IBM Plex Sans"/>
              </a:rPr>
              <a:t>TALENT ACQUISITION</a:t>
            </a:r>
          </a:p>
        </p:txBody>
      </p:sp>
      <p:pic>
        <p:nvPicPr>
          <p:cNvPr id="6" name="Picture 5" descr="wave-motif.png"/>
          <p:cNvPicPr>
            <a:picLocks noChangeAspect="1"/>
          </p:cNvPicPr>
          <p:nvPr/>
        </p:nvPicPr>
        <p:blipFill>
          <a:blip r:embed="rId2"/>
          <a:stretch>
            <a:fillRect/>
          </a:stretch>
        </p:blipFill>
        <p:spPr>
          <a:xfrm>
            <a:off x="182880" y="5623560"/>
            <a:ext cx="3840480" cy="960120"/>
          </a:xfrm>
          <a:prstGeom prst="rect">
            <a:avLst/>
          </a:prstGeom>
        </p:spPr>
      </p:pic>
      <p:sp>
        <p:nvSpPr>
          <p:cNvPr id="7" name="TextBox 6"/>
          <p:cNvSpPr txBox="1"/>
          <p:nvPr/>
        </p:nvSpPr>
        <p:spPr>
          <a:xfrm>
            <a:off x="566928" y="6510528"/>
            <a:ext cx="4572000" cy="256032"/>
          </a:xfrm>
          <a:prstGeom prst="rect">
            <a:avLst/>
          </a:prstGeom>
          <a:noFill/>
        </p:spPr>
        <p:txBody>
          <a:bodyPr wrap="square" anchor="t"/>
          <a:lstStyle/>
          <a:p>
            <a:pPr rtl="1" algn="r"/>
            <a:r>
              <a:rPr sz="1100" b="0">
                <a:solidFill>
                  <a:srgbClr val="B8C0B0"/>
                </a:solidFill>
                <a:latin typeface="IBM Plex Sans Arabic"/>
                <a:ea typeface="IBM Plex Sans Arabic"/>
                <a:cs typeface="IBM Plex Sans Arabic"/>
              </a:rPr>
              <a:t>روتانا  ·  الموارد البشرية</a:t>
            </a:r>
          </a:p>
        </p:txBody>
      </p:sp>
      <p:sp>
        <p:nvSpPr>
          <p:cNvPr id="8" name="TextBox 7"/>
          <p:cNvSpPr txBox="1"/>
          <p:nvPr/>
        </p:nvSpPr>
        <p:spPr>
          <a:xfrm>
            <a:off x="9509760" y="6510528"/>
            <a:ext cx="2103120" cy="256032"/>
          </a:xfrm>
          <a:prstGeom prst="rect">
            <a:avLst/>
          </a:prstGeom>
          <a:noFill/>
        </p:spPr>
        <p:txBody>
          <a:bodyPr wrap="square" anchor="t"/>
          <a:lstStyle/>
          <a:p>
            <a:pPr rtl="1" algn="l"/>
            <a:r>
              <a:rPr sz="1100" b="0">
                <a:solidFill>
                  <a:srgbClr val="B8C0B0"/>
                </a:solidFill>
                <a:latin typeface="IBM Plex Mono"/>
                <a:ea typeface="IBM Plex Mono"/>
                <a:cs typeface="IBM Plex Mono"/>
              </a:rPr>
              <a:t>13  /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640080" cy="274320"/>
          </a:xfrm>
          <a:prstGeom prst="rect">
            <a:avLst/>
          </a:prstGeom>
          <a:noFill/>
        </p:spPr>
        <p:txBody>
          <a:bodyPr wrap="square" anchor="t"/>
          <a:lstStyle/>
          <a:p>
            <a:pPr rtl="1" algn="r"/>
            <a:r>
              <a:rPr sz="1100" b="0">
                <a:solidFill>
                  <a:srgbClr val="00512F"/>
                </a:solidFill>
                <a:latin typeface="IBM Plex Mono"/>
                <a:ea typeface="IBM Plex Mono"/>
                <a:cs typeface="IBM Plex Mono"/>
              </a:rPr>
              <a:t>١٤</a:t>
            </a:r>
          </a:p>
        </p:txBody>
      </p:sp>
      <p:sp>
        <p:nvSpPr>
          <p:cNvPr id="4" name="TextBox 3"/>
          <p:cNvSpPr txBox="1"/>
          <p:nvPr/>
        </p:nvSpPr>
        <p:spPr>
          <a:xfrm>
            <a:off x="1234440" y="384048"/>
            <a:ext cx="10058400" cy="256032"/>
          </a:xfrm>
          <a:prstGeom prst="rect">
            <a:avLst/>
          </a:prstGeom>
          <a:noFill/>
        </p:spPr>
        <p:txBody>
          <a:bodyPr wrap="square" anchor="t"/>
          <a:lstStyle/>
          <a:p>
            <a:pPr rtl="1" algn="r"/>
            <a:r>
              <a:rPr sz="1100" b="0">
                <a:solidFill>
                  <a:srgbClr val="00512F"/>
                </a:solidFill>
                <a:latin typeface="IBM Plex Sans"/>
                <a:ea typeface="IBM Plex Sans"/>
                <a:cs typeface="IBM Plex Sans"/>
              </a:rPr>
              <a:t>جدول الأعمال</a:t>
            </a:r>
          </a:p>
        </p:txBody>
      </p:sp>
      <p:sp>
        <p:nvSpPr>
          <p:cNvPr id="5" name="TextBox 4"/>
          <p:cNvSpPr txBox="1"/>
          <p:nvPr/>
        </p:nvSpPr>
        <p:spPr>
          <a:xfrm>
            <a:off x="1234440" y="621792"/>
            <a:ext cx="10241280" cy="640080"/>
          </a:xfrm>
          <a:prstGeom prst="rect">
            <a:avLst/>
          </a:prstGeom>
          <a:noFill/>
        </p:spPr>
        <p:txBody>
          <a:bodyPr wrap="square" anchor="t"/>
          <a:lstStyle/>
          <a:p>
            <a:pPr rtl="1" algn="r"/>
            <a:r>
              <a:rPr sz="2800" b="0">
                <a:solidFill>
                  <a:srgbClr val="0C100E"/>
                </a:solidFill>
                <a:latin typeface="Amiri"/>
                <a:ea typeface="Amiri"/>
                <a:cs typeface="Amiri"/>
              </a:rPr>
              <a:t>اجتماع قيادة الموارد البشرية</a:t>
            </a:r>
          </a:p>
        </p:txBody>
      </p:sp>
      <p:sp>
        <p:nvSpPr>
          <p:cNvPr id="6" name="TextBox 5"/>
          <p:cNvSpPr txBox="1"/>
          <p:nvPr/>
        </p:nvSpPr>
        <p:spPr>
          <a:xfrm>
            <a:off x="566928" y="1755648"/>
            <a:ext cx="640080" cy="320040"/>
          </a:xfrm>
          <a:prstGeom prst="rect">
            <a:avLst/>
          </a:prstGeom>
          <a:noFill/>
        </p:spPr>
        <p:txBody>
          <a:bodyPr wrap="square" anchor="t"/>
          <a:lstStyle/>
          <a:p>
            <a:pPr rtl="1" algn="r"/>
            <a:r>
              <a:rPr sz="1300" b="0">
                <a:solidFill>
                  <a:srgbClr val="00512F"/>
                </a:solidFill>
                <a:latin typeface="IBM Plex Mono"/>
                <a:ea typeface="IBM Plex Mono"/>
                <a:cs typeface="IBM Plex Mono"/>
              </a:rPr>
              <a:t>٠١</a:t>
            </a:r>
          </a:p>
        </p:txBody>
      </p:sp>
      <p:sp>
        <p:nvSpPr>
          <p:cNvPr id="7" name="TextBox 6"/>
          <p:cNvSpPr txBox="1"/>
          <p:nvPr/>
        </p:nvSpPr>
        <p:spPr>
          <a:xfrm>
            <a:off x="1371600" y="1700784"/>
            <a:ext cx="8412480" cy="411480"/>
          </a:xfrm>
          <a:prstGeom prst="rect">
            <a:avLst/>
          </a:prstGeom>
          <a:noFill/>
        </p:spPr>
        <p:txBody>
          <a:bodyPr wrap="square" anchor="t"/>
          <a:lstStyle/>
          <a:p>
            <a:pPr rtl="1" algn="r"/>
            <a:r>
              <a:rPr sz="2200" b="0">
                <a:solidFill>
                  <a:srgbClr val="0C100E"/>
                </a:solidFill>
                <a:latin typeface="IBM Plex Sans Arabic"/>
                <a:ea typeface="IBM Plex Sans Arabic"/>
                <a:cs typeface="IBM Plex Sans Arabic"/>
              </a:rPr>
              <a:t>نبض القوة العاملة</a:t>
            </a:r>
          </a:p>
        </p:txBody>
      </p:sp>
      <p:sp>
        <p:nvSpPr>
          <p:cNvPr id="8" name="TextBox 7"/>
          <p:cNvSpPr txBox="1"/>
          <p:nvPr/>
        </p:nvSpPr>
        <p:spPr>
          <a:xfrm>
            <a:off x="10332720" y="1755648"/>
            <a:ext cx="1280160" cy="320040"/>
          </a:xfrm>
          <a:prstGeom prst="rect">
            <a:avLst/>
          </a:prstGeom>
          <a:noFill/>
        </p:spPr>
        <p:txBody>
          <a:bodyPr wrap="square" anchor="t"/>
          <a:lstStyle/>
          <a:p>
            <a:pPr rtl="1" algn="l"/>
            <a:r>
              <a:rPr sz="1400" b="0">
                <a:solidFill>
                  <a:srgbClr val="6A706C"/>
                </a:solidFill>
                <a:latin typeface="IBM Plex Sans Arabic"/>
                <a:ea typeface="IBM Plex Sans Arabic"/>
                <a:cs typeface="IBM Plex Sans Arabic"/>
              </a:rPr>
              <a:t>١٢ د</a:t>
            </a:r>
          </a:p>
        </p:txBody>
      </p:sp>
      <p:sp>
        <p:nvSpPr>
          <p:cNvPr id="9" name="Rectangle 8"/>
          <p:cNvSpPr/>
          <p:nvPr/>
        </p:nvSpPr>
        <p:spPr>
          <a:xfrm>
            <a:off x="566928" y="2267712"/>
            <a:ext cx="11064240" cy="12700"/>
          </a:xfrm>
          <a:prstGeom prst="rect">
            <a:avLst/>
          </a:prstGeom>
          <a:solidFill>
            <a:srgbClr val="C5C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2578608"/>
            <a:ext cx="640080" cy="320040"/>
          </a:xfrm>
          <a:prstGeom prst="rect">
            <a:avLst/>
          </a:prstGeom>
          <a:noFill/>
        </p:spPr>
        <p:txBody>
          <a:bodyPr wrap="square" anchor="t"/>
          <a:lstStyle/>
          <a:p>
            <a:pPr rtl="1" algn="r"/>
            <a:r>
              <a:rPr sz="1300" b="0">
                <a:solidFill>
                  <a:srgbClr val="00512F"/>
                </a:solidFill>
                <a:latin typeface="IBM Plex Mono"/>
                <a:ea typeface="IBM Plex Mono"/>
                <a:cs typeface="IBM Plex Mono"/>
              </a:rPr>
              <a:t>٠٢</a:t>
            </a:r>
          </a:p>
        </p:txBody>
      </p:sp>
      <p:sp>
        <p:nvSpPr>
          <p:cNvPr id="11" name="TextBox 10"/>
          <p:cNvSpPr txBox="1"/>
          <p:nvPr/>
        </p:nvSpPr>
        <p:spPr>
          <a:xfrm>
            <a:off x="1371600" y="2523744"/>
            <a:ext cx="8412480" cy="411480"/>
          </a:xfrm>
          <a:prstGeom prst="rect">
            <a:avLst/>
          </a:prstGeom>
          <a:noFill/>
        </p:spPr>
        <p:txBody>
          <a:bodyPr wrap="square" anchor="t"/>
          <a:lstStyle/>
          <a:p>
            <a:pPr rtl="1" algn="r"/>
            <a:r>
              <a:rPr sz="2200" b="0">
                <a:solidFill>
                  <a:srgbClr val="0C100E"/>
                </a:solidFill>
                <a:latin typeface="IBM Plex Sans Arabic"/>
                <a:ea typeface="IBM Plex Sans Arabic"/>
                <a:cs typeface="IBM Plex Sans Arabic"/>
              </a:rPr>
              <a:t>الشواغر الحرجة والمواهب</a:t>
            </a:r>
          </a:p>
        </p:txBody>
      </p:sp>
      <p:sp>
        <p:nvSpPr>
          <p:cNvPr id="12" name="TextBox 11"/>
          <p:cNvSpPr txBox="1"/>
          <p:nvPr/>
        </p:nvSpPr>
        <p:spPr>
          <a:xfrm>
            <a:off x="10332720" y="2578608"/>
            <a:ext cx="1280160" cy="320040"/>
          </a:xfrm>
          <a:prstGeom prst="rect">
            <a:avLst/>
          </a:prstGeom>
          <a:noFill/>
        </p:spPr>
        <p:txBody>
          <a:bodyPr wrap="square" anchor="t"/>
          <a:lstStyle/>
          <a:p>
            <a:pPr rtl="1" algn="l"/>
            <a:r>
              <a:rPr sz="1400" b="0">
                <a:solidFill>
                  <a:srgbClr val="6A706C"/>
                </a:solidFill>
                <a:latin typeface="IBM Plex Sans Arabic"/>
                <a:ea typeface="IBM Plex Sans Arabic"/>
                <a:cs typeface="IBM Plex Sans Arabic"/>
              </a:rPr>
              <a:t>١٨ د</a:t>
            </a:r>
          </a:p>
        </p:txBody>
      </p:sp>
      <p:sp>
        <p:nvSpPr>
          <p:cNvPr id="13" name="Rectangle 12"/>
          <p:cNvSpPr/>
          <p:nvPr/>
        </p:nvSpPr>
        <p:spPr>
          <a:xfrm>
            <a:off x="566928" y="3090672"/>
            <a:ext cx="11064240" cy="12700"/>
          </a:xfrm>
          <a:prstGeom prst="rect">
            <a:avLst/>
          </a:prstGeom>
          <a:solidFill>
            <a:srgbClr val="C5C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401568"/>
            <a:ext cx="640080" cy="320040"/>
          </a:xfrm>
          <a:prstGeom prst="rect">
            <a:avLst/>
          </a:prstGeom>
          <a:noFill/>
        </p:spPr>
        <p:txBody>
          <a:bodyPr wrap="square" anchor="t"/>
          <a:lstStyle/>
          <a:p>
            <a:pPr rtl="1" algn="r"/>
            <a:r>
              <a:rPr sz="1300" b="0">
                <a:solidFill>
                  <a:srgbClr val="00512F"/>
                </a:solidFill>
                <a:latin typeface="IBM Plex Mono"/>
                <a:ea typeface="IBM Plex Mono"/>
                <a:cs typeface="IBM Plex Mono"/>
              </a:rPr>
              <a:t>٠٣</a:t>
            </a:r>
          </a:p>
        </p:txBody>
      </p:sp>
      <p:sp>
        <p:nvSpPr>
          <p:cNvPr id="15" name="TextBox 14"/>
          <p:cNvSpPr txBox="1"/>
          <p:nvPr/>
        </p:nvSpPr>
        <p:spPr>
          <a:xfrm>
            <a:off x="1371600" y="3346704"/>
            <a:ext cx="8412480" cy="411480"/>
          </a:xfrm>
          <a:prstGeom prst="rect">
            <a:avLst/>
          </a:prstGeom>
          <a:noFill/>
        </p:spPr>
        <p:txBody>
          <a:bodyPr wrap="square" anchor="t"/>
          <a:lstStyle/>
          <a:p>
            <a:pPr rtl="1" algn="r"/>
            <a:r>
              <a:rPr sz="2200" b="0">
                <a:solidFill>
                  <a:srgbClr val="0C100E"/>
                </a:solidFill>
                <a:latin typeface="IBM Plex Sans Arabic"/>
                <a:ea typeface="IBM Plex Sans Arabic"/>
                <a:cs typeface="IBM Plex Sans Arabic"/>
              </a:rPr>
              <a:t>مسار التهيئة للربع</a:t>
            </a:r>
          </a:p>
        </p:txBody>
      </p:sp>
      <p:sp>
        <p:nvSpPr>
          <p:cNvPr id="16" name="TextBox 15"/>
          <p:cNvSpPr txBox="1"/>
          <p:nvPr/>
        </p:nvSpPr>
        <p:spPr>
          <a:xfrm>
            <a:off x="10332720" y="3401568"/>
            <a:ext cx="1280160" cy="320040"/>
          </a:xfrm>
          <a:prstGeom prst="rect">
            <a:avLst/>
          </a:prstGeom>
          <a:noFill/>
        </p:spPr>
        <p:txBody>
          <a:bodyPr wrap="square" anchor="t"/>
          <a:lstStyle/>
          <a:p>
            <a:pPr rtl="1" algn="l"/>
            <a:r>
              <a:rPr sz="1400" b="0">
                <a:solidFill>
                  <a:srgbClr val="6A706C"/>
                </a:solidFill>
                <a:latin typeface="IBM Plex Sans Arabic"/>
                <a:ea typeface="IBM Plex Sans Arabic"/>
                <a:cs typeface="IBM Plex Sans Arabic"/>
              </a:rPr>
              <a:t>١٠ د</a:t>
            </a:r>
          </a:p>
        </p:txBody>
      </p:sp>
      <p:sp>
        <p:nvSpPr>
          <p:cNvPr id="17" name="Rectangle 16"/>
          <p:cNvSpPr/>
          <p:nvPr/>
        </p:nvSpPr>
        <p:spPr>
          <a:xfrm>
            <a:off x="566928" y="3913632"/>
            <a:ext cx="11064240" cy="12700"/>
          </a:xfrm>
          <a:prstGeom prst="rect">
            <a:avLst/>
          </a:prstGeom>
          <a:solidFill>
            <a:srgbClr val="C5C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4224528"/>
            <a:ext cx="640080" cy="320040"/>
          </a:xfrm>
          <a:prstGeom prst="rect">
            <a:avLst/>
          </a:prstGeom>
          <a:noFill/>
        </p:spPr>
        <p:txBody>
          <a:bodyPr wrap="square" anchor="t"/>
          <a:lstStyle/>
          <a:p>
            <a:pPr rtl="1" algn="r"/>
            <a:r>
              <a:rPr sz="1300" b="0">
                <a:solidFill>
                  <a:srgbClr val="00512F"/>
                </a:solidFill>
                <a:latin typeface="IBM Plex Mono"/>
                <a:ea typeface="IBM Plex Mono"/>
                <a:cs typeface="IBM Plex Mono"/>
              </a:rPr>
              <a:t>٠٤</a:t>
            </a:r>
          </a:p>
        </p:txBody>
      </p:sp>
      <p:sp>
        <p:nvSpPr>
          <p:cNvPr id="19" name="TextBox 18"/>
          <p:cNvSpPr txBox="1"/>
          <p:nvPr/>
        </p:nvSpPr>
        <p:spPr>
          <a:xfrm>
            <a:off x="1371600" y="4169664"/>
            <a:ext cx="8412480" cy="411480"/>
          </a:xfrm>
          <a:prstGeom prst="rect">
            <a:avLst/>
          </a:prstGeom>
          <a:noFill/>
        </p:spPr>
        <p:txBody>
          <a:bodyPr wrap="square" anchor="t"/>
          <a:lstStyle/>
          <a:p>
            <a:pPr rtl="1" algn="r"/>
            <a:r>
              <a:rPr sz="2200" b="0">
                <a:solidFill>
                  <a:srgbClr val="0C100E"/>
                </a:solidFill>
                <a:latin typeface="IBM Plex Sans Arabic"/>
                <a:ea typeface="IBM Plex Sans Arabic"/>
                <a:cs typeface="IBM Plex Sans Arabic"/>
              </a:rPr>
              <a:t>الثقافة ومؤشر eNPS</a:t>
            </a:r>
          </a:p>
        </p:txBody>
      </p:sp>
      <p:sp>
        <p:nvSpPr>
          <p:cNvPr id="20" name="TextBox 19"/>
          <p:cNvSpPr txBox="1"/>
          <p:nvPr/>
        </p:nvSpPr>
        <p:spPr>
          <a:xfrm>
            <a:off x="10332720" y="4224528"/>
            <a:ext cx="1280160" cy="320040"/>
          </a:xfrm>
          <a:prstGeom prst="rect">
            <a:avLst/>
          </a:prstGeom>
          <a:noFill/>
        </p:spPr>
        <p:txBody>
          <a:bodyPr wrap="square" anchor="t"/>
          <a:lstStyle/>
          <a:p>
            <a:pPr rtl="1" algn="l"/>
            <a:r>
              <a:rPr sz="1400" b="0">
                <a:solidFill>
                  <a:srgbClr val="6A706C"/>
                </a:solidFill>
                <a:latin typeface="IBM Plex Sans Arabic"/>
                <a:ea typeface="IBM Plex Sans Arabic"/>
                <a:cs typeface="IBM Plex Sans Arabic"/>
              </a:rPr>
              <a:t>١٢ د</a:t>
            </a:r>
          </a:p>
        </p:txBody>
      </p:sp>
      <p:sp>
        <p:nvSpPr>
          <p:cNvPr id="21" name="Rectangle 20"/>
          <p:cNvSpPr/>
          <p:nvPr/>
        </p:nvSpPr>
        <p:spPr>
          <a:xfrm>
            <a:off x="566928" y="4736592"/>
            <a:ext cx="11064240" cy="12700"/>
          </a:xfrm>
          <a:prstGeom prst="rect">
            <a:avLst/>
          </a:prstGeom>
          <a:solidFill>
            <a:srgbClr val="C5C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5047488"/>
            <a:ext cx="640080" cy="320040"/>
          </a:xfrm>
          <a:prstGeom prst="rect">
            <a:avLst/>
          </a:prstGeom>
          <a:noFill/>
        </p:spPr>
        <p:txBody>
          <a:bodyPr wrap="square" anchor="t"/>
          <a:lstStyle/>
          <a:p>
            <a:pPr rtl="1" algn="r"/>
            <a:r>
              <a:rPr sz="1300" b="0">
                <a:solidFill>
                  <a:srgbClr val="00512F"/>
                </a:solidFill>
                <a:latin typeface="IBM Plex Mono"/>
                <a:ea typeface="IBM Plex Mono"/>
                <a:cs typeface="IBM Plex Mono"/>
              </a:rPr>
              <a:t>٠٥</a:t>
            </a:r>
          </a:p>
        </p:txBody>
      </p:sp>
      <p:sp>
        <p:nvSpPr>
          <p:cNvPr id="23" name="TextBox 22"/>
          <p:cNvSpPr txBox="1"/>
          <p:nvPr/>
        </p:nvSpPr>
        <p:spPr>
          <a:xfrm>
            <a:off x="1371600" y="4992624"/>
            <a:ext cx="8412480" cy="411480"/>
          </a:xfrm>
          <a:prstGeom prst="rect">
            <a:avLst/>
          </a:prstGeom>
          <a:noFill/>
        </p:spPr>
        <p:txBody>
          <a:bodyPr wrap="square" anchor="t"/>
          <a:lstStyle/>
          <a:p>
            <a:pPr rtl="1" algn="r"/>
            <a:r>
              <a:rPr sz="2200" b="0">
                <a:solidFill>
                  <a:srgbClr val="0C100E"/>
                </a:solidFill>
                <a:latin typeface="IBM Plex Sans Arabic"/>
                <a:ea typeface="IBM Plex Sans Arabic"/>
                <a:cs typeface="IBM Plex Sans Arabic"/>
              </a:rPr>
              <a:t>قرارات ومالكو المتابعة</a:t>
            </a:r>
          </a:p>
        </p:txBody>
      </p:sp>
      <p:sp>
        <p:nvSpPr>
          <p:cNvPr id="24" name="TextBox 23"/>
          <p:cNvSpPr txBox="1"/>
          <p:nvPr/>
        </p:nvSpPr>
        <p:spPr>
          <a:xfrm>
            <a:off x="10332720" y="5047488"/>
            <a:ext cx="1280160" cy="320040"/>
          </a:xfrm>
          <a:prstGeom prst="rect">
            <a:avLst/>
          </a:prstGeom>
          <a:noFill/>
        </p:spPr>
        <p:txBody>
          <a:bodyPr wrap="square" anchor="t"/>
          <a:lstStyle/>
          <a:p>
            <a:pPr rtl="1" algn="l"/>
            <a:r>
              <a:rPr sz="1400" b="0">
                <a:solidFill>
                  <a:srgbClr val="6A706C"/>
                </a:solidFill>
                <a:latin typeface="IBM Plex Sans Arabic"/>
                <a:ea typeface="IBM Plex Sans Arabic"/>
                <a:cs typeface="IBM Plex Sans Arabic"/>
              </a:rPr>
              <a:t>٨ د</a:t>
            </a:r>
          </a:p>
        </p:txBody>
      </p:sp>
      <p:sp>
        <p:nvSpPr>
          <p:cNvPr id="25" name="Rectangle 24"/>
          <p:cNvSpPr/>
          <p:nvPr/>
        </p:nvSpPr>
        <p:spPr>
          <a:xfrm>
            <a:off x="566928" y="5559552"/>
            <a:ext cx="11064240" cy="12700"/>
          </a:xfrm>
          <a:prstGeom prst="rect">
            <a:avLst/>
          </a:prstGeom>
          <a:solidFill>
            <a:srgbClr val="C5C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6510528"/>
            <a:ext cx="4572000" cy="256032"/>
          </a:xfrm>
          <a:prstGeom prst="rect">
            <a:avLst/>
          </a:prstGeom>
          <a:noFill/>
        </p:spPr>
        <p:txBody>
          <a:bodyPr wrap="square" anchor="t"/>
          <a:lstStyle/>
          <a:p>
            <a:pPr rtl="1" algn="r"/>
            <a:r>
              <a:rPr sz="1100" b="0">
                <a:solidFill>
                  <a:srgbClr val="6A706C"/>
                </a:solidFill>
                <a:latin typeface="IBM Plex Sans Arabic"/>
                <a:ea typeface="IBM Plex Sans Arabic"/>
                <a:cs typeface="IBM Plex Sans Arabic"/>
              </a:rPr>
              <a:t>روتانا  ·  الموارد البشرية</a:t>
            </a:r>
          </a:p>
        </p:txBody>
      </p:sp>
      <p:sp>
        <p:nvSpPr>
          <p:cNvPr id="27" name="TextBox 26"/>
          <p:cNvSpPr txBox="1"/>
          <p:nvPr/>
        </p:nvSpPr>
        <p:spPr>
          <a:xfrm>
            <a:off x="9509760" y="6510528"/>
            <a:ext cx="2103120" cy="256032"/>
          </a:xfrm>
          <a:prstGeom prst="rect">
            <a:avLst/>
          </a:prstGeom>
          <a:noFill/>
        </p:spPr>
        <p:txBody>
          <a:bodyPr wrap="square" anchor="t"/>
          <a:lstStyle/>
          <a:p>
            <a:pPr rtl="1" algn="l"/>
            <a:r>
              <a:rPr sz="1100" b="0">
                <a:solidFill>
                  <a:srgbClr val="6A706C"/>
                </a:solidFill>
                <a:latin typeface="IBM Plex Mono"/>
                <a:ea typeface="IBM Plex Mono"/>
                <a:cs typeface="IBM Plex Mono"/>
              </a:rPr>
              <a:t>14  /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640080" cy="274320"/>
          </a:xfrm>
          <a:prstGeom prst="rect">
            <a:avLst/>
          </a:prstGeom>
          <a:noFill/>
        </p:spPr>
        <p:txBody>
          <a:bodyPr wrap="square" anchor="t"/>
          <a:lstStyle/>
          <a:p>
            <a:pPr rtl="1" algn="r"/>
            <a:r>
              <a:rPr sz="1100" b="0">
                <a:solidFill>
                  <a:srgbClr val="00512F"/>
                </a:solidFill>
                <a:latin typeface="IBM Plex Mono"/>
                <a:ea typeface="IBM Plex Mono"/>
                <a:cs typeface="IBM Plex Mono"/>
              </a:rPr>
              <a:t>١٥</a:t>
            </a:r>
          </a:p>
        </p:txBody>
      </p:sp>
      <p:sp>
        <p:nvSpPr>
          <p:cNvPr id="4" name="TextBox 3"/>
          <p:cNvSpPr txBox="1"/>
          <p:nvPr/>
        </p:nvSpPr>
        <p:spPr>
          <a:xfrm>
            <a:off x="1234440" y="384048"/>
            <a:ext cx="10058400" cy="256032"/>
          </a:xfrm>
          <a:prstGeom prst="rect">
            <a:avLst/>
          </a:prstGeom>
          <a:noFill/>
        </p:spPr>
        <p:txBody>
          <a:bodyPr wrap="square" anchor="t"/>
          <a:lstStyle/>
          <a:p>
            <a:pPr rtl="1" algn="r"/>
            <a:r>
              <a:rPr sz="1100" b="0">
                <a:solidFill>
                  <a:srgbClr val="00512F"/>
                </a:solidFill>
                <a:latin typeface="IBM Plex Sans"/>
                <a:ea typeface="IBM Plex Sans"/>
                <a:cs typeface="IBM Plex Sans"/>
              </a:rPr>
              <a:t>تخطيط عنوان + نص</a:t>
            </a:r>
          </a:p>
        </p:txBody>
      </p:sp>
      <p:sp>
        <p:nvSpPr>
          <p:cNvPr id="5" name="TextBox 4"/>
          <p:cNvSpPr txBox="1"/>
          <p:nvPr/>
        </p:nvSpPr>
        <p:spPr>
          <a:xfrm>
            <a:off x="1234440" y="621792"/>
            <a:ext cx="10241280" cy="640080"/>
          </a:xfrm>
          <a:prstGeom prst="rect">
            <a:avLst/>
          </a:prstGeom>
          <a:noFill/>
        </p:spPr>
        <p:txBody>
          <a:bodyPr wrap="square" anchor="t"/>
          <a:lstStyle/>
          <a:p>
            <a:pPr rtl="1" algn="r"/>
            <a:r>
              <a:rPr sz="2800" b="0">
                <a:solidFill>
                  <a:srgbClr val="0C100E"/>
                </a:solidFill>
                <a:latin typeface="Amiri"/>
                <a:ea typeface="Amiri"/>
                <a:cs typeface="Amiri"/>
              </a:rPr>
              <a:t>مبدأ واحد في الشريحة.</a:t>
            </a:r>
          </a:p>
        </p:txBody>
      </p:sp>
      <p:sp>
        <p:nvSpPr>
          <p:cNvPr id="6" name="TextBox 5"/>
          <p:cNvSpPr txBox="1"/>
          <p:nvPr/>
        </p:nvSpPr>
        <p:spPr>
          <a:xfrm>
            <a:off x="566928" y="1920240"/>
            <a:ext cx="10972800" cy="2560320"/>
          </a:xfrm>
          <a:prstGeom prst="rect">
            <a:avLst/>
          </a:prstGeom>
          <a:noFill/>
        </p:spPr>
        <p:txBody>
          <a:bodyPr wrap="square" anchor="t"/>
          <a:lstStyle/>
          <a:p>
            <a:pPr rtl="1" algn="r"/>
            <a:r>
              <a:rPr sz="2200" b="0">
                <a:solidFill>
                  <a:srgbClr val="0C100E"/>
                </a:solidFill>
                <a:latin typeface="IBM Plex Sans Arabic"/>
                <a:ea typeface="IBM Plex Sans Arabic"/>
                <a:cs typeface="IBM Plex Sans Arabic"/>
              </a:rPr>
              <a:t>نُوظّف للعلامة قبل أن نُوظّف للوظيفة. المرشح الذي لا يستطيع تمثيل روتانا في غرفة لاحقة، لا يُعوَّض بسرعة إجراءات التوظيف. هذا التخطيط لنص سياسات، أو لمقدمة عرض، أو لقرار يُقرأ بصوت عالٍ.</a:t>
            </a:r>
          </a:p>
        </p:txBody>
      </p:sp>
      <p:sp>
        <p:nvSpPr>
          <p:cNvPr id="7" name="TextBox 6"/>
          <p:cNvSpPr txBox="1"/>
          <p:nvPr/>
        </p:nvSpPr>
        <p:spPr>
          <a:xfrm>
            <a:off x="566928" y="4754880"/>
            <a:ext cx="10972800" cy="457200"/>
          </a:xfrm>
          <a:prstGeom prst="rect">
            <a:avLst/>
          </a:prstGeom>
          <a:noFill/>
        </p:spPr>
        <p:txBody>
          <a:bodyPr wrap="square" anchor="t"/>
          <a:lstStyle/>
          <a:p>
            <a:pPr rtl="1" algn="r"/>
            <a:r>
              <a:rPr sz="1500" b="0">
                <a:solidFill>
                  <a:srgbClr val="6A706C"/>
                </a:solidFill>
                <a:latin typeface="IBM Plex Sans Arabic"/>
                <a:ea typeface="IBM Plex Sans Arabic"/>
                <a:cs typeface="IBM Plex Sans Arabic"/>
              </a:rPr>
              <a:t>انسخ النص. غيّر الجملة. أبقِ الحجم والهامش.</a:t>
            </a:r>
          </a:p>
        </p:txBody>
      </p:sp>
      <p:sp>
        <p:nvSpPr>
          <p:cNvPr id="8" name="TextBox 7"/>
          <p:cNvSpPr txBox="1"/>
          <p:nvPr/>
        </p:nvSpPr>
        <p:spPr>
          <a:xfrm>
            <a:off x="566928" y="6510528"/>
            <a:ext cx="4572000" cy="256032"/>
          </a:xfrm>
          <a:prstGeom prst="rect">
            <a:avLst/>
          </a:prstGeom>
          <a:noFill/>
        </p:spPr>
        <p:txBody>
          <a:bodyPr wrap="square" anchor="t"/>
          <a:lstStyle/>
          <a:p>
            <a:pPr rtl="1" algn="r"/>
            <a:r>
              <a:rPr sz="1100" b="0">
                <a:solidFill>
                  <a:srgbClr val="6A706C"/>
                </a:solidFill>
                <a:latin typeface="IBM Plex Sans Arabic"/>
                <a:ea typeface="IBM Plex Sans Arabic"/>
                <a:cs typeface="IBM Plex Sans Arabic"/>
              </a:rPr>
              <a:t>روتانا  ·  الموارد البشرية</a:t>
            </a:r>
          </a:p>
        </p:txBody>
      </p:sp>
      <p:sp>
        <p:nvSpPr>
          <p:cNvPr id="9" name="TextBox 8"/>
          <p:cNvSpPr txBox="1"/>
          <p:nvPr/>
        </p:nvSpPr>
        <p:spPr>
          <a:xfrm>
            <a:off x="9509760" y="6510528"/>
            <a:ext cx="2103120" cy="256032"/>
          </a:xfrm>
          <a:prstGeom prst="rect">
            <a:avLst/>
          </a:prstGeom>
          <a:noFill/>
        </p:spPr>
        <p:txBody>
          <a:bodyPr wrap="square" anchor="t"/>
          <a:lstStyle/>
          <a:p>
            <a:pPr rtl="1" algn="l"/>
            <a:r>
              <a:rPr sz="1100" b="0">
                <a:solidFill>
                  <a:srgbClr val="6A706C"/>
                </a:solidFill>
                <a:latin typeface="IBM Plex Mono"/>
                <a:ea typeface="IBM Plex Mono"/>
                <a:cs typeface="IBM Plex Mono"/>
              </a:rPr>
              <a:t>15  /  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640080" cy="274320"/>
          </a:xfrm>
          <a:prstGeom prst="rect">
            <a:avLst/>
          </a:prstGeom>
          <a:noFill/>
        </p:spPr>
        <p:txBody>
          <a:bodyPr wrap="square" anchor="t"/>
          <a:lstStyle/>
          <a:p>
            <a:pPr rtl="1" algn="r"/>
            <a:r>
              <a:rPr sz="1100" b="0">
                <a:solidFill>
                  <a:srgbClr val="00512F"/>
                </a:solidFill>
                <a:latin typeface="IBM Plex Mono"/>
                <a:ea typeface="IBM Plex Mono"/>
                <a:cs typeface="IBM Plex Mono"/>
              </a:rPr>
              <a:t>١٦</a:t>
            </a:r>
          </a:p>
        </p:txBody>
      </p:sp>
      <p:sp>
        <p:nvSpPr>
          <p:cNvPr id="4" name="TextBox 3"/>
          <p:cNvSpPr txBox="1"/>
          <p:nvPr/>
        </p:nvSpPr>
        <p:spPr>
          <a:xfrm>
            <a:off x="1234440" y="384048"/>
            <a:ext cx="10058400" cy="256032"/>
          </a:xfrm>
          <a:prstGeom prst="rect">
            <a:avLst/>
          </a:prstGeom>
          <a:noFill/>
        </p:spPr>
        <p:txBody>
          <a:bodyPr wrap="square" anchor="t"/>
          <a:lstStyle/>
          <a:p>
            <a:pPr rtl="1" algn="r"/>
            <a:r>
              <a:rPr sz="1100" b="0">
                <a:solidFill>
                  <a:srgbClr val="00512F"/>
                </a:solidFill>
                <a:latin typeface="IBM Plex Sans"/>
                <a:ea typeface="IBM Plex Sans"/>
                <a:cs typeface="IBM Plex Sans"/>
              </a:rPr>
              <a:t>عمودان</a:t>
            </a:r>
          </a:p>
        </p:txBody>
      </p:sp>
      <p:sp>
        <p:nvSpPr>
          <p:cNvPr id="5" name="TextBox 4"/>
          <p:cNvSpPr txBox="1"/>
          <p:nvPr/>
        </p:nvSpPr>
        <p:spPr>
          <a:xfrm>
            <a:off x="1234440" y="621792"/>
            <a:ext cx="10241280" cy="640080"/>
          </a:xfrm>
          <a:prstGeom prst="rect">
            <a:avLst/>
          </a:prstGeom>
          <a:noFill/>
        </p:spPr>
        <p:txBody>
          <a:bodyPr wrap="square" anchor="t"/>
          <a:lstStyle/>
          <a:p>
            <a:pPr rtl="1" algn="r"/>
            <a:r>
              <a:rPr sz="2800" b="0">
                <a:solidFill>
                  <a:srgbClr val="0C100E"/>
                </a:solidFill>
                <a:latin typeface="Amiri"/>
                <a:ea typeface="Amiri"/>
                <a:cs typeface="Amiri"/>
              </a:rPr>
              <a:t>ما نُبقي عليه / ما نُغيّره.</a:t>
            </a:r>
          </a:p>
        </p:txBody>
      </p:sp>
      <p:sp>
        <p:nvSpPr>
          <p:cNvPr id="6" name="TextBox 5"/>
          <p:cNvSpPr txBox="1"/>
          <p:nvPr/>
        </p:nvSpPr>
        <p:spPr>
          <a:xfrm>
            <a:off x="566928" y="1554480"/>
            <a:ext cx="5120640" cy="457200"/>
          </a:xfrm>
          <a:prstGeom prst="rect">
            <a:avLst/>
          </a:prstGeom>
          <a:noFill/>
        </p:spPr>
        <p:txBody>
          <a:bodyPr wrap="square" anchor="t"/>
          <a:lstStyle/>
          <a:p>
            <a:pPr rtl="1" algn="r"/>
            <a:r>
              <a:rPr sz="2800" b="0">
                <a:solidFill>
                  <a:srgbClr val="00512F"/>
                </a:solidFill>
                <a:latin typeface="Amiri"/>
                <a:ea typeface="Amiri"/>
                <a:cs typeface="Amiri"/>
              </a:rPr>
              <a:t>نُبقي</a:t>
            </a:r>
          </a:p>
        </p:txBody>
      </p:sp>
      <p:sp>
        <p:nvSpPr>
          <p:cNvPr id="7" name="Rectangle 6"/>
          <p:cNvSpPr/>
          <p:nvPr/>
        </p:nvSpPr>
        <p:spPr>
          <a:xfrm>
            <a:off x="566928" y="2971800"/>
            <a:ext cx="5120640" cy="12700"/>
          </a:xfrm>
          <a:prstGeom prst="rect">
            <a:avLst/>
          </a:prstGeom>
          <a:solidFill>
            <a:srgbClr val="E8E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2194560"/>
            <a:ext cx="5120640" cy="731520"/>
          </a:xfrm>
          <a:prstGeom prst="rect">
            <a:avLst/>
          </a:prstGeom>
          <a:noFill/>
        </p:spPr>
        <p:txBody>
          <a:bodyPr wrap="square" anchor="t"/>
          <a:lstStyle/>
          <a:p>
            <a:pPr rtl="1" algn="r"/>
            <a:r>
              <a:rPr sz="1600" b="0">
                <a:solidFill>
                  <a:srgbClr val="0C100E"/>
                </a:solidFill>
                <a:latin typeface="IBM Plex Sans Arabic"/>
                <a:ea typeface="IBM Plex Sans Arabic"/>
                <a:cs typeface="IBM Plex Sans Arabic"/>
              </a:rPr>
              <a:t>مقابلة الكفاءة الثقافية مع كل عرض.</a:t>
            </a:r>
          </a:p>
        </p:txBody>
      </p:sp>
      <p:sp>
        <p:nvSpPr>
          <p:cNvPr id="9" name="Rectangle 8"/>
          <p:cNvSpPr/>
          <p:nvPr/>
        </p:nvSpPr>
        <p:spPr>
          <a:xfrm>
            <a:off x="566928" y="3931920"/>
            <a:ext cx="5120640" cy="12700"/>
          </a:xfrm>
          <a:prstGeom prst="rect">
            <a:avLst/>
          </a:prstGeom>
          <a:solidFill>
            <a:srgbClr val="E8E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3154680"/>
            <a:ext cx="5120640" cy="731520"/>
          </a:xfrm>
          <a:prstGeom prst="rect">
            <a:avLst/>
          </a:prstGeom>
          <a:noFill/>
        </p:spPr>
        <p:txBody>
          <a:bodyPr wrap="square" anchor="t"/>
          <a:lstStyle/>
          <a:p>
            <a:pPr rtl="1" algn="r"/>
            <a:r>
              <a:rPr sz="1600" b="0">
                <a:solidFill>
                  <a:srgbClr val="0C100E"/>
                </a:solidFill>
                <a:latin typeface="IBM Plex Sans Arabic"/>
                <a:ea typeface="IBM Plex Sans Arabic"/>
                <a:cs typeface="IBM Plex Sans Arabic"/>
              </a:rPr>
              <a:t>مسار تهيئة ٣٠–٦٠–٩٠ يومًا.</a:t>
            </a:r>
          </a:p>
        </p:txBody>
      </p:sp>
      <p:sp>
        <p:nvSpPr>
          <p:cNvPr id="11" name="Rectangle 10"/>
          <p:cNvSpPr/>
          <p:nvPr/>
        </p:nvSpPr>
        <p:spPr>
          <a:xfrm>
            <a:off x="566928" y="4892040"/>
            <a:ext cx="5120640" cy="12700"/>
          </a:xfrm>
          <a:prstGeom prst="rect">
            <a:avLst/>
          </a:prstGeom>
          <a:solidFill>
            <a:srgbClr val="E8E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4114800"/>
            <a:ext cx="5120640" cy="731520"/>
          </a:xfrm>
          <a:prstGeom prst="rect">
            <a:avLst/>
          </a:prstGeom>
          <a:noFill/>
        </p:spPr>
        <p:txBody>
          <a:bodyPr wrap="square" anchor="t"/>
          <a:lstStyle/>
          <a:p>
            <a:pPr rtl="1" algn="r"/>
            <a:r>
              <a:rPr sz="1600" b="0">
                <a:solidFill>
                  <a:srgbClr val="0C100E"/>
                </a:solidFill>
                <a:latin typeface="IBM Plex Sans Arabic"/>
                <a:ea typeface="IBM Plex Sans Arabic"/>
                <a:cs typeface="IBM Plex Sans Arabic"/>
              </a:rPr>
              <a:t>مالك واحد لكل شاغر حرج.</a:t>
            </a:r>
          </a:p>
        </p:txBody>
      </p:sp>
      <p:sp>
        <p:nvSpPr>
          <p:cNvPr id="13" name="TextBox 12"/>
          <p:cNvSpPr txBox="1"/>
          <p:nvPr/>
        </p:nvSpPr>
        <p:spPr>
          <a:xfrm>
            <a:off x="6675120" y="1554480"/>
            <a:ext cx="5120640" cy="457200"/>
          </a:xfrm>
          <a:prstGeom prst="rect">
            <a:avLst/>
          </a:prstGeom>
          <a:noFill/>
        </p:spPr>
        <p:txBody>
          <a:bodyPr wrap="square" anchor="t"/>
          <a:lstStyle/>
          <a:p>
            <a:pPr rtl="1" algn="r"/>
            <a:r>
              <a:rPr sz="2800" b="0">
                <a:solidFill>
                  <a:srgbClr val="00512F"/>
                </a:solidFill>
                <a:latin typeface="Amiri"/>
                <a:ea typeface="Amiri"/>
                <a:cs typeface="Amiri"/>
              </a:rPr>
              <a:t>نُغيّر</a:t>
            </a:r>
          </a:p>
        </p:txBody>
      </p:sp>
      <p:sp>
        <p:nvSpPr>
          <p:cNvPr id="14" name="Rectangle 13"/>
          <p:cNvSpPr/>
          <p:nvPr/>
        </p:nvSpPr>
        <p:spPr>
          <a:xfrm>
            <a:off x="6675120" y="2971800"/>
            <a:ext cx="5120640" cy="12700"/>
          </a:xfrm>
          <a:prstGeom prst="rect">
            <a:avLst/>
          </a:prstGeom>
          <a:solidFill>
            <a:srgbClr val="E8E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0" y="2194560"/>
            <a:ext cx="5120640" cy="731520"/>
          </a:xfrm>
          <a:prstGeom prst="rect">
            <a:avLst/>
          </a:prstGeom>
          <a:noFill/>
        </p:spPr>
        <p:txBody>
          <a:bodyPr wrap="square" anchor="t"/>
          <a:lstStyle/>
          <a:p>
            <a:pPr rtl="1" algn="r"/>
            <a:r>
              <a:rPr sz="1600" b="0">
                <a:solidFill>
                  <a:srgbClr val="0C100E"/>
                </a:solidFill>
                <a:latin typeface="IBM Plex Sans Arabic"/>
                <a:ea typeface="IBM Plex Sans Arabic"/>
                <a:cs typeface="IBM Plex Sans Arabic"/>
              </a:rPr>
              <a:t>زمن الاعتماد الداخلي فوق خمس طبقات.</a:t>
            </a:r>
          </a:p>
        </p:txBody>
      </p:sp>
      <p:sp>
        <p:nvSpPr>
          <p:cNvPr id="16" name="Rectangle 15"/>
          <p:cNvSpPr/>
          <p:nvPr/>
        </p:nvSpPr>
        <p:spPr>
          <a:xfrm>
            <a:off x="6675120" y="3931920"/>
            <a:ext cx="5120640" cy="12700"/>
          </a:xfrm>
          <a:prstGeom prst="rect">
            <a:avLst/>
          </a:prstGeom>
          <a:solidFill>
            <a:srgbClr val="E8E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0" y="3154680"/>
            <a:ext cx="5120640" cy="731520"/>
          </a:xfrm>
          <a:prstGeom prst="rect">
            <a:avLst/>
          </a:prstGeom>
          <a:noFill/>
        </p:spPr>
        <p:txBody>
          <a:bodyPr wrap="square" anchor="t"/>
          <a:lstStyle/>
          <a:p>
            <a:pPr rtl="1" algn="r"/>
            <a:r>
              <a:rPr sz="1600" b="0">
                <a:solidFill>
                  <a:srgbClr val="0C100E"/>
                </a:solidFill>
                <a:latin typeface="IBM Plex Sans Arabic"/>
                <a:ea typeface="IBM Plex Sans Arabic"/>
                <a:cs typeface="IBM Plex Sans Arabic"/>
              </a:rPr>
              <a:t>الوصف الوظيفي كمستند جامد.</a:t>
            </a:r>
          </a:p>
        </p:txBody>
      </p:sp>
      <p:sp>
        <p:nvSpPr>
          <p:cNvPr id="18" name="Rectangle 17"/>
          <p:cNvSpPr/>
          <p:nvPr/>
        </p:nvSpPr>
        <p:spPr>
          <a:xfrm>
            <a:off x="6675120" y="4892040"/>
            <a:ext cx="5120640" cy="12700"/>
          </a:xfrm>
          <a:prstGeom prst="rect">
            <a:avLst/>
          </a:prstGeom>
          <a:solidFill>
            <a:srgbClr val="E8E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0" y="4114800"/>
            <a:ext cx="5120640" cy="731520"/>
          </a:xfrm>
          <a:prstGeom prst="rect">
            <a:avLst/>
          </a:prstGeom>
          <a:noFill/>
        </p:spPr>
        <p:txBody>
          <a:bodyPr wrap="square" anchor="t"/>
          <a:lstStyle/>
          <a:p>
            <a:pPr rtl="1" algn="r"/>
            <a:r>
              <a:rPr sz="1600" b="0">
                <a:solidFill>
                  <a:srgbClr val="0C100E"/>
                </a:solidFill>
                <a:latin typeface="IBM Plex Sans Arabic"/>
                <a:ea typeface="IBM Plex Sans Arabic"/>
                <a:cs typeface="IBM Plex Sans Arabic"/>
              </a:rPr>
              <a:t>قياس التدريب بالحضور لا بالأثر.</a:t>
            </a:r>
          </a:p>
        </p:txBody>
      </p:sp>
      <p:sp>
        <p:nvSpPr>
          <p:cNvPr id="20" name="TextBox 19"/>
          <p:cNvSpPr txBox="1"/>
          <p:nvPr/>
        </p:nvSpPr>
        <p:spPr>
          <a:xfrm>
            <a:off x="566928" y="6510528"/>
            <a:ext cx="4572000" cy="256032"/>
          </a:xfrm>
          <a:prstGeom prst="rect">
            <a:avLst/>
          </a:prstGeom>
          <a:noFill/>
        </p:spPr>
        <p:txBody>
          <a:bodyPr wrap="square" anchor="t"/>
          <a:lstStyle/>
          <a:p>
            <a:pPr rtl="1" algn="r"/>
            <a:r>
              <a:rPr sz="1100" b="0">
                <a:solidFill>
                  <a:srgbClr val="6A706C"/>
                </a:solidFill>
                <a:latin typeface="IBM Plex Sans Arabic"/>
                <a:ea typeface="IBM Plex Sans Arabic"/>
                <a:cs typeface="IBM Plex Sans Arabic"/>
              </a:rPr>
              <a:t>روتانا  ·  الموارد البشرية</a:t>
            </a:r>
          </a:p>
        </p:txBody>
      </p:sp>
      <p:sp>
        <p:nvSpPr>
          <p:cNvPr id="21" name="TextBox 20"/>
          <p:cNvSpPr txBox="1"/>
          <p:nvPr/>
        </p:nvSpPr>
        <p:spPr>
          <a:xfrm>
            <a:off x="9509760" y="6510528"/>
            <a:ext cx="2103120" cy="256032"/>
          </a:xfrm>
          <a:prstGeom prst="rect">
            <a:avLst/>
          </a:prstGeom>
          <a:noFill/>
        </p:spPr>
        <p:txBody>
          <a:bodyPr wrap="square" anchor="t"/>
          <a:lstStyle/>
          <a:p>
            <a:pPr rtl="1" algn="l"/>
            <a:r>
              <a:rPr sz="1100" b="0">
                <a:solidFill>
                  <a:srgbClr val="6A706C"/>
                </a:solidFill>
                <a:latin typeface="IBM Plex Mono"/>
                <a:ea typeface="IBM Plex Mono"/>
                <a:cs typeface="IBM Plex Mono"/>
              </a:rPr>
              <a:t>16  /  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640080" cy="274320"/>
          </a:xfrm>
          <a:prstGeom prst="rect">
            <a:avLst/>
          </a:prstGeom>
          <a:noFill/>
        </p:spPr>
        <p:txBody>
          <a:bodyPr wrap="square" anchor="t"/>
          <a:lstStyle/>
          <a:p>
            <a:pPr rtl="1" algn="r"/>
            <a:r>
              <a:rPr sz="1100" b="0">
                <a:solidFill>
                  <a:srgbClr val="00512F"/>
                </a:solidFill>
                <a:latin typeface="IBM Plex Mono"/>
                <a:ea typeface="IBM Plex Mono"/>
                <a:cs typeface="IBM Plex Mono"/>
              </a:rPr>
              <a:t>١٧</a:t>
            </a:r>
          </a:p>
        </p:txBody>
      </p:sp>
      <p:sp>
        <p:nvSpPr>
          <p:cNvPr id="4" name="TextBox 3"/>
          <p:cNvSpPr txBox="1"/>
          <p:nvPr/>
        </p:nvSpPr>
        <p:spPr>
          <a:xfrm>
            <a:off x="1234440" y="384048"/>
            <a:ext cx="10058400" cy="256032"/>
          </a:xfrm>
          <a:prstGeom prst="rect">
            <a:avLst/>
          </a:prstGeom>
          <a:noFill/>
        </p:spPr>
        <p:txBody>
          <a:bodyPr wrap="square" anchor="t"/>
          <a:lstStyle/>
          <a:p>
            <a:pPr rtl="1" algn="r"/>
            <a:r>
              <a:rPr sz="1100" b="0">
                <a:solidFill>
                  <a:srgbClr val="00512F"/>
                </a:solidFill>
                <a:latin typeface="IBM Plex Sans"/>
                <a:ea typeface="IBM Plex Sans"/>
                <a:cs typeface="IBM Plex Sans"/>
              </a:rPr>
              <a:t>ثلاث ركائز</a:t>
            </a:r>
          </a:p>
        </p:txBody>
      </p:sp>
      <p:sp>
        <p:nvSpPr>
          <p:cNvPr id="5" name="TextBox 4"/>
          <p:cNvSpPr txBox="1"/>
          <p:nvPr/>
        </p:nvSpPr>
        <p:spPr>
          <a:xfrm>
            <a:off x="1234440" y="621792"/>
            <a:ext cx="10241280" cy="640080"/>
          </a:xfrm>
          <a:prstGeom prst="rect">
            <a:avLst/>
          </a:prstGeom>
          <a:noFill/>
        </p:spPr>
        <p:txBody>
          <a:bodyPr wrap="square" anchor="t"/>
          <a:lstStyle/>
          <a:p>
            <a:pPr rtl="1" algn="r"/>
            <a:r>
              <a:rPr sz="2800" b="0">
                <a:solidFill>
                  <a:srgbClr val="0C100E"/>
                </a:solidFill>
                <a:latin typeface="Amiri"/>
                <a:ea typeface="Amiri"/>
                <a:cs typeface="Amiri"/>
              </a:rPr>
              <a:t>العام التشغيلي للموارد البشرية.</a:t>
            </a:r>
          </a:p>
        </p:txBody>
      </p:sp>
      <p:pic>
        <p:nvPicPr>
          <p:cNvPr id="6" name="Picture 5" descr="people.png"/>
          <p:cNvPicPr>
            <a:picLocks noChangeAspect="1"/>
          </p:cNvPicPr>
          <p:nvPr/>
        </p:nvPicPr>
        <p:blipFill>
          <a:blip r:embed="rId2"/>
          <a:stretch>
            <a:fillRect/>
          </a:stretch>
        </p:blipFill>
        <p:spPr>
          <a:xfrm>
            <a:off x="566928" y="1691640"/>
            <a:ext cx="438912" cy="438912"/>
          </a:xfrm>
          <a:prstGeom prst="rect">
            <a:avLst/>
          </a:prstGeom>
        </p:spPr>
      </p:pic>
      <p:sp>
        <p:nvSpPr>
          <p:cNvPr id="7" name="TextBox 6"/>
          <p:cNvSpPr txBox="1"/>
          <p:nvPr/>
        </p:nvSpPr>
        <p:spPr>
          <a:xfrm>
            <a:off x="566928" y="2286000"/>
            <a:ext cx="3474720" cy="502920"/>
          </a:xfrm>
          <a:prstGeom prst="rect">
            <a:avLst/>
          </a:prstGeom>
          <a:noFill/>
        </p:spPr>
        <p:txBody>
          <a:bodyPr wrap="square" anchor="t"/>
          <a:lstStyle/>
          <a:p>
            <a:pPr rtl="1" algn="r"/>
            <a:r>
              <a:rPr sz="2800" b="0">
                <a:solidFill>
                  <a:srgbClr val="0C100E"/>
                </a:solidFill>
                <a:latin typeface="Amiri"/>
                <a:ea typeface="Amiri"/>
                <a:cs typeface="Amiri"/>
              </a:rPr>
              <a:t>ناس</a:t>
            </a:r>
          </a:p>
        </p:txBody>
      </p:sp>
      <p:sp>
        <p:nvSpPr>
          <p:cNvPr id="8" name="TextBox 7"/>
          <p:cNvSpPr txBox="1"/>
          <p:nvPr/>
        </p:nvSpPr>
        <p:spPr>
          <a:xfrm>
            <a:off x="566928" y="2926080"/>
            <a:ext cx="3474720" cy="1828800"/>
          </a:xfrm>
          <a:prstGeom prst="rect">
            <a:avLst/>
          </a:prstGeom>
          <a:noFill/>
        </p:spPr>
        <p:txBody>
          <a:bodyPr wrap="square" anchor="t"/>
          <a:lstStyle/>
          <a:p>
            <a:pPr rtl="1" algn="r"/>
            <a:r>
              <a:rPr sz="1500" b="0">
                <a:solidFill>
                  <a:srgbClr val="3A403C"/>
                </a:solidFill>
                <a:latin typeface="IBM Plex Sans Arabic"/>
                <a:ea typeface="IBM Plex Sans Arabic"/>
                <a:cs typeface="IBM Plex Sans Arabic"/>
              </a:rPr>
              <a:t>استقطاب يطابق صوت روتانا، وتهيئة لا تترك أحدًا في الأسبوع الأول وحيدًا.</a:t>
            </a:r>
          </a:p>
        </p:txBody>
      </p:sp>
      <p:pic>
        <p:nvPicPr>
          <p:cNvPr id="9" name="Picture 8" descr="performance.png"/>
          <p:cNvPicPr>
            <a:picLocks noChangeAspect="1"/>
          </p:cNvPicPr>
          <p:nvPr/>
        </p:nvPicPr>
        <p:blipFill>
          <a:blip r:embed="rId3"/>
          <a:stretch>
            <a:fillRect/>
          </a:stretch>
        </p:blipFill>
        <p:spPr>
          <a:xfrm>
            <a:off x="4361688" y="1691640"/>
            <a:ext cx="438912" cy="438912"/>
          </a:xfrm>
          <a:prstGeom prst="rect">
            <a:avLst/>
          </a:prstGeom>
        </p:spPr>
      </p:pic>
      <p:sp>
        <p:nvSpPr>
          <p:cNvPr id="10" name="TextBox 9"/>
          <p:cNvSpPr txBox="1"/>
          <p:nvPr/>
        </p:nvSpPr>
        <p:spPr>
          <a:xfrm>
            <a:off x="4361688" y="2286000"/>
            <a:ext cx="3474720" cy="502920"/>
          </a:xfrm>
          <a:prstGeom prst="rect">
            <a:avLst/>
          </a:prstGeom>
          <a:noFill/>
        </p:spPr>
        <p:txBody>
          <a:bodyPr wrap="square" anchor="t"/>
          <a:lstStyle/>
          <a:p>
            <a:pPr rtl="1" algn="r"/>
            <a:r>
              <a:rPr sz="2800" b="0">
                <a:solidFill>
                  <a:srgbClr val="0C100E"/>
                </a:solidFill>
                <a:latin typeface="Amiri"/>
                <a:ea typeface="Amiri"/>
                <a:cs typeface="Amiri"/>
              </a:rPr>
              <a:t>أداء</a:t>
            </a:r>
          </a:p>
        </p:txBody>
      </p:sp>
      <p:sp>
        <p:nvSpPr>
          <p:cNvPr id="11" name="TextBox 10"/>
          <p:cNvSpPr txBox="1"/>
          <p:nvPr/>
        </p:nvSpPr>
        <p:spPr>
          <a:xfrm>
            <a:off x="4361688" y="2926080"/>
            <a:ext cx="3474720" cy="1828800"/>
          </a:xfrm>
          <a:prstGeom prst="rect">
            <a:avLst/>
          </a:prstGeom>
          <a:noFill/>
        </p:spPr>
        <p:txBody>
          <a:bodyPr wrap="square" anchor="t"/>
          <a:lstStyle/>
          <a:p>
            <a:pPr rtl="1" algn="r"/>
            <a:r>
              <a:rPr sz="1500" b="0">
                <a:solidFill>
                  <a:srgbClr val="3A403C"/>
                </a:solidFill>
                <a:latin typeface="IBM Plex Sans Arabic"/>
                <a:ea typeface="IBM Plex Sans Arabic"/>
                <a:cs typeface="IBM Plex Sans Arabic"/>
              </a:rPr>
              <a:t>أهداف واضحة، مراجعة نصف سنوية، وخلافة للمقاعد التي لا تحتمل فراغًا.</a:t>
            </a:r>
          </a:p>
        </p:txBody>
      </p:sp>
      <p:pic>
        <p:nvPicPr>
          <p:cNvPr id="12" name="Picture 11" descr="culture.png"/>
          <p:cNvPicPr>
            <a:picLocks noChangeAspect="1"/>
          </p:cNvPicPr>
          <p:nvPr/>
        </p:nvPicPr>
        <p:blipFill>
          <a:blip r:embed="rId4"/>
          <a:stretch>
            <a:fillRect/>
          </a:stretch>
        </p:blipFill>
        <p:spPr>
          <a:xfrm>
            <a:off x="8156448" y="1691640"/>
            <a:ext cx="438912" cy="438912"/>
          </a:xfrm>
          <a:prstGeom prst="rect">
            <a:avLst/>
          </a:prstGeom>
        </p:spPr>
      </p:pic>
      <p:sp>
        <p:nvSpPr>
          <p:cNvPr id="13" name="TextBox 12"/>
          <p:cNvSpPr txBox="1"/>
          <p:nvPr/>
        </p:nvSpPr>
        <p:spPr>
          <a:xfrm>
            <a:off x="8156448" y="2286000"/>
            <a:ext cx="3474720" cy="502920"/>
          </a:xfrm>
          <a:prstGeom prst="rect">
            <a:avLst/>
          </a:prstGeom>
          <a:noFill/>
        </p:spPr>
        <p:txBody>
          <a:bodyPr wrap="square" anchor="t"/>
          <a:lstStyle/>
          <a:p>
            <a:pPr rtl="1" algn="r"/>
            <a:r>
              <a:rPr sz="2800" b="0">
                <a:solidFill>
                  <a:srgbClr val="0C100E"/>
                </a:solidFill>
                <a:latin typeface="Amiri"/>
                <a:ea typeface="Amiri"/>
                <a:cs typeface="Amiri"/>
              </a:rPr>
              <a:t>ثقافة</a:t>
            </a:r>
          </a:p>
        </p:txBody>
      </p:sp>
      <p:sp>
        <p:nvSpPr>
          <p:cNvPr id="14" name="TextBox 13"/>
          <p:cNvSpPr txBox="1"/>
          <p:nvPr/>
        </p:nvSpPr>
        <p:spPr>
          <a:xfrm>
            <a:off x="8156448" y="2926080"/>
            <a:ext cx="3474720" cy="1828800"/>
          </a:xfrm>
          <a:prstGeom prst="rect">
            <a:avLst/>
          </a:prstGeom>
          <a:noFill/>
        </p:spPr>
        <p:txBody>
          <a:bodyPr wrap="square" anchor="t"/>
          <a:lstStyle/>
          <a:p>
            <a:pPr rtl="1" algn="r"/>
            <a:r>
              <a:rPr sz="1500" b="0">
                <a:solidFill>
                  <a:srgbClr val="3A403C"/>
                </a:solidFill>
                <a:latin typeface="IBM Plex Sans Arabic"/>
                <a:ea typeface="IBM Plex Sans Arabic"/>
                <a:cs typeface="IBM Plex Sans Arabic"/>
              </a:rPr>
              <a:t>مكان يُنتج فيه العمل الإبداعي دون فوضى إجراءات، وبلا تساهل في الاحترام.</a:t>
            </a:r>
          </a:p>
        </p:txBody>
      </p:sp>
      <p:sp>
        <p:nvSpPr>
          <p:cNvPr id="15" name="TextBox 14"/>
          <p:cNvSpPr txBox="1"/>
          <p:nvPr/>
        </p:nvSpPr>
        <p:spPr>
          <a:xfrm>
            <a:off x="566928" y="6510528"/>
            <a:ext cx="4572000" cy="256032"/>
          </a:xfrm>
          <a:prstGeom prst="rect">
            <a:avLst/>
          </a:prstGeom>
          <a:noFill/>
        </p:spPr>
        <p:txBody>
          <a:bodyPr wrap="square" anchor="t"/>
          <a:lstStyle/>
          <a:p>
            <a:pPr rtl="1" algn="r"/>
            <a:r>
              <a:rPr sz="1100" b="0">
                <a:solidFill>
                  <a:srgbClr val="6A706C"/>
                </a:solidFill>
                <a:latin typeface="IBM Plex Sans Arabic"/>
                <a:ea typeface="IBM Plex Sans Arabic"/>
                <a:cs typeface="IBM Plex Sans Arabic"/>
              </a:rPr>
              <a:t>روتانا  ·  الموارد البشرية</a:t>
            </a:r>
          </a:p>
        </p:txBody>
      </p:sp>
      <p:sp>
        <p:nvSpPr>
          <p:cNvPr id="16" name="TextBox 15"/>
          <p:cNvSpPr txBox="1"/>
          <p:nvPr/>
        </p:nvSpPr>
        <p:spPr>
          <a:xfrm>
            <a:off x="9509760" y="6510528"/>
            <a:ext cx="2103120" cy="256032"/>
          </a:xfrm>
          <a:prstGeom prst="rect">
            <a:avLst/>
          </a:prstGeom>
          <a:noFill/>
        </p:spPr>
        <p:txBody>
          <a:bodyPr wrap="square" anchor="t"/>
          <a:lstStyle/>
          <a:p>
            <a:pPr rtl="1" algn="l"/>
            <a:r>
              <a:rPr sz="1100" b="0">
                <a:solidFill>
                  <a:srgbClr val="6A706C"/>
                </a:solidFill>
                <a:latin typeface="IBM Plex Mono"/>
                <a:ea typeface="IBM Plex Mono"/>
                <a:cs typeface="IBM Plex Mono"/>
              </a:rPr>
              <a:t>17  /  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640080" cy="274320"/>
          </a:xfrm>
          <a:prstGeom prst="rect">
            <a:avLst/>
          </a:prstGeom>
          <a:noFill/>
        </p:spPr>
        <p:txBody>
          <a:bodyPr wrap="square" anchor="t"/>
          <a:lstStyle/>
          <a:p>
            <a:pPr rtl="1" algn="r"/>
            <a:r>
              <a:rPr sz="1100" b="0">
                <a:solidFill>
                  <a:srgbClr val="00512F"/>
                </a:solidFill>
                <a:latin typeface="IBM Plex Mono"/>
                <a:ea typeface="IBM Plex Mono"/>
                <a:cs typeface="IBM Plex Mono"/>
              </a:rPr>
              <a:t>١٨</a:t>
            </a:r>
          </a:p>
        </p:txBody>
      </p:sp>
      <p:sp>
        <p:nvSpPr>
          <p:cNvPr id="4" name="TextBox 3"/>
          <p:cNvSpPr txBox="1"/>
          <p:nvPr/>
        </p:nvSpPr>
        <p:spPr>
          <a:xfrm>
            <a:off x="1234440" y="384048"/>
            <a:ext cx="10058400" cy="256032"/>
          </a:xfrm>
          <a:prstGeom prst="rect">
            <a:avLst/>
          </a:prstGeom>
          <a:noFill/>
        </p:spPr>
        <p:txBody>
          <a:bodyPr wrap="square" anchor="t"/>
          <a:lstStyle/>
          <a:p>
            <a:pPr rtl="1" algn="r"/>
            <a:r>
              <a:rPr sz="1100" b="0">
                <a:solidFill>
                  <a:srgbClr val="00512F"/>
                </a:solidFill>
                <a:latin typeface="IBM Plex Sans"/>
                <a:ea typeface="IBM Plex Sans"/>
                <a:cs typeface="IBM Plex Sans"/>
              </a:rPr>
              <a:t>مسار من أربع محطات</a:t>
            </a:r>
          </a:p>
        </p:txBody>
      </p:sp>
      <p:sp>
        <p:nvSpPr>
          <p:cNvPr id="5" name="TextBox 4"/>
          <p:cNvSpPr txBox="1"/>
          <p:nvPr/>
        </p:nvSpPr>
        <p:spPr>
          <a:xfrm>
            <a:off x="1234440" y="621792"/>
            <a:ext cx="10241280" cy="640080"/>
          </a:xfrm>
          <a:prstGeom prst="rect">
            <a:avLst/>
          </a:prstGeom>
          <a:noFill/>
        </p:spPr>
        <p:txBody>
          <a:bodyPr wrap="square" anchor="t"/>
          <a:lstStyle/>
          <a:p>
            <a:pPr rtl="1" algn="r"/>
            <a:r>
              <a:rPr sz="2800" b="0">
                <a:solidFill>
                  <a:srgbClr val="0C100E"/>
                </a:solidFill>
                <a:latin typeface="Amiri"/>
                <a:ea typeface="Amiri"/>
                <a:cs typeface="Amiri"/>
              </a:rPr>
              <a:t>من الشاغر إلى اليوم التسعين.</a:t>
            </a:r>
          </a:p>
        </p:txBody>
      </p:sp>
      <p:sp>
        <p:nvSpPr>
          <p:cNvPr id="6" name="Rectangle 5"/>
          <p:cNvSpPr/>
          <p:nvPr/>
        </p:nvSpPr>
        <p:spPr>
          <a:xfrm>
            <a:off x="1463040" y="2331720"/>
            <a:ext cx="9235440" cy="12700"/>
          </a:xfrm>
          <a:prstGeom prst="rect">
            <a:avLst/>
          </a:prstGeom>
          <a:solidFill>
            <a:srgbClr val="C5C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527048" y="2121408"/>
            <a:ext cx="475488" cy="475488"/>
          </a:xfrm>
          <a:prstGeom prst="ellipse">
            <a:avLst/>
          </a:prstGeom>
          <a:solidFill>
            <a:srgbClr val="005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27048" y="2176272"/>
            <a:ext cx="475488" cy="384048"/>
          </a:xfrm>
          <a:prstGeom prst="rect">
            <a:avLst/>
          </a:prstGeom>
          <a:noFill/>
        </p:spPr>
        <p:txBody>
          <a:bodyPr wrap="square" anchor="t"/>
          <a:lstStyle/>
          <a:p>
            <a:pPr rtl="1" algn="ctr"/>
            <a:r>
              <a:rPr sz="1600" b="0">
                <a:solidFill>
                  <a:srgbClr val="FFFFFF"/>
                </a:solidFill>
                <a:latin typeface="Amiri"/>
                <a:ea typeface="Amiri"/>
                <a:cs typeface="Amiri"/>
              </a:rPr>
              <a:t>١</a:t>
            </a:r>
          </a:p>
        </p:txBody>
      </p:sp>
      <p:sp>
        <p:nvSpPr>
          <p:cNvPr id="9" name="TextBox 8"/>
          <p:cNvSpPr txBox="1"/>
          <p:nvPr/>
        </p:nvSpPr>
        <p:spPr>
          <a:xfrm>
            <a:off x="566928" y="2880360"/>
            <a:ext cx="2651760" cy="411480"/>
          </a:xfrm>
          <a:prstGeom prst="rect">
            <a:avLst/>
          </a:prstGeom>
          <a:noFill/>
        </p:spPr>
        <p:txBody>
          <a:bodyPr wrap="square" anchor="t"/>
          <a:lstStyle/>
          <a:p>
            <a:pPr rtl="1" algn="ctr"/>
            <a:r>
              <a:rPr sz="2000" b="1">
                <a:solidFill>
                  <a:srgbClr val="0C100E"/>
                </a:solidFill>
                <a:latin typeface="IBM Plex Sans Arabic"/>
                <a:ea typeface="IBM Plex Sans Arabic"/>
                <a:cs typeface="IBM Plex Sans Arabic"/>
              </a:rPr>
              <a:t>تعريف</a:t>
            </a:r>
          </a:p>
        </p:txBody>
      </p:sp>
      <p:sp>
        <p:nvSpPr>
          <p:cNvPr id="10" name="TextBox 9"/>
          <p:cNvSpPr txBox="1"/>
          <p:nvPr/>
        </p:nvSpPr>
        <p:spPr>
          <a:xfrm>
            <a:off x="566928" y="3337560"/>
            <a:ext cx="2651760" cy="1005840"/>
          </a:xfrm>
          <a:prstGeom prst="rect">
            <a:avLst/>
          </a:prstGeom>
          <a:noFill/>
        </p:spPr>
        <p:txBody>
          <a:bodyPr wrap="square" anchor="t"/>
          <a:lstStyle/>
          <a:p>
            <a:pPr rtl="1" algn="ctr"/>
            <a:r>
              <a:rPr sz="1400" b="0">
                <a:solidFill>
                  <a:srgbClr val="3A403C"/>
                </a:solidFill>
                <a:latin typeface="IBM Plex Sans Arabic"/>
                <a:ea typeface="IBM Plex Sans Arabic"/>
                <a:cs typeface="IBM Plex Sans Arabic"/>
              </a:rPr>
              <a:t>الوصف، النطاق، ومالك القرار.</a:t>
            </a:r>
          </a:p>
        </p:txBody>
      </p:sp>
      <p:sp>
        <p:nvSpPr>
          <p:cNvPr id="11" name="Oval 10"/>
          <p:cNvSpPr/>
          <p:nvPr/>
        </p:nvSpPr>
        <p:spPr>
          <a:xfrm>
            <a:off x="4407408" y="2121408"/>
            <a:ext cx="475488" cy="475488"/>
          </a:xfrm>
          <a:prstGeom prst="ellipse">
            <a:avLst/>
          </a:prstGeom>
          <a:solidFill>
            <a:srgbClr val="005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07408" y="2176272"/>
            <a:ext cx="475488" cy="384048"/>
          </a:xfrm>
          <a:prstGeom prst="rect">
            <a:avLst/>
          </a:prstGeom>
          <a:noFill/>
        </p:spPr>
        <p:txBody>
          <a:bodyPr wrap="square" anchor="t"/>
          <a:lstStyle/>
          <a:p>
            <a:pPr rtl="1" algn="ctr"/>
            <a:r>
              <a:rPr sz="1600" b="0">
                <a:solidFill>
                  <a:srgbClr val="FFFFFF"/>
                </a:solidFill>
                <a:latin typeface="Amiri"/>
                <a:ea typeface="Amiri"/>
                <a:cs typeface="Amiri"/>
              </a:rPr>
              <a:t>٢</a:t>
            </a:r>
          </a:p>
        </p:txBody>
      </p:sp>
      <p:sp>
        <p:nvSpPr>
          <p:cNvPr id="13" name="TextBox 12"/>
          <p:cNvSpPr txBox="1"/>
          <p:nvPr/>
        </p:nvSpPr>
        <p:spPr>
          <a:xfrm>
            <a:off x="3447288" y="2880360"/>
            <a:ext cx="2651760" cy="411480"/>
          </a:xfrm>
          <a:prstGeom prst="rect">
            <a:avLst/>
          </a:prstGeom>
          <a:noFill/>
        </p:spPr>
        <p:txBody>
          <a:bodyPr wrap="square" anchor="t"/>
          <a:lstStyle/>
          <a:p>
            <a:pPr rtl="1" algn="ctr"/>
            <a:r>
              <a:rPr sz="2000" b="1">
                <a:solidFill>
                  <a:srgbClr val="0C100E"/>
                </a:solidFill>
                <a:latin typeface="IBM Plex Sans Arabic"/>
                <a:ea typeface="IBM Plex Sans Arabic"/>
                <a:cs typeface="IBM Plex Sans Arabic"/>
              </a:rPr>
              <a:t>اختيار</a:t>
            </a:r>
          </a:p>
        </p:txBody>
      </p:sp>
      <p:sp>
        <p:nvSpPr>
          <p:cNvPr id="14" name="TextBox 13"/>
          <p:cNvSpPr txBox="1"/>
          <p:nvPr/>
        </p:nvSpPr>
        <p:spPr>
          <a:xfrm>
            <a:off x="3447288" y="3337560"/>
            <a:ext cx="2651760" cy="1005840"/>
          </a:xfrm>
          <a:prstGeom prst="rect">
            <a:avLst/>
          </a:prstGeom>
          <a:noFill/>
        </p:spPr>
        <p:txBody>
          <a:bodyPr wrap="square" anchor="t"/>
          <a:lstStyle/>
          <a:p>
            <a:pPr rtl="1" algn="ctr"/>
            <a:r>
              <a:rPr sz="1400" b="0">
                <a:solidFill>
                  <a:srgbClr val="3A403C"/>
                </a:solidFill>
                <a:latin typeface="IBM Plex Sans Arabic"/>
                <a:ea typeface="IBM Plex Sans Arabic"/>
                <a:cs typeface="IBM Plex Sans Arabic"/>
              </a:rPr>
              <a:t>غربلة، مقابلة، ومحاكاة عمل.</a:t>
            </a:r>
          </a:p>
        </p:txBody>
      </p:sp>
      <p:sp>
        <p:nvSpPr>
          <p:cNvPr id="15" name="Oval 14"/>
          <p:cNvSpPr/>
          <p:nvPr/>
        </p:nvSpPr>
        <p:spPr>
          <a:xfrm>
            <a:off x="7287768" y="2121408"/>
            <a:ext cx="475488" cy="475488"/>
          </a:xfrm>
          <a:prstGeom prst="ellipse">
            <a:avLst/>
          </a:prstGeom>
          <a:solidFill>
            <a:srgbClr val="005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87768" y="2176272"/>
            <a:ext cx="475488" cy="384048"/>
          </a:xfrm>
          <a:prstGeom prst="rect">
            <a:avLst/>
          </a:prstGeom>
          <a:noFill/>
        </p:spPr>
        <p:txBody>
          <a:bodyPr wrap="square" anchor="t"/>
          <a:lstStyle/>
          <a:p>
            <a:pPr rtl="1" algn="ctr"/>
            <a:r>
              <a:rPr sz="1600" b="0">
                <a:solidFill>
                  <a:srgbClr val="FFFFFF"/>
                </a:solidFill>
                <a:latin typeface="Amiri"/>
                <a:ea typeface="Amiri"/>
                <a:cs typeface="Amiri"/>
              </a:rPr>
              <a:t>٣</a:t>
            </a:r>
          </a:p>
        </p:txBody>
      </p:sp>
      <p:sp>
        <p:nvSpPr>
          <p:cNvPr id="17" name="TextBox 16"/>
          <p:cNvSpPr txBox="1"/>
          <p:nvPr/>
        </p:nvSpPr>
        <p:spPr>
          <a:xfrm>
            <a:off x="6327648" y="2880360"/>
            <a:ext cx="2651760" cy="411480"/>
          </a:xfrm>
          <a:prstGeom prst="rect">
            <a:avLst/>
          </a:prstGeom>
          <a:noFill/>
        </p:spPr>
        <p:txBody>
          <a:bodyPr wrap="square" anchor="t"/>
          <a:lstStyle/>
          <a:p>
            <a:pPr rtl="1" algn="ctr"/>
            <a:r>
              <a:rPr sz="2000" b="1">
                <a:solidFill>
                  <a:srgbClr val="0C100E"/>
                </a:solidFill>
                <a:latin typeface="IBM Plex Sans Arabic"/>
                <a:ea typeface="IBM Plex Sans Arabic"/>
                <a:cs typeface="IBM Plex Sans Arabic"/>
              </a:rPr>
              <a:t>عرض</a:t>
            </a:r>
          </a:p>
        </p:txBody>
      </p:sp>
      <p:sp>
        <p:nvSpPr>
          <p:cNvPr id="18" name="TextBox 17"/>
          <p:cNvSpPr txBox="1"/>
          <p:nvPr/>
        </p:nvSpPr>
        <p:spPr>
          <a:xfrm>
            <a:off x="6327648" y="3337560"/>
            <a:ext cx="2651760" cy="1005840"/>
          </a:xfrm>
          <a:prstGeom prst="rect">
            <a:avLst/>
          </a:prstGeom>
          <a:noFill/>
        </p:spPr>
        <p:txBody>
          <a:bodyPr wrap="square" anchor="t"/>
          <a:lstStyle/>
          <a:p>
            <a:pPr rtl="1" algn="ctr"/>
            <a:r>
              <a:rPr sz="1400" b="0">
                <a:solidFill>
                  <a:srgbClr val="3A403C"/>
                </a:solidFill>
                <a:latin typeface="IBM Plex Sans Arabic"/>
                <a:ea typeface="IBM Plex Sans Arabic"/>
                <a:cs typeface="IBM Plex Sans Arabic"/>
              </a:rPr>
              <a:t>حزمة، تاريخ، وتوقيع واحد.</a:t>
            </a:r>
          </a:p>
        </p:txBody>
      </p:sp>
      <p:sp>
        <p:nvSpPr>
          <p:cNvPr id="19" name="Oval 18"/>
          <p:cNvSpPr/>
          <p:nvPr/>
        </p:nvSpPr>
        <p:spPr>
          <a:xfrm>
            <a:off x="10168128" y="2121408"/>
            <a:ext cx="475488" cy="475488"/>
          </a:xfrm>
          <a:prstGeom prst="ellipse">
            <a:avLst/>
          </a:prstGeom>
          <a:solidFill>
            <a:srgbClr val="005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8128" y="2176272"/>
            <a:ext cx="475488" cy="384048"/>
          </a:xfrm>
          <a:prstGeom prst="rect">
            <a:avLst/>
          </a:prstGeom>
          <a:noFill/>
        </p:spPr>
        <p:txBody>
          <a:bodyPr wrap="square" anchor="t"/>
          <a:lstStyle/>
          <a:p>
            <a:pPr rtl="1" algn="ctr"/>
            <a:r>
              <a:rPr sz="1600" b="0">
                <a:solidFill>
                  <a:srgbClr val="FFFFFF"/>
                </a:solidFill>
                <a:latin typeface="Amiri"/>
                <a:ea typeface="Amiri"/>
                <a:cs typeface="Amiri"/>
              </a:rPr>
              <a:t>٤</a:t>
            </a:r>
          </a:p>
        </p:txBody>
      </p:sp>
      <p:sp>
        <p:nvSpPr>
          <p:cNvPr id="21" name="TextBox 20"/>
          <p:cNvSpPr txBox="1"/>
          <p:nvPr/>
        </p:nvSpPr>
        <p:spPr>
          <a:xfrm>
            <a:off x="9208008" y="2880360"/>
            <a:ext cx="2651760" cy="411480"/>
          </a:xfrm>
          <a:prstGeom prst="rect">
            <a:avLst/>
          </a:prstGeom>
          <a:noFill/>
        </p:spPr>
        <p:txBody>
          <a:bodyPr wrap="square" anchor="t"/>
          <a:lstStyle/>
          <a:p>
            <a:pPr rtl="1" algn="ctr"/>
            <a:r>
              <a:rPr sz="2000" b="1">
                <a:solidFill>
                  <a:srgbClr val="0C100E"/>
                </a:solidFill>
                <a:latin typeface="IBM Plex Sans Arabic"/>
                <a:ea typeface="IBM Plex Sans Arabic"/>
                <a:cs typeface="IBM Plex Sans Arabic"/>
              </a:rPr>
              <a:t>اندماج</a:t>
            </a:r>
          </a:p>
        </p:txBody>
      </p:sp>
      <p:sp>
        <p:nvSpPr>
          <p:cNvPr id="22" name="TextBox 21"/>
          <p:cNvSpPr txBox="1"/>
          <p:nvPr/>
        </p:nvSpPr>
        <p:spPr>
          <a:xfrm>
            <a:off x="9208008" y="3337560"/>
            <a:ext cx="2651760" cy="1005840"/>
          </a:xfrm>
          <a:prstGeom prst="rect">
            <a:avLst/>
          </a:prstGeom>
          <a:noFill/>
        </p:spPr>
        <p:txBody>
          <a:bodyPr wrap="square" anchor="t"/>
          <a:lstStyle/>
          <a:p>
            <a:pPr rtl="1" algn="ctr"/>
            <a:r>
              <a:rPr sz="1400" b="0">
                <a:solidFill>
                  <a:srgbClr val="3A403C"/>
                </a:solidFill>
                <a:latin typeface="IBM Plex Sans Arabic"/>
                <a:ea typeface="IBM Plex Sans Arabic"/>
                <a:cs typeface="IBM Plex Sans Arabic"/>
              </a:rPr>
              <a:t>٣٠–٦٠–٩٠ بقياس لا بانطباع.</a:t>
            </a:r>
          </a:p>
        </p:txBody>
      </p:sp>
      <p:sp>
        <p:nvSpPr>
          <p:cNvPr id="23" name="TextBox 22"/>
          <p:cNvSpPr txBox="1"/>
          <p:nvPr/>
        </p:nvSpPr>
        <p:spPr>
          <a:xfrm>
            <a:off x="566928" y="6510528"/>
            <a:ext cx="4572000" cy="256032"/>
          </a:xfrm>
          <a:prstGeom prst="rect">
            <a:avLst/>
          </a:prstGeom>
          <a:noFill/>
        </p:spPr>
        <p:txBody>
          <a:bodyPr wrap="square" anchor="t"/>
          <a:lstStyle/>
          <a:p>
            <a:pPr rtl="1" algn="r"/>
            <a:r>
              <a:rPr sz="1100" b="0">
                <a:solidFill>
                  <a:srgbClr val="6A706C"/>
                </a:solidFill>
                <a:latin typeface="IBM Plex Sans Arabic"/>
                <a:ea typeface="IBM Plex Sans Arabic"/>
                <a:cs typeface="IBM Plex Sans Arabic"/>
              </a:rPr>
              <a:t>روتانا  ·  الموارد البشرية</a:t>
            </a:r>
          </a:p>
        </p:txBody>
      </p:sp>
      <p:sp>
        <p:nvSpPr>
          <p:cNvPr id="24" name="TextBox 23"/>
          <p:cNvSpPr txBox="1"/>
          <p:nvPr/>
        </p:nvSpPr>
        <p:spPr>
          <a:xfrm>
            <a:off x="9509760" y="6510528"/>
            <a:ext cx="2103120" cy="256032"/>
          </a:xfrm>
          <a:prstGeom prst="rect">
            <a:avLst/>
          </a:prstGeom>
          <a:noFill/>
        </p:spPr>
        <p:txBody>
          <a:bodyPr wrap="square" anchor="t"/>
          <a:lstStyle/>
          <a:p>
            <a:pPr rtl="1" algn="l"/>
            <a:r>
              <a:rPr sz="1100" b="0">
                <a:solidFill>
                  <a:srgbClr val="6A706C"/>
                </a:solidFill>
                <a:latin typeface="IBM Plex Mono"/>
                <a:ea typeface="IBM Plex Mono"/>
                <a:cs typeface="IBM Plex Mono"/>
              </a:rPr>
              <a:t>18  /  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640080" cy="274320"/>
          </a:xfrm>
          <a:prstGeom prst="rect">
            <a:avLst/>
          </a:prstGeom>
          <a:noFill/>
        </p:spPr>
        <p:txBody>
          <a:bodyPr wrap="square" anchor="t"/>
          <a:lstStyle/>
          <a:p>
            <a:pPr rtl="1" algn="r"/>
            <a:r>
              <a:rPr sz="1100" b="0">
                <a:solidFill>
                  <a:srgbClr val="00512F"/>
                </a:solidFill>
                <a:latin typeface="IBM Plex Mono"/>
                <a:ea typeface="IBM Plex Mono"/>
                <a:cs typeface="IBM Plex Mono"/>
              </a:rPr>
              <a:t>١٩</a:t>
            </a:r>
          </a:p>
        </p:txBody>
      </p:sp>
      <p:sp>
        <p:nvSpPr>
          <p:cNvPr id="4" name="TextBox 3"/>
          <p:cNvSpPr txBox="1"/>
          <p:nvPr/>
        </p:nvSpPr>
        <p:spPr>
          <a:xfrm>
            <a:off x="1234440" y="384048"/>
            <a:ext cx="10058400" cy="256032"/>
          </a:xfrm>
          <a:prstGeom prst="rect">
            <a:avLst/>
          </a:prstGeom>
          <a:noFill/>
        </p:spPr>
        <p:txBody>
          <a:bodyPr wrap="square" anchor="t"/>
          <a:lstStyle/>
          <a:p>
            <a:pPr rtl="1" algn="r"/>
            <a:r>
              <a:rPr sz="1100" b="0">
                <a:solidFill>
                  <a:srgbClr val="00512F"/>
                </a:solidFill>
                <a:latin typeface="IBM Plex Sans"/>
                <a:ea typeface="IBM Plex Sans"/>
                <a:cs typeface="IBM Plex Sans"/>
              </a:rPr>
              <a:t>خط زمني</a:t>
            </a:r>
          </a:p>
        </p:txBody>
      </p:sp>
      <p:sp>
        <p:nvSpPr>
          <p:cNvPr id="5" name="TextBox 4"/>
          <p:cNvSpPr txBox="1"/>
          <p:nvPr/>
        </p:nvSpPr>
        <p:spPr>
          <a:xfrm>
            <a:off x="1234440" y="621792"/>
            <a:ext cx="10241280" cy="640080"/>
          </a:xfrm>
          <a:prstGeom prst="rect">
            <a:avLst/>
          </a:prstGeom>
          <a:noFill/>
        </p:spPr>
        <p:txBody>
          <a:bodyPr wrap="square" anchor="t"/>
          <a:lstStyle/>
          <a:p>
            <a:pPr rtl="1" algn="r"/>
            <a:r>
              <a:rPr sz="2800" b="0">
                <a:solidFill>
                  <a:srgbClr val="0C100E"/>
                </a:solidFill>
                <a:latin typeface="Amiri"/>
                <a:ea typeface="Amiri"/>
                <a:cs typeface="Amiri"/>
              </a:rPr>
              <a:t>سنة الثقافة والأداء.</a:t>
            </a:r>
          </a:p>
        </p:txBody>
      </p:sp>
      <p:sp>
        <p:nvSpPr>
          <p:cNvPr id="6" name="TextBox 5"/>
          <p:cNvSpPr txBox="1"/>
          <p:nvPr/>
        </p:nvSpPr>
        <p:spPr>
          <a:xfrm>
            <a:off x="566928" y="1783080"/>
            <a:ext cx="1188720" cy="365760"/>
          </a:xfrm>
          <a:prstGeom prst="rect">
            <a:avLst/>
          </a:prstGeom>
          <a:noFill/>
        </p:spPr>
        <p:txBody>
          <a:bodyPr wrap="square" anchor="t"/>
          <a:lstStyle/>
          <a:p>
            <a:pPr rtl="1" algn="r"/>
            <a:r>
              <a:rPr sz="1800" b="1">
                <a:solidFill>
                  <a:srgbClr val="00512F"/>
                </a:solidFill>
                <a:latin typeface="IBM Plex Sans"/>
                <a:ea typeface="IBM Plex Sans"/>
                <a:cs typeface="IBM Plex Sans"/>
              </a:rPr>
              <a:t>Q1</a:t>
            </a:r>
          </a:p>
        </p:txBody>
      </p:sp>
      <p:sp>
        <p:nvSpPr>
          <p:cNvPr id="7" name="TextBox 6"/>
          <p:cNvSpPr txBox="1"/>
          <p:nvPr/>
        </p:nvSpPr>
        <p:spPr>
          <a:xfrm>
            <a:off x="2011680" y="1746504"/>
            <a:ext cx="9509760" cy="457200"/>
          </a:xfrm>
          <a:prstGeom prst="rect">
            <a:avLst/>
          </a:prstGeom>
          <a:noFill/>
        </p:spPr>
        <p:txBody>
          <a:bodyPr wrap="square" anchor="t"/>
          <a:lstStyle/>
          <a:p>
            <a:pPr rtl="1" algn="r"/>
            <a:r>
              <a:rPr sz="2200" b="0">
                <a:solidFill>
                  <a:srgbClr val="0C100E"/>
                </a:solidFill>
                <a:latin typeface="IBM Plex Sans Arabic"/>
                <a:ea typeface="IBM Plex Sans Arabic"/>
                <a:cs typeface="IBM Plex Sans Arabic"/>
              </a:rPr>
              <a:t>إطلاق الأهداف وتهيئة الدفعة الشتوية</a:t>
            </a:r>
          </a:p>
        </p:txBody>
      </p:sp>
      <p:sp>
        <p:nvSpPr>
          <p:cNvPr id="8" name="Rectangle 7"/>
          <p:cNvSpPr/>
          <p:nvPr/>
        </p:nvSpPr>
        <p:spPr>
          <a:xfrm>
            <a:off x="566928" y="2377440"/>
            <a:ext cx="11064240" cy="12700"/>
          </a:xfrm>
          <a:prstGeom prst="rect">
            <a:avLst/>
          </a:prstGeom>
          <a:solidFill>
            <a:srgbClr val="C5C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834640"/>
            <a:ext cx="1188720" cy="365760"/>
          </a:xfrm>
          <a:prstGeom prst="rect">
            <a:avLst/>
          </a:prstGeom>
          <a:noFill/>
        </p:spPr>
        <p:txBody>
          <a:bodyPr wrap="square" anchor="t"/>
          <a:lstStyle/>
          <a:p>
            <a:pPr rtl="1" algn="r"/>
            <a:r>
              <a:rPr sz="1800" b="1">
                <a:solidFill>
                  <a:srgbClr val="00512F"/>
                </a:solidFill>
                <a:latin typeface="IBM Plex Sans"/>
                <a:ea typeface="IBM Plex Sans"/>
                <a:cs typeface="IBM Plex Sans"/>
              </a:rPr>
              <a:t>Q2</a:t>
            </a:r>
          </a:p>
        </p:txBody>
      </p:sp>
      <p:sp>
        <p:nvSpPr>
          <p:cNvPr id="10" name="TextBox 9"/>
          <p:cNvSpPr txBox="1"/>
          <p:nvPr/>
        </p:nvSpPr>
        <p:spPr>
          <a:xfrm>
            <a:off x="2011680" y="2798064"/>
            <a:ext cx="9509760" cy="457200"/>
          </a:xfrm>
          <a:prstGeom prst="rect">
            <a:avLst/>
          </a:prstGeom>
          <a:noFill/>
        </p:spPr>
        <p:txBody>
          <a:bodyPr wrap="square" anchor="t"/>
          <a:lstStyle/>
          <a:p>
            <a:pPr rtl="1" algn="r"/>
            <a:r>
              <a:rPr sz="2200" b="0">
                <a:solidFill>
                  <a:srgbClr val="0C100E"/>
                </a:solidFill>
                <a:latin typeface="IBM Plex Sans Arabic"/>
                <a:ea typeface="IBM Plex Sans Arabic"/>
                <a:cs typeface="IBM Plex Sans Arabic"/>
              </a:rPr>
              <a:t>مراجعة منتصف العام ومسار الخلافة</a:t>
            </a:r>
          </a:p>
        </p:txBody>
      </p:sp>
      <p:sp>
        <p:nvSpPr>
          <p:cNvPr id="11" name="Rectangle 10"/>
          <p:cNvSpPr/>
          <p:nvPr/>
        </p:nvSpPr>
        <p:spPr>
          <a:xfrm>
            <a:off x="566928" y="3429000"/>
            <a:ext cx="11064240" cy="12700"/>
          </a:xfrm>
          <a:prstGeom prst="rect">
            <a:avLst/>
          </a:prstGeom>
          <a:solidFill>
            <a:srgbClr val="C5C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3886200"/>
            <a:ext cx="1188720" cy="365760"/>
          </a:xfrm>
          <a:prstGeom prst="rect">
            <a:avLst/>
          </a:prstGeom>
          <a:noFill/>
        </p:spPr>
        <p:txBody>
          <a:bodyPr wrap="square" anchor="t"/>
          <a:lstStyle/>
          <a:p>
            <a:pPr rtl="1" algn="r"/>
            <a:r>
              <a:rPr sz="1800" b="1">
                <a:solidFill>
                  <a:srgbClr val="00512F"/>
                </a:solidFill>
                <a:latin typeface="IBM Plex Sans"/>
                <a:ea typeface="IBM Plex Sans"/>
                <a:cs typeface="IBM Plex Sans"/>
              </a:rPr>
              <a:t>Q3</a:t>
            </a:r>
          </a:p>
        </p:txBody>
      </p:sp>
      <p:sp>
        <p:nvSpPr>
          <p:cNvPr id="13" name="TextBox 12"/>
          <p:cNvSpPr txBox="1"/>
          <p:nvPr/>
        </p:nvSpPr>
        <p:spPr>
          <a:xfrm>
            <a:off x="2011680" y="3849624"/>
            <a:ext cx="9509760" cy="457200"/>
          </a:xfrm>
          <a:prstGeom prst="rect">
            <a:avLst/>
          </a:prstGeom>
          <a:noFill/>
        </p:spPr>
        <p:txBody>
          <a:bodyPr wrap="square" anchor="t"/>
          <a:lstStyle/>
          <a:p>
            <a:pPr rtl="1" algn="r"/>
            <a:r>
              <a:rPr sz="2200" b="0">
                <a:solidFill>
                  <a:srgbClr val="0C100E"/>
                </a:solidFill>
                <a:latin typeface="IBM Plex Sans Arabic"/>
                <a:ea typeface="IBM Plex Sans Arabic"/>
                <a:cs typeface="IBM Plex Sans Arabic"/>
              </a:rPr>
              <a:t>مسح eNPS وبرامج القادة</a:t>
            </a:r>
          </a:p>
        </p:txBody>
      </p:sp>
      <p:sp>
        <p:nvSpPr>
          <p:cNvPr id="14" name="Rectangle 13"/>
          <p:cNvSpPr/>
          <p:nvPr/>
        </p:nvSpPr>
        <p:spPr>
          <a:xfrm>
            <a:off x="566928" y="4480560"/>
            <a:ext cx="11064240" cy="12700"/>
          </a:xfrm>
          <a:prstGeom prst="rect">
            <a:avLst/>
          </a:prstGeom>
          <a:solidFill>
            <a:srgbClr val="C5C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4937759"/>
            <a:ext cx="1188720" cy="365760"/>
          </a:xfrm>
          <a:prstGeom prst="rect">
            <a:avLst/>
          </a:prstGeom>
          <a:noFill/>
        </p:spPr>
        <p:txBody>
          <a:bodyPr wrap="square" anchor="t"/>
          <a:lstStyle/>
          <a:p>
            <a:pPr rtl="1" algn="r"/>
            <a:r>
              <a:rPr sz="1800" b="1">
                <a:solidFill>
                  <a:srgbClr val="00512F"/>
                </a:solidFill>
                <a:latin typeface="IBM Plex Sans"/>
                <a:ea typeface="IBM Plex Sans"/>
                <a:cs typeface="IBM Plex Sans"/>
              </a:rPr>
              <a:t>Q4</a:t>
            </a:r>
          </a:p>
        </p:txBody>
      </p:sp>
      <p:sp>
        <p:nvSpPr>
          <p:cNvPr id="16" name="TextBox 15"/>
          <p:cNvSpPr txBox="1"/>
          <p:nvPr/>
        </p:nvSpPr>
        <p:spPr>
          <a:xfrm>
            <a:off x="2011680" y="4901183"/>
            <a:ext cx="9509760" cy="457200"/>
          </a:xfrm>
          <a:prstGeom prst="rect">
            <a:avLst/>
          </a:prstGeom>
          <a:noFill/>
        </p:spPr>
        <p:txBody>
          <a:bodyPr wrap="square" anchor="t"/>
          <a:lstStyle/>
          <a:p>
            <a:pPr rtl="1" algn="r"/>
            <a:r>
              <a:rPr sz="2200" b="0">
                <a:solidFill>
                  <a:srgbClr val="0C100E"/>
                </a:solidFill>
                <a:latin typeface="IBM Plex Sans Arabic"/>
                <a:ea typeface="IBM Plex Sans Arabic"/>
                <a:cs typeface="IBM Plex Sans Arabic"/>
              </a:rPr>
              <a:t>معايرة الأداء وتخطيط القوة للعام التالي</a:t>
            </a:r>
          </a:p>
        </p:txBody>
      </p:sp>
      <p:sp>
        <p:nvSpPr>
          <p:cNvPr id="17" name="Rectangle 16"/>
          <p:cNvSpPr/>
          <p:nvPr/>
        </p:nvSpPr>
        <p:spPr>
          <a:xfrm>
            <a:off x="566928" y="5532119"/>
            <a:ext cx="11064240" cy="12700"/>
          </a:xfrm>
          <a:prstGeom prst="rect">
            <a:avLst/>
          </a:prstGeom>
          <a:solidFill>
            <a:srgbClr val="C5C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6510528"/>
            <a:ext cx="4572000" cy="256032"/>
          </a:xfrm>
          <a:prstGeom prst="rect">
            <a:avLst/>
          </a:prstGeom>
          <a:noFill/>
        </p:spPr>
        <p:txBody>
          <a:bodyPr wrap="square" anchor="t"/>
          <a:lstStyle/>
          <a:p>
            <a:pPr rtl="1" algn="r"/>
            <a:r>
              <a:rPr sz="1100" b="0">
                <a:solidFill>
                  <a:srgbClr val="6A706C"/>
                </a:solidFill>
                <a:latin typeface="IBM Plex Sans Arabic"/>
                <a:ea typeface="IBM Plex Sans Arabic"/>
                <a:cs typeface="IBM Plex Sans Arabic"/>
              </a:rPr>
              <a:t>روتانا  ·  الموارد البشرية</a:t>
            </a:r>
          </a:p>
        </p:txBody>
      </p:sp>
      <p:sp>
        <p:nvSpPr>
          <p:cNvPr id="19" name="TextBox 18"/>
          <p:cNvSpPr txBox="1"/>
          <p:nvPr/>
        </p:nvSpPr>
        <p:spPr>
          <a:xfrm>
            <a:off x="9509760" y="6510528"/>
            <a:ext cx="2103120" cy="256032"/>
          </a:xfrm>
          <a:prstGeom prst="rect">
            <a:avLst/>
          </a:prstGeom>
          <a:noFill/>
        </p:spPr>
        <p:txBody>
          <a:bodyPr wrap="square" anchor="t"/>
          <a:lstStyle/>
          <a:p>
            <a:pPr rtl="1" algn="l"/>
            <a:r>
              <a:rPr sz="1100" b="0">
                <a:solidFill>
                  <a:srgbClr val="6A706C"/>
                </a:solidFill>
                <a:latin typeface="IBM Plex Mono"/>
                <a:ea typeface="IBM Plex Mono"/>
                <a:cs typeface="IBM Plex Mono"/>
              </a:rPr>
              <a:t>19  /  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640080" cy="274320"/>
          </a:xfrm>
          <a:prstGeom prst="rect">
            <a:avLst/>
          </a:prstGeom>
          <a:noFill/>
        </p:spPr>
        <p:txBody>
          <a:bodyPr wrap="square" anchor="t"/>
          <a:lstStyle/>
          <a:p>
            <a:pPr rtl="1" algn="r"/>
            <a:r>
              <a:rPr sz="1100" b="0">
                <a:solidFill>
                  <a:srgbClr val="00512F"/>
                </a:solidFill>
                <a:latin typeface="IBM Plex Mono"/>
                <a:ea typeface="IBM Plex Mono"/>
                <a:cs typeface="IBM Plex Mono"/>
              </a:rPr>
              <a:t>٢٠</a:t>
            </a:r>
          </a:p>
        </p:txBody>
      </p:sp>
      <p:sp>
        <p:nvSpPr>
          <p:cNvPr id="4" name="TextBox 3"/>
          <p:cNvSpPr txBox="1"/>
          <p:nvPr/>
        </p:nvSpPr>
        <p:spPr>
          <a:xfrm>
            <a:off x="1234440" y="384048"/>
            <a:ext cx="10058400" cy="256032"/>
          </a:xfrm>
          <a:prstGeom prst="rect">
            <a:avLst/>
          </a:prstGeom>
          <a:noFill/>
        </p:spPr>
        <p:txBody>
          <a:bodyPr wrap="square" anchor="t"/>
          <a:lstStyle/>
          <a:p>
            <a:pPr rtl="1" algn="r"/>
            <a:r>
              <a:rPr sz="1100" b="0">
                <a:solidFill>
                  <a:srgbClr val="00512F"/>
                </a:solidFill>
                <a:latin typeface="IBM Plex Sans"/>
                <a:ea typeface="IBM Plex Sans"/>
                <a:cs typeface="IBM Plex Sans"/>
              </a:rPr>
              <a:t>فريق القيادة</a:t>
            </a:r>
          </a:p>
        </p:txBody>
      </p:sp>
      <p:sp>
        <p:nvSpPr>
          <p:cNvPr id="5" name="TextBox 4"/>
          <p:cNvSpPr txBox="1"/>
          <p:nvPr/>
        </p:nvSpPr>
        <p:spPr>
          <a:xfrm>
            <a:off x="1234440" y="621792"/>
            <a:ext cx="10241280" cy="640080"/>
          </a:xfrm>
          <a:prstGeom prst="rect">
            <a:avLst/>
          </a:prstGeom>
          <a:noFill/>
        </p:spPr>
        <p:txBody>
          <a:bodyPr wrap="square" anchor="t"/>
          <a:lstStyle/>
          <a:p>
            <a:pPr rtl="1" algn="r"/>
            <a:r>
              <a:rPr sz="2800" b="0">
                <a:solidFill>
                  <a:srgbClr val="0C100E"/>
                </a:solidFill>
                <a:latin typeface="Amiri"/>
                <a:ea typeface="Amiri"/>
                <a:cs typeface="Amiri"/>
              </a:rPr>
              <a:t>استبدل الصورة. أبقِ الإطار.</a:t>
            </a:r>
          </a:p>
        </p:txBody>
      </p:sp>
      <p:pic>
        <p:nvPicPr>
          <p:cNvPr id="6" name="Picture 5" descr="circle-01.png"/>
          <p:cNvPicPr>
            <a:picLocks noChangeAspect="1"/>
          </p:cNvPicPr>
          <p:nvPr/>
        </p:nvPicPr>
        <p:blipFill>
          <a:blip r:embed="rId2"/>
          <a:stretch>
            <a:fillRect/>
          </a:stretch>
        </p:blipFill>
        <p:spPr>
          <a:xfrm>
            <a:off x="795528" y="1554480"/>
            <a:ext cx="2240280" cy="2240280"/>
          </a:xfrm>
          <a:prstGeom prst="ellipse">
            <a:avLst/>
          </a:prstGeom>
        </p:spPr>
      </p:pic>
      <p:sp>
        <p:nvSpPr>
          <p:cNvPr id="7" name="TextBox 6"/>
          <p:cNvSpPr txBox="1"/>
          <p:nvPr/>
        </p:nvSpPr>
        <p:spPr>
          <a:xfrm>
            <a:off x="566928" y="3977639"/>
            <a:ext cx="2697480" cy="320040"/>
          </a:xfrm>
          <a:prstGeom prst="rect">
            <a:avLst/>
          </a:prstGeom>
          <a:noFill/>
        </p:spPr>
        <p:txBody>
          <a:bodyPr wrap="square" anchor="t"/>
          <a:lstStyle/>
          <a:p>
            <a:pPr rtl="1" algn="ctr"/>
            <a:r>
              <a:rPr sz="1600" b="1">
                <a:solidFill>
                  <a:srgbClr val="0C100E"/>
                </a:solidFill>
                <a:latin typeface="IBM Plex Sans Arabic"/>
                <a:ea typeface="IBM Plex Sans Arabic"/>
                <a:cs typeface="IBM Plex Sans Arabic"/>
              </a:rPr>
              <a:t>الاسم</a:t>
            </a:r>
          </a:p>
        </p:txBody>
      </p:sp>
      <p:sp>
        <p:nvSpPr>
          <p:cNvPr id="8" name="TextBox 7"/>
          <p:cNvSpPr txBox="1"/>
          <p:nvPr/>
        </p:nvSpPr>
        <p:spPr>
          <a:xfrm>
            <a:off x="566928" y="4297680"/>
            <a:ext cx="2697480" cy="320040"/>
          </a:xfrm>
          <a:prstGeom prst="rect">
            <a:avLst/>
          </a:prstGeom>
          <a:noFill/>
        </p:spPr>
        <p:txBody>
          <a:bodyPr wrap="square" anchor="t"/>
          <a:lstStyle/>
          <a:p>
            <a:pPr rtl="1" algn="ctr"/>
            <a:r>
              <a:rPr sz="1300" b="0">
                <a:solidFill>
                  <a:srgbClr val="6A706C"/>
                </a:solidFill>
                <a:latin typeface="IBM Plex Sans Arabic"/>
                <a:ea typeface="IBM Plex Sans Arabic"/>
                <a:cs typeface="IBM Plex Sans Arabic"/>
              </a:rPr>
              <a:t>رئيس الموارد البشرية</a:t>
            </a:r>
          </a:p>
        </p:txBody>
      </p:sp>
      <p:pic>
        <p:nvPicPr>
          <p:cNvPr id="9" name="Picture 8" descr="circle-01.png"/>
          <p:cNvPicPr>
            <a:picLocks noChangeAspect="1"/>
          </p:cNvPicPr>
          <p:nvPr/>
        </p:nvPicPr>
        <p:blipFill>
          <a:blip r:embed="rId2"/>
          <a:stretch>
            <a:fillRect/>
          </a:stretch>
        </p:blipFill>
        <p:spPr>
          <a:xfrm>
            <a:off x="3675888" y="1554480"/>
            <a:ext cx="2240280" cy="2240280"/>
          </a:xfrm>
          <a:prstGeom prst="ellipse">
            <a:avLst/>
          </a:prstGeom>
        </p:spPr>
      </p:pic>
      <p:sp>
        <p:nvSpPr>
          <p:cNvPr id="10" name="TextBox 9"/>
          <p:cNvSpPr txBox="1"/>
          <p:nvPr/>
        </p:nvSpPr>
        <p:spPr>
          <a:xfrm>
            <a:off x="3447288" y="3977639"/>
            <a:ext cx="2697480" cy="320040"/>
          </a:xfrm>
          <a:prstGeom prst="rect">
            <a:avLst/>
          </a:prstGeom>
          <a:noFill/>
        </p:spPr>
        <p:txBody>
          <a:bodyPr wrap="square" anchor="t"/>
          <a:lstStyle/>
          <a:p>
            <a:pPr rtl="1" algn="ctr"/>
            <a:r>
              <a:rPr sz="1600" b="1">
                <a:solidFill>
                  <a:srgbClr val="0C100E"/>
                </a:solidFill>
                <a:latin typeface="IBM Plex Sans Arabic"/>
                <a:ea typeface="IBM Plex Sans Arabic"/>
                <a:cs typeface="IBM Plex Sans Arabic"/>
              </a:rPr>
              <a:t>الاسم</a:t>
            </a:r>
          </a:p>
        </p:txBody>
      </p:sp>
      <p:sp>
        <p:nvSpPr>
          <p:cNvPr id="11" name="TextBox 10"/>
          <p:cNvSpPr txBox="1"/>
          <p:nvPr/>
        </p:nvSpPr>
        <p:spPr>
          <a:xfrm>
            <a:off x="3447288" y="4297680"/>
            <a:ext cx="2697480" cy="320040"/>
          </a:xfrm>
          <a:prstGeom prst="rect">
            <a:avLst/>
          </a:prstGeom>
          <a:noFill/>
        </p:spPr>
        <p:txBody>
          <a:bodyPr wrap="square" anchor="t"/>
          <a:lstStyle/>
          <a:p>
            <a:pPr rtl="1" algn="ctr"/>
            <a:r>
              <a:rPr sz="1300" b="0">
                <a:solidFill>
                  <a:srgbClr val="6A706C"/>
                </a:solidFill>
                <a:latin typeface="IBM Plex Sans Arabic"/>
                <a:ea typeface="IBM Plex Sans Arabic"/>
                <a:cs typeface="IBM Plex Sans Arabic"/>
              </a:rPr>
              <a:t>الاستقطاب</a:t>
            </a:r>
          </a:p>
        </p:txBody>
      </p:sp>
      <p:pic>
        <p:nvPicPr>
          <p:cNvPr id="12" name="Picture 11" descr="circle-01.png"/>
          <p:cNvPicPr>
            <a:picLocks noChangeAspect="1"/>
          </p:cNvPicPr>
          <p:nvPr/>
        </p:nvPicPr>
        <p:blipFill>
          <a:blip r:embed="rId2"/>
          <a:stretch>
            <a:fillRect/>
          </a:stretch>
        </p:blipFill>
        <p:spPr>
          <a:xfrm>
            <a:off x="6556248" y="1554480"/>
            <a:ext cx="2240280" cy="2240280"/>
          </a:xfrm>
          <a:prstGeom prst="ellipse">
            <a:avLst/>
          </a:prstGeom>
        </p:spPr>
      </p:pic>
      <p:sp>
        <p:nvSpPr>
          <p:cNvPr id="13" name="TextBox 12"/>
          <p:cNvSpPr txBox="1"/>
          <p:nvPr/>
        </p:nvSpPr>
        <p:spPr>
          <a:xfrm>
            <a:off x="6327648" y="3977639"/>
            <a:ext cx="2697480" cy="320040"/>
          </a:xfrm>
          <a:prstGeom prst="rect">
            <a:avLst/>
          </a:prstGeom>
          <a:noFill/>
        </p:spPr>
        <p:txBody>
          <a:bodyPr wrap="square" anchor="t"/>
          <a:lstStyle/>
          <a:p>
            <a:pPr rtl="1" algn="ctr"/>
            <a:r>
              <a:rPr sz="1600" b="1">
                <a:solidFill>
                  <a:srgbClr val="0C100E"/>
                </a:solidFill>
                <a:latin typeface="IBM Plex Sans Arabic"/>
                <a:ea typeface="IBM Plex Sans Arabic"/>
                <a:cs typeface="IBM Plex Sans Arabic"/>
              </a:rPr>
              <a:t>الاسم</a:t>
            </a:r>
          </a:p>
        </p:txBody>
      </p:sp>
      <p:sp>
        <p:nvSpPr>
          <p:cNvPr id="14" name="TextBox 13"/>
          <p:cNvSpPr txBox="1"/>
          <p:nvPr/>
        </p:nvSpPr>
        <p:spPr>
          <a:xfrm>
            <a:off x="6327648" y="4297680"/>
            <a:ext cx="2697480" cy="320040"/>
          </a:xfrm>
          <a:prstGeom prst="rect">
            <a:avLst/>
          </a:prstGeom>
          <a:noFill/>
        </p:spPr>
        <p:txBody>
          <a:bodyPr wrap="square" anchor="t"/>
          <a:lstStyle/>
          <a:p>
            <a:pPr rtl="1" algn="ctr"/>
            <a:r>
              <a:rPr sz="1300" b="0">
                <a:solidFill>
                  <a:srgbClr val="6A706C"/>
                </a:solidFill>
                <a:latin typeface="IBM Plex Sans Arabic"/>
                <a:ea typeface="IBM Plex Sans Arabic"/>
                <a:cs typeface="IBM Plex Sans Arabic"/>
              </a:rPr>
              <a:t>التطوير والأداء</a:t>
            </a:r>
          </a:p>
        </p:txBody>
      </p:sp>
      <p:pic>
        <p:nvPicPr>
          <p:cNvPr id="15" name="Picture 14" descr="circle-01.png"/>
          <p:cNvPicPr>
            <a:picLocks noChangeAspect="1"/>
          </p:cNvPicPr>
          <p:nvPr/>
        </p:nvPicPr>
        <p:blipFill>
          <a:blip r:embed="rId2"/>
          <a:stretch>
            <a:fillRect/>
          </a:stretch>
        </p:blipFill>
        <p:spPr>
          <a:xfrm>
            <a:off x="9436608" y="1554480"/>
            <a:ext cx="2240280" cy="2240280"/>
          </a:xfrm>
          <a:prstGeom prst="ellipse">
            <a:avLst/>
          </a:prstGeom>
        </p:spPr>
      </p:pic>
      <p:sp>
        <p:nvSpPr>
          <p:cNvPr id="16" name="TextBox 15"/>
          <p:cNvSpPr txBox="1"/>
          <p:nvPr/>
        </p:nvSpPr>
        <p:spPr>
          <a:xfrm>
            <a:off x="9208008" y="3977639"/>
            <a:ext cx="2697480" cy="320040"/>
          </a:xfrm>
          <a:prstGeom prst="rect">
            <a:avLst/>
          </a:prstGeom>
          <a:noFill/>
        </p:spPr>
        <p:txBody>
          <a:bodyPr wrap="square" anchor="t"/>
          <a:lstStyle/>
          <a:p>
            <a:pPr rtl="1" algn="ctr"/>
            <a:r>
              <a:rPr sz="1600" b="1">
                <a:solidFill>
                  <a:srgbClr val="0C100E"/>
                </a:solidFill>
                <a:latin typeface="IBM Plex Sans Arabic"/>
                <a:ea typeface="IBM Plex Sans Arabic"/>
                <a:cs typeface="IBM Plex Sans Arabic"/>
              </a:rPr>
              <a:t>الاسم</a:t>
            </a:r>
          </a:p>
        </p:txBody>
      </p:sp>
      <p:sp>
        <p:nvSpPr>
          <p:cNvPr id="17" name="TextBox 16"/>
          <p:cNvSpPr txBox="1"/>
          <p:nvPr/>
        </p:nvSpPr>
        <p:spPr>
          <a:xfrm>
            <a:off x="9208008" y="4297680"/>
            <a:ext cx="2697480" cy="320040"/>
          </a:xfrm>
          <a:prstGeom prst="rect">
            <a:avLst/>
          </a:prstGeom>
          <a:noFill/>
        </p:spPr>
        <p:txBody>
          <a:bodyPr wrap="square" anchor="t"/>
          <a:lstStyle/>
          <a:p>
            <a:pPr rtl="1" algn="ctr"/>
            <a:r>
              <a:rPr sz="1300" b="0">
                <a:solidFill>
                  <a:srgbClr val="6A706C"/>
                </a:solidFill>
                <a:latin typeface="IBM Plex Sans Arabic"/>
                <a:ea typeface="IBM Plex Sans Arabic"/>
                <a:cs typeface="IBM Plex Sans Arabic"/>
              </a:rPr>
              <a:t>المزايا والثقافة</a:t>
            </a:r>
          </a:p>
        </p:txBody>
      </p:sp>
      <p:sp>
        <p:nvSpPr>
          <p:cNvPr id="18" name="TextBox 17"/>
          <p:cNvSpPr txBox="1"/>
          <p:nvPr/>
        </p:nvSpPr>
        <p:spPr>
          <a:xfrm>
            <a:off x="566928" y="6510528"/>
            <a:ext cx="4572000" cy="256032"/>
          </a:xfrm>
          <a:prstGeom prst="rect">
            <a:avLst/>
          </a:prstGeom>
          <a:noFill/>
        </p:spPr>
        <p:txBody>
          <a:bodyPr wrap="square" anchor="t"/>
          <a:lstStyle/>
          <a:p>
            <a:pPr rtl="1" algn="r"/>
            <a:r>
              <a:rPr sz="1100" b="0">
                <a:solidFill>
                  <a:srgbClr val="6A706C"/>
                </a:solidFill>
                <a:latin typeface="IBM Plex Sans Arabic"/>
                <a:ea typeface="IBM Plex Sans Arabic"/>
                <a:cs typeface="IBM Plex Sans Arabic"/>
              </a:rPr>
              <a:t>روتانا  ·  الموارد البشرية</a:t>
            </a:r>
          </a:p>
        </p:txBody>
      </p:sp>
      <p:sp>
        <p:nvSpPr>
          <p:cNvPr id="19" name="TextBox 18"/>
          <p:cNvSpPr txBox="1"/>
          <p:nvPr/>
        </p:nvSpPr>
        <p:spPr>
          <a:xfrm>
            <a:off x="9509760" y="6510528"/>
            <a:ext cx="2103120" cy="256032"/>
          </a:xfrm>
          <a:prstGeom prst="rect">
            <a:avLst/>
          </a:prstGeom>
          <a:noFill/>
        </p:spPr>
        <p:txBody>
          <a:bodyPr wrap="square" anchor="t"/>
          <a:lstStyle/>
          <a:p>
            <a:pPr rtl="1" algn="l"/>
            <a:r>
              <a:rPr sz="1100" b="0">
                <a:solidFill>
                  <a:srgbClr val="6A706C"/>
                </a:solidFill>
                <a:latin typeface="IBM Plex Mono"/>
                <a:ea typeface="IBM Plex Mono"/>
                <a:cs typeface="IBM Plex Mono"/>
              </a:rPr>
              <a:t>20  /  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C1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280160"/>
            <a:ext cx="2743200" cy="1005840"/>
          </a:xfrm>
          <a:prstGeom prst="rect">
            <a:avLst/>
          </a:prstGeom>
          <a:noFill/>
        </p:spPr>
        <p:txBody>
          <a:bodyPr wrap="square" anchor="t"/>
          <a:lstStyle/>
          <a:p>
            <a:pPr rtl="1" algn="r"/>
            <a:r>
              <a:rPr sz="8000" b="0">
                <a:solidFill>
                  <a:srgbClr val="00512F"/>
                </a:solidFill>
                <a:latin typeface="Amiri"/>
                <a:ea typeface="Amiri"/>
                <a:cs typeface="Amiri"/>
              </a:rPr>
              <a:t>«</a:t>
            </a:r>
          </a:p>
        </p:txBody>
      </p:sp>
      <p:sp>
        <p:nvSpPr>
          <p:cNvPr id="4" name="TextBox 3"/>
          <p:cNvSpPr txBox="1"/>
          <p:nvPr/>
        </p:nvSpPr>
        <p:spPr>
          <a:xfrm>
            <a:off x="566928" y="2286000"/>
            <a:ext cx="10789920" cy="2194560"/>
          </a:xfrm>
          <a:prstGeom prst="rect">
            <a:avLst/>
          </a:prstGeom>
          <a:noFill/>
        </p:spPr>
        <p:txBody>
          <a:bodyPr wrap="square" anchor="t"/>
          <a:lstStyle/>
          <a:p>
            <a:pPr rtl="1" algn="r"/>
            <a:r>
              <a:rPr sz="3200" b="0">
                <a:solidFill>
                  <a:srgbClr val="FFFFFF"/>
                </a:solidFill>
                <a:latin typeface="Amiri"/>
                <a:ea typeface="Amiri"/>
                <a:cs typeface="Amiri"/>
              </a:rPr>
              <a:t>العلامة تُسمَع في الأغنية، وتُرى فيمن يفتح الباب في اليوم الأول.</a:t>
            </a:r>
          </a:p>
        </p:txBody>
      </p:sp>
      <p:sp>
        <p:nvSpPr>
          <p:cNvPr id="5" name="TextBox 4"/>
          <p:cNvSpPr txBox="1"/>
          <p:nvPr/>
        </p:nvSpPr>
        <p:spPr>
          <a:xfrm>
            <a:off x="566928" y="4754880"/>
            <a:ext cx="9144000" cy="320040"/>
          </a:xfrm>
          <a:prstGeom prst="rect">
            <a:avLst/>
          </a:prstGeom>
          <a:noFill/>
        </p:spPr>
        <p:txBody>
          <a:bodyPr wrap="square" anchor="t"/>
          <a:lstStyle/>
          <a:p>
            <a:pPr rtl="1" algn="r"/>
            <a:r>
              <a:rPr sz="1200" b="0">
                <a:solidFill>
                  <a:srgbClr val="B8C0B0"/>
                </a:solidFill>
                <a:latin typeface="IBM Plex Sans"/>
                <a:ea typeface="IBM Plex Sans"/>
                <a:cs typeface="IBM Plex Sans"/>
              </a:rPr>
              <a:t>ROTANA  ·  HUMAN RESOURCES</a:t>
            </a:r>
          </a:p>
        </p:txBody>
      </p:sp>
      <p:sp>
        <p:nvSpPr>
          <p:cNvPr id="6" name="TextBox 5"/>
          <p:cNvSpPr txBox="1"/>
          <p:nvPr/>
        </p:nvSpPr>
        <p:spPr>
          <a:xfrm>
            <a:off x="566928" y="6510528"/>
            <a:ext cx="4572000" cy="256032"/>
          </a:xfrm>
          <a:prstGeom prst="rect">
            <a:avLst/>
          </a:prstGeom>
          <a:noFill/>
        </p:spPr>
        <p:txBody>
          <a:bodyPr wrap="square" anchor="t"/>
          <a:lstStyle/>
          <a:p>
            <a:pPr rtl="1" algn="r"/>
            <a:r>
              <a:rPr sz="1100" b="0">
                <a:solidFill>
                  <a:srgbClr val="B8C0B0"/>
                </a:solidFill>
                <a:latin typeface="IBM Plex Sans Arabic"/>
                <a:ea typeface="IBM Plex Sans Arabic"/>
                <a:cs typeface="IBM Plex Sans Arabic"/>
              </a:rPr>
              <a:t>روتانا  ·  الموارد البشرية</a:t>
            </a:r>
          </a:p>
        </p:txBody>
      </p:sp>
      <p:sp>
        <p:nvSpPr>
          <p:cNvPr id="7" name="TextBox 6"/>
          <p:cNvSpPr txBox="1"/>
          <p:nvPr/>
        </p:nvSpPr>
        <p:spPr>
          <a:xfrm>
            <a:off x="9509760" y="6510528"/>
            <a:ext cx="2103120" cy="256032"/>
          </a:xfrm>
          <a:prstGeom prst="rect">
            <a:avLst/>
          </a:prstGeom>
          <a:noFill/>
        </p:spPr>
        <p:txBody>
          <a:bodyPr wrap="square" anchor="t"/>
          <a:lstStyle/>
          <a:p>
            <a:pPr rtl="1" algn="l"/>
            <a:r>
              <a:rPr sz="1100" b="0">
                <a:solidFill>
                  <a:srgbClr val="B8C0B0"/>
                </a:solidFill>
                <a:latin typeface="IBM Plex Mono"/>
                <a:ea typeface="IBM Plex Mono"/>
                <a:cs typeface="IBM Plex Mono"/>
              </a:rPr>
              <a:t>21  /  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640080" cy="274320"/>
          </a:xfrm>
          <a:prstGeom prst="rect">
            <a:avLst/>
          </a:prstGeom>
          <a:noFill/>
        </p:spPr>
        <p:txBody>
          <a:bodyPr wrap="square" anchor="t"/>
          <a:lstStyle/>
          <a:p>
            <a:pPr rtl="1" algn="r"/>
            <a:r>
              <a:rPr sz="1100" b="0">
                <a:solidFill>
                  <a:srgbClr val="00512F"/>
                </a:solidFill>
                <a:latin typeface="IBM Plex Mono"/>
                <a:ea typeface="IBM Plex Mono"/>
                <a:cs typeface="IBM Plex Mono"/>
              </a:rPr>
              <a:t>٢٢</a:t>
            </a:r>
          </a:p>
        </p:txBody>
      </p:sp>
      <p:sp>
        <p:nvSpPr>
          <p:cNvPr id="4" name="TextBox 3"/>
          <p:cNvSpPr txBox="1"/>
          <p:nvPr/>
        </p:nvSpPr>
        <p:spPr>
          <a:xfrm>
            <a:off x="1234440" y="384048"/>
            <a:ext cx="10058400" cy="256032"/>
          </a:xfrm>
          <a:prstGeom prst="rect">
            <a:avLst/>
          </a:prstGeom>
          <a:noFill/>
        </p:spPr>
        <p:txBody>
          <a:bodyPr wrap="square" anchor="t"/>
          <a:lstStyle/>
          <a:p>
            <a:pPr rtl="1" algn="r"/>
            <a:r>
              <a:rPr sz="1100" b="0">
                <a:solidFill>
                  <a:srgbClr val="00512F"/>
                </a:solidFill>
                <a:latin typeface="IBM Plex Sans"/>
                <a:ea typeface="IBM Plex Sans"/>
                <a:cs typeface="IBM Plex Sans"/>
              </a:rPr>
              <a:t>مقارنة مسارات</a:t>
            </a:r>
          </a:p>
        </p:txBody>
      </p:sp>
      <p:sp>
        <p:nvSpPr>
          <p:cNvPr id="5" name="TextBox 4"/>
          <p:cNvSpPr txBox="1"/>
          <p:nvPr/>
        </p:nvSpPr>
        <p:spPr>
          <a:xfrm>
            <a:off x="1234440" y="621792"/>
            <a:ext cx="10241280" cy="640080"/>
          </a:xfrm>
          <a:prstGeom prst="rect">
            <a:avLst/>
          </a:prstGeom>
          <a:noFill/>
        </p:spPr>
        <p:txBody>
          <a:bodyPr wrap="square" anchor="t"/>
          <a:lstStyle/>
          <a:p>
            <a:pPr rtl="1" algn="r"/>
            <a:r>
              <a:rPr sz="2800" b="0">
                <a:solidFill>
                  <a:srgbClr val="0C100E"/>
                </a:solidFill>
                <a:latin typeface="Amiri"/>
                <a:ea typeface="Amiri"/>
                <a:cs typeface="Amiri"/>
              </a:rPr>
              <a:t>قبل / بعد إعادة تصميم التهيئة.</a:t>
            </a:r>
          </a:p>
        </p:txBody>
      </p:sp>
      <p:graphicFrame>
        <p:nvGraphicFramePr>
          <p:cNvPr id="6" name="Table 5"/>
          <p:cNvGraphicFramePr>
            <a:graphicFrameLocks noGrp="1"/>
          </p:cNvGraphicFramePr>
          <p:nvPr/>
        </p:nvGraphicFramePr>
        <p:xfrm>
          <a:off x="566928" y="1600200"/>
          <a:ext cx="11064240" cy="4023360"/>
        </p:xfrm>
        <a:graphic>
          <a:graphicData uri="http://schemas.openxmlformats.org/drawingml/2006/table">
            <a:tbl>
              <a:tblPr firstRow="1" bandRow="1">
                <a:tableStyleId>{5C22544A-7EE6-4342-B048-85BDC9FD1C3A}</a:tableStyleId>
              </a:tblPr>
              <a:tblGrid>
                <a:gridCol w="2194560"/>
                <a:gridCol w="4434840"/>
                <a:gridCol w="4434840"/>
              </a:tblGrid>
              <a:tr h="804672">
                <a:tc>
                  <a:txBody>
                    <a:bodyPr/>
                    <a:lstStyle/>
                    <a:p>
                      <a:pPr rtl="1" algn="r"/>
                      <a:r>
                        <a:rPr sz="1200" b="1">
                          <a:solidFill>
                            <a:srgbClr val="00512F"/>
                          </a:solidFill>
                          <a:latin typeface="IBM Plex Sans"/>
                          <a:ea typeface="IBM Plex Sans"/>
                          <a:cs typeface="IBM Plex Sans"/>
                        </a:rPr>
                        <a:t/>
                      </a:r>
                    </a:p>
                  </a:txBody>
                  <a:tcPr>
                    <a:solidFill>
                      <a:srgbClr val="F7F6F3"/>
                    </a:solidFill>
                  </a:tcPr>
                </a:tc>
                <a:tc>
                  <a:txBody>
                    <a:bodyPr/>
                    <a:lstStyle/>
                    <a:p>
                      <a:pPr rtl="1" algn="r"/>
                      <a:r>
                        <a:rPr sz="1200" b="1">
                          <a:solidFill>
                            <a:srgbClr val="00512F"/>
                          </a:solidFill>
                          <a:latin typeface="IBM Plex Sans"/>
                          <a:ea typeface="IBM Plex Sans"/>
                          <a:cs typeface="IBM Plex Sans"/>
                        </a:rPr>
                        <a:t>سابقًا</a:t>
                      </a:r>
                    </a:p>
                  </a:txBody>
                  <a:tcPr>
                    <a:solidFill>
                      <a:srgbClr val="F7F6F3"/>
                    </a:solidFill>
                  </a:tcPr>
                </a:tc>
                <a:tc>
                  <a:txBody>
                    <a:bodyPr/>
                    <a:lstStyle/>
                    <a:p>
                      <a:pPr rtl="1" algn="r"/>
                      <a:r>
                        <a:rPr sz="1200" b="1">
                          <a:solidFill>
                            <a:srgbClr val="00512F"/>
                          </a:solidFill>
                          <a:latin typeface="IBM Plex Sans"/>
                          <a:ea typeface="IBM Plex Sans"/>
                          <a:cs typeface="IBM Plex Sans"/>
                        </a:rPr>
                        <a:t>الآن</a:t>
                      </a:r>
                    </a:p>
                  </a:txBody>
                  <a:tcPr>
                    <a:solidFill>
                      <a:srgbClr val="F7F6F3"/>
                    </a:solidFill>
                  </a:tcPr>
                </a:tc>
              </a:tr>
              <a:tr h="804672">
                <a:tc>
                  <a:txBody>
                    <a:bodyPr/>
                    <a:lstStyle/>
                    <a:p>
                      <a:pPr rtl="1" algn="r"/>
                      <a:r>
                        <a:rPr sz="1500" b="1">
                          <a:solidFill>
                            <a:srgbClr val="0C100E"/>
                          </a:solidFill>
                          <a:latin typeface="IBM Plex Sans Arabic"/>
                          <a:ea typeface="IBM Plex Sans Arabic"/>
                          <a:cs typeface="IBM Plex Sans Arabic"/>
                        </a:rPr>
                        <a:t>أول يوم</a:t>
                      </a:r>
                    </a:p>
                  </a:txBody>
                  <a:tcPr>
                    <a:solidFill>
                      <a:srgbClr val="F0EFEC"/>
                    </a:solidFill>
                  </a:tcPr>
                </a:tc>
                <a:tc>
                  <a:txBody>
                    <a:bodyPr/>
                    <a:lstStyle/>
                    <a:p>
                      <a:pPr rtl="1" algn="r"/>
                      <a:r>
                        <a:rPr sz="1500" b="0">
                          <a:solidFill>
                            <a:srgbClr val="0C100E"/>
                          </a:solidFill>
                          <a:latin typeface="IBM Plex Sans Arabic"/>
                          <a:ea typeface="IBM Plex Sans Arabic"/>
                          <a:cs typeface="IBM Plex Sans Arabic"/>
                        </a:rPr>
                        <a:t>أوراق وتوقيع</a:t>
                      </a:r>
                    </a:p>
                  </a:txBody>
                  <a:tcPr>
                    <a:solidFill>
                      <a:srgbClr val="F0EFEC"/>
                    </a:solidFill>
                  </a:tcPr>
                </a:tc>
                <a:tc>
                  <a:txBody>
                    <a:bodyPr/>
                    <a:lstStyle/>
                    <a:p>
                      <a:pPr rtl="1" algn="r"/>
                      <a:r>
                        <a:rPr sz="1500" b="0">
                          <a:solidFill>
                            <a:srgbClr val="0C100E"/>
                          </a:solidFill>
                          <a:latin typeface="IBM Plex Sans Arabic"/>
                          <a:ea typeface="IBM Plex Sans Arabic"/>
                          <a:cs typeface="IBM Plex Sans Arabic"/>
                        </a:rPr>
                        <a:t>لقاء فريق + مشغّل العمل</a:t>
                      </a:r>
                    </a:p>
                  </a:txBody>
                  <a:tcPr>
                    <a:solidFill>
                      <a:srgbClr val="F0EFEC"/>
                    </a:solidFill>
                  </a:tcPr>
                </a:tc>
              </a:tr>
              <a:tr h="804672">
                <a:tc>
                  <a:txBody>
                    <a:bodyPr/>
                    <a:lstStyle/>
                    <a:p>
                      <a:pPr rtl="1" algn="r"/>
                      <a:r>
                        <a:rPr sz="1500" b="1">
                          <a:solidFill>
                            <a:srgbClr val="0C100E"/>
                          </a:solidFill>
                          <a:latin typeface="IBM Plex Sans Arabic"/>
                          <a:ea typeface="IBM Plex Sans Arabic"/>
                          <a:cs typeface="IBM Plex Sans Arabic"/>
                        </a:rPr>
                        <a:t>الأسبوع ١</a:t>
                      </a:r>
                    </a:p>
                  </a:txBody>
                  <a:tcPr>
                    <a:solidFill>
                      <a:srgbClr val="F7F6F3"/>
                    </a:solidFill>
                  </a:tcPr>
                </a:tc>
                <a:tc>
                  <a:txBody>
                    <a:bodyPr/>
                    <a:lstStyle/>
                    <a:p>
                      <a:pPr rtl="1" algn="r"/>
                      <a:r>
                        <a:rPr sz="1500" b="0">
                          <a:solidFill>
                            <a:srgbClr val="0C100E"/>
                          </a:solidFill>
                          <a:latin typeface="IBM Plex Sans Arabic"/>
                          <a:ea typeface="IBM Plex Sans Arabic"/>
                          <a:cs typeface="IBM Plex Sans Arabic"/>
                        </a:rPr>
                        <a:t>بريد تعريفي</a:t>
                      </a:r>
                    </a:p>
                  </a:txBody>
                  <a:tcPr>
                    <a:solidFill>
                      <a:srgbClr val="F7F6F3"/>
                    </a:solidFill>
                  </a:tcPr>
                </a:tc>
                <a:tc>
                  <a:txBody>
                    <a:bodyPr/>
                    <a:lstStyle/>
                    <a:p>
                      <a:pPr rtl="1" algn="r"/>
                      <a:r>
                        <a:rPr sz="1500" b="0">
                          <a:solidFill>
                            <a:srgbClr val="0C100E"/>
                          </a:solidFill>
                          <a:latin typeface="IBM Plex Sans Arabic"/>
                          <a:ea typeface="IBM Plex Sans Arabic"/>
                          <a:cs typeface="IBM Plex Sans Arabic"/>
                        </a:rPr>
                        <a:t>شريك تهيئة مسمّى</a:t>
                      </a:r>
                    </a:p>
                  </a:txBody>
                  <a:tcPr>
                    <a:solidFill>
                      <a:srgbClr val="F7F6F3"/>
                    </a:solidFill>
                  </a:tcPr>
                </a:tc>
              </a:tr>
              <a:tr h="804672">
                <a:tc>
                  <a:txBody>
                    <a:bodyPr/>
                    <a:lstStyle/>
                    <a:p>
                      <a:pPr rtl="1" algn="r"/>
                      <a:r>
                        <a:rPr sz="1500" b="1">
                          <a:solidFill>
                            <a:srgbClr val="0C100E"/>
                          </a:solidFill>
                          <a:latin typeface="IBM Plex Sans Arabic"/>
                          <a:ea typeface="IBM Plex Sans Arabic"/>
                          <a:cs typeface="IBM Plex Sans Arabic"/>
                        </a:rPr>
                        <a:t>اليوم ٣٠</a:t>
                      </a:r>
                    </a:p>
                  </a:txBody>
                  <a:tcPr>
                    <a:solidFill>
                      <a:srgbClr val="F0EFEC"/>
                    </a:solidFill>
                  </a:tcPr>
                </a:tc>
                <a:tc>
                  <a:txBody>
                    <a:bodyPr/>
                    <a:lstStyle/>
                    <a:p>
                      <a:pPr rtl="1" algn="r"/>
                      <a:r>
                        <a:rPr sz="1500" b="0">
                          <a:solidFill>
                            <a:srgbClr val="0C100E"/>
                          </a:solidFill>
                          <a:latin typeface="IBM Plex Sans Arabic"/>
                          <a:ea typeface="IBM Plex Sans Arabic"/>
                          <a:cs typeface="IBM Plex Sans Arabic"/>
                        </a:rPr>
                        <a:t>لا قياس</a:t>
                      </a:r>
                    </a:p>
                  </a:txBody>
                  <a:tcPr>
                    <a:solidFill>
                      <a:srgbClr val="F0EFEC"/>
                    </a:solidFill>
                  </a:tcPr>
                </a:tc>
                <a:tc>
                  <a:txBody>
                    <a:bodyPr/>
                    <a:lstStyle/>
                    <a:p>
                      <a:pPr rtl="1" algn="r"/>
                      <a:r>
                        <a:rPr sz="1500" b="0">
                          <a:solidFill>
                            <a:srgbClr val="0C100E"/>
                          </a:solidFill>
                          <a:latin typeface="IBM Plex Sans Arabic"/>
                          <a:ea typeface="IBM Plex Sans Arabic"/>
                          <a:cs typeface="IBM Plex Sans Arabic"/>
                        </a:rPr>
                        <a:t>مراجعة ٣٠ يومًا</a:t>
                      </a:r>
                    </a:p>
                  </a:txBody>
                  <a:tcPr>
                    <a:solidFill>
                      <a:srgbClr val="F0EFEC"/>
                    </a:solidFill>
                  </a:tcPr>
                </a:tc>
              </a:tr>
              <a:tr h="804672">
                <a:tc>
                  <a:txBody>
                    <a:bodyPr/>
                    <a:lstStyle/>
                    <a:p>
                      <a:pPr rtl="1" algn="r"/>
                      <a:r>
                        <a:rPr sz="1500" b="1">
                          <a:solidFill>
                            <a:srgbClr val="0C100E"/>
                          </a:solidFill>
                          <a:latin typeface="IBM Plex Sans Arabic"/>
                          <a:ea typeface="IBM Plex Sans Arabic"/>
                          <a:cs typeface="IBM Plex Sans Arabic"/>
                        </a:rPr>
                        <a:t>اليوم ٩٠</a:t>
                      </a:r>
                    </a:p>
                  </a:txBody>
                  <a:tcPr>
                    <a:solidFill>
                      <a:srgbClr val="F7F6F3"/>
                    </a:solidFill>
                  </a:tcPr>
                </a:tc>
                <a:tc>
                  <a:txBody>
                    <a:bodyPr/>
                    <a:lstStyle/>
                    <a:p>
                      <a:pPr rtl="1" algn="r"/>
                      <a:r>
                        <a:rPr sz="1500" b="0">
                          <a:solidFill>
                            <a:srgbClr val="0C100E"/>
                          </a:solidFill>
                          <a:latin typeface="IBM Plex Sans Arabic"/>
                          <a:ea typeface="IBM Plex Sans Arabic"/>
                          <a:cs typeface="IBM Plex Sans Arabic"/>
                        </a:rPr>
                        <a:t>انطباع المدير</a:t>
                      </a:r>
                    </a:p>
                  </a:txBody>
                  <a:tcPr>
                    <a:solidFill>
                      <a:srgbClr val="F7F6F3"/>
                    </a:solidFill>
                  </a:tcPr>
                </a:tc>
                <a:tc>
                  <a:txBody>
                    <a:bodyPr/>
                    <a:lstStyle/>
                    <a:p>
                      <a:pPr rtl="1" algn="r"/>
                      <a:r>
                        <a:rPr sz="1500" b="0">
                          <a:solidFill>
                            <a:srgbClr val="0C100E"/>
                          </a:solidFill>
                          <a:latin typeface="IBM Plex Sans Arabic"/>
                          <a:ea typeface="IBM Plex Sans Arabic"/>
                          <a:cs typeface="IBM Plex Sans Arabic"/>
                        </a:rPr>
                        <a:t>ثلاثة مؤشرات أثر</a:t>
                      </a:r>
                    </a:p>
                  </a:txBody>
                  <a:tcPr>
                    <a:solidFill>
                      <a:srgbClr val="F7F6F3"/>
                    </a:solidFill>
                  </a:tcPr>
                </a:tc>
              </a:tr>
            </a:tbl>
          </a:graphicData>
        </a:graphic>
      </p:graphicFrame>
      <p:sp>
        <p:nvSpPr>
          <p:cNvPr id="7" name="TextBox 6"/>
          <p:cNvSpPr txBox="1"/>
          <p:nvPr/>
        </p:nvSpPr>
        <p:spPr>
          <a:xfrm>
            <a:off x="566928" y="6510528"/>
            <a:ext cx="4572000" cy="256032"/>
          </a:xfrm>
          <a:prstGeom prst="rect">
            <a:avLst/>
          </a:prstGeom>
          <a:noFill/>
        </p:spPr>
        <p:txBody>
          <a:bodyPr wrap="square" anchor="t"/>
          <a:lstStyle/>
          <a:p>
            <a:pPr rtl="1" algn="r"/>
            <a:r>
              <a:rPr sz="1100" b="0">
                <a:solidFill>
                  <a:srgbClr val="6A706C"/>
                </a:solidFill>
                <a:latin typeface="IBM Plex Sans Arabic"/>
                <a:ea typeface="IBM Plex Sans Arabic"/>
                <a:cs typeface="IBM Plex Sans Arabic"/>
              </a:rPr>
              <a:t>روتانا  ·  الموارد البشرية</a:t>
            </a:r>
          </a:p>
        </p:txBody>
      </p:sp>
      <p:sp>
        <p:nvSpPr>
          <p:cNvPr id="8" name="TextBox 7"/>
          <p:cNvSpPr txBox="1"/>
          <p:nvPr/>
        </p:nvSpPr>
        <p:spPr>
          <a:xfrm>
            <a:off x="9509760" y="6510528"/>
            <a:ext cx="2103120" cy="256032"/>
          </a:xfrm>
          <a:prstGeom prst="rect">
            <a:avLst/>
          </a:prstGeom>
          <a:noFill/>
        </p:spPr>
        <p:txBody>
          <a:bodyPr wrap="square" anchor="t"/>
          <a:lstStyle/>
          <a:p>
            <a:pPr rtl="1" algn="l"/>
            <a:r>
              <a:rPr sz="1100" b="0">
                <a:solidFill>
                  <a:srgbClr val="6A706C"/>
                </a:solidFill>
                <a:latin typeface="IBM Plex Mono"/>
                <a:ea typeface="IBM Plex Mono"/>
                <a:cs typeface="IBM Plex Mono"/>
              </a:rPr>
              <a:t>22  /  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645920"/>
            <a:ext cx="5120640" cy="274320"/>
          </a:xfrm>
          <a:prstGeom prst="rect">
            <a:avLst/>
          </a:prstGeom>
          <a:noFill/>
        </p:spPr>
        <p:txBody>
          <a:bodyPr wrap="square" anchor="t"/>
          <a:lstStyle/>
          <a:p>
            <a:pPr rtl="1" algn="r"/>
            <a:r>
              <a:rPr sz="1200" b="0">
                <a:solidFill>
                  <a:srgbClr val="00512F"/>
                </a:solidFill>
                <a:latin typeface="IBM Plex Sans"/>
                <a:ea typeface="IBM Plex Sans"/>
                <a:cs typeface="IBM Plex Sans"/>
              </a:rPr>
              <a:t>تخطيط صورة + نص</a:t>
            </a:r>
          </a:p>
        </p:txBody>
      </p:sp>
      <p:sp>
        <p:nvSpPr>
          <p:cNvPr id="4" name="TextBox 3"/>
          <p:cNvSpPr txBox="1"/>
          <p:nvPr/>
        </p:nvSpPr>
        <p:spPr>
          <a:xfrm>
            <a:off x="566928" y="2011680"/>
            <a:ext cx="5120640" cy="1188720"/>
          </a:xfrm>
          <a:prstGeom prst="rect">
            <a:avLst/>
          </a:prstGeom>
          <a:noFill/>
        </p:spPr>
        <p:txBody>
          <a:bodyPr wrap="square" anchor="t"/>
          <a:lstStyle/>
          <a:p>
            <a:pPr rtl="1" algn="r"/>
            <a:r>
              <a:rPr sz="3200" b="0">
                <a:solidFill>
                  <a:srgbClr val="0C100E"/>
                </a:solidFill>
                <a:latin typeface="Amiri"/>
                <a:ea typeface="Amiri"/>
                <a:cs typeface="Amiri"/>
              </a:rPr>
              <a:t>المكان يسبق الشريحة.</a:t>
            </a:r>
          </a:p>
        </p:txBody>
      </p:sp>
      <p:sp>
        <p:nvSpPr>
          <p:cNvPr id="5" name="TextBox 4"/>
          <p:cNvSpPr txBox="1"/>
          <p:nvPr/>
        </p:nvSpPr>
        <p:spPr>
          <a:xfrm>
            <a:off x="566928" y="3291840"/>
            <a:ext cx="5120640" cy="1645920"/>
          </a:xfrm>
          <a:prstGeom prst="rect">
            <a:avLst/>
          </a:prstGeom>
          <a:noFill/>
        </p:spPr>
        <p:txBody>
          <a:bodyPr wrap="square" anchor="t"/>
          <a:lstStyle/>
          <a:p>
            <a:pPr rtl="1" algn="r"/>
            <a:r>
              <a:rPr sz="1600" b="0">
                <a:solidFill>
                  <a:srgbClr val="3A403C"/>
                </a:solidFill>
                <a:latin typeface="IBM Plex Sans Arabic"/>
                <a:ea typeface="IBM Plex Sans Arabic"/>
                <a:cs typeface="IBM Plex Sans Arabic"/>
              </a:rPr>
              <a:t>هذا الماسك للموجة. ضع صورة استوديو أو بروفة أو فريق. النص على الورق، والصورة تأخذ القرار البصري.</a:t>
            </a:r>
          </a:p>
        </p:txBody>
      </p:sp>
      <p:sp>
        <p:nvSpPr>
          <p:cNvPr id="6" name="TextBox 5"/>
          <p:cNvSpPr txBox="1"/>
          <p:nvPr/>
        </p:nvSpPr>
        <p:spPr>
          <a:xfrm>
            <a:off x="566928" y="5120640"/>
            <a:ext cx="5120640" cy="365760"/>
          </a:xfrm>
          <a:prstGeom prst="rect">
            <a:avLst/>
          </a:prstGeom>
          <a:noFill/>
        </p:spPr>
        <p:txBody>
          <a:bodyPr wrap="square" anchor="t"/>
          <a:lstStyle/>
          <a:p>
            <a:pPr rtl="1" algn="r"/>
            <a:r>
              <a:rPr sz="1300" b="0">
                <a:solidFill>
                  <a:srgbClr val="6A706C"/>
                </a:solidFill>
                <a:latin typeface="IBM Plex Sans"/>
                <a:ea typeface="IBM Plex Sans"/>
                <a:cs typeface="IBM Plex Sans"/>
              </a:rPr>
              <a:t>Change Picture على الموجة فقط.</a:t>
            </a:r>
          </a:p>
        </p:txBody>
      </p:sp>
      <p:pic>
        <p:nvPicPr>
          <p:cNvPr id="7" name="Picture 6" descr="wave-01.png"/>
          <p:cNvPicPr>
            <a:picLocks noChangeAspect="1"/>
          </p:cNvPicPr>
          <p:nvPr/>
        </p:nvPicPr>
        <p:blipFill>
          <a:blip r:embed="rId2"/>
          <a:stretch>
            <a:fillRect/>
          </a:stretch>
        </p:blipFill>
        <p:spPr>
          <a:xfrm>
            <a:off x="6537960" y="502920"/>
            <a:ext cx="5212080" cy="5852160"/>
          </a:xfrm>
          <a:prstGeom prst="rect">
            <a:avLst/>
          </a:prstGeom>
        </p:spPr>
      </p:pic>
      <p:sp>
        <p:nvSpPr>
          <p:cNvPr id="8" name="TextBox 7"/>
          <p:cNvSpPr txBox="1"/>
          <p:nvPr/>
        </p:nvSpPr>
        <p:spPr>
          <a:xfrm>
            <a:off x="566928" y="6510528"/>
            <a:ext cx="4572000" cy="256032"/>
          </a:xfrm>
          <a:prstGeom prst="rect">
            <a:avLst/>
          </a:prstGeom>
          <a:noFill/>
        </p:spPr>
        <p:txBody>
          <a:bodyPr wrap="square" anchor="t"/>
          <a:lstStyle/>
          <a:p>
            <a:pPr rtl="1" algn="r"/>
            <a:r>
              <a:rPr sz="1100" b="0">
                <a:solidFill>
                  <a:srgbClr val="6A706C"/>
                </a:solidFill>
                <a:latin typeface="IBM Plex Sans Arabic"/>
                <a:ea typeface="IBM Plex Sans Arabic"/>
                <a:cs typeface="IBM Plex Sans Arabic"/>
              </a:rPr>
              <a:t>روتانا  ·  الموارد البشرية</a:t>
            </a:r>
          </a:p>
        </p:txBody>
      </p:sp>
      <p:sp>
        <p:nvSpPr>
          <p:cNvPr id="9" name="TextBox 8"/>
          <p:cNvSpPr txBox="1"/>
          <p:nvPr/>
        </p:nvSpPr>
        <p:spPr>
          <a:xfrm>
            <a:off x="9509760" y="6510528"/>
            <a:ext cx="2103120" cy="256032"/>
          </a:xfrm>
          <a:prstGeom prst="rect">
            <a:avLst/>
          </a:prstGeom>
          <a:noFill/>
        </p:spPr>
        <p:txBody>
          <a:bodyPr wrap="square" anchor="t"/>
          <a:lstStyle/>
          <a:p>
            <a:pPr rtl="1" algn="l"/>
            <a:r>
              <a:rPr sz="1100" b="0">
                <a:solidFill>
                  <a:srgbClr val="6A706C"/>
                </a:solidFill>
                <a:latin typeface="IBM Plex Mono"/>
                <a:ea typeface="IBM Plex Mono"/>
                <a:cs typeface="IBM Plex Mono"/>
              </a:rPr>
              <a:t>23  /  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C1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otana-logo-1400.png"/>
          <p:cNvPicPr>
            <a:picLocks noChangeAspect="1"/>
          </p:cNvPicPr>
          <p:nvPr/>
        </p:nvPicPr>
        <p:blipFill>
          <a:blip r:embed="rId2"/>
          <a:stretch>
            <a:fillRect/>
          </a:stretch>
        </p:blipFill>
        <p:spPr>
          <a:xfrm>
            <a:off x="566928" y="1965960"/>
            <a:ext cx="3657600" cy="841248"/>
          </a:xfrm>
          <a:prstGeom prst="rect">
            <a:avLst/>
          </a:prstGeom>
        </p:spPr>
      </p:pic>
      <p:sp>
        <p:nvSpPr>
          <p:cNvPr id="4" name="TextBox 3"/>
          <p:cNvSpPr txBox="1"/>
          <p:nvPr/>
        </p:nvSpPr>
        <p:spPr>
          <a:xfrm>
            <a:off x="566928" y="3063240"/>
            <a:ext cx="9144000" cy="1005840"/>
          </a:xfrm>
          <a:prstGeom prst="rect">
            <a:avLst/>
          </a:prstGeom>
          <a:noFill/>
        </p:spPr>
        <p:txBody>
          <a:bodyPr wrap="square" anchor="t"/>
          <a:lstStyle/>
          <a:p>
            <a:pPr rtl="1" algn="r"/>
            <a:r>
              <a:rPr sz="6400" b="0">
                <a:solidFill>
                  <a:srgbClr val="FFFFFF"/>
                </a:solidFill>
                <a:latin typeface="Amiri"/>
                <a:ea typeface="Amiri"/>
                <a:cs typeface="Amiri"/>
              </a:rPr>
              <a:t>شكرًا</a:t>
            </a:r>
          </a:p>
        </p:txBody>
      </p:sp>
      <p:sp>
        <p:nvSpPr>
          <p:cNvPr id="5" name="TextBox 4"/>
          <p:cNvSpPr txBox="1"/>
          <p:nvPr/>
        </p:nvSpPr>
        <p:spPr>
          <a:xfrm>
            <a:off x="566928" y="4160520"/>
            <a:ext cx="9144000" cy="365760"/>
          </a:xfrm>
          <a:prstGeom prst="rect">
            <a:avLst/>
          </a:prstGeom>
          <a:noFill/>
        </p:spPr>
        <p:txBody>
          <a:bodyPr wrap="square" anchor="t"/>
          <a:lstStyle/>
          <a:p>
            <a:pPr rtl="1" algn="r"/>
            <a:r>
              <a:rPr sz="1800" b="0">
                <a:solidFill>
                  <a:srgbClr val="B8C0B0"/>
                </a:solidFill>
                <a:latin typeface="IBM Plex Sans Arabic"/>
                <a:ea typeface="IBM Plex Sans Arabic"/>
                <a:cs typeface="IBM Plex Sans Arabic"/>
              </a:rPr>
              <a:t>إدارة الموارد البشرية</a:t>
            </a:r>
          </a:p>
        </p:txBody>
      </p:sp>
      <p:sp>
        <p:nvSpPr>
          <p:cNvPr id="6" name="TextBox 5"/>
          <p:cNvSpPr txBox="1"/>
          <p:nvPr/>
        </p:nvSpPr>
        <p:spPr>
          <a:xfrm>
            <a:off x="566928" y="5852160"/>
            <a:ext cx="9144000" cy="274320"/>
          </a:xfrm>
          <a:prstGeom prst="rect">
            <a:avLst/>
          </a:prstGeom>
          <a:noFill/>
        </p:spPr>
        <p:txBody>
          <a:bodyPr wrap="square" anchor="t"/>
          <a:lstStyle/>
          <a:p>
            <a:pPr rtl="1" algn="r"/>
            <a:r>
              <a:rPr sz="1300" b="0">
                <a:solidFill>
                  <a:srgbClr val="C5C7C2"/>
                </a:solidFill>
                <a:latin typeface="IBM Plex Sans Arabic"/>
                <a:ea typeface="IBM Plex Sans Arabic"/>
                <a:cs typeface="IBM Plex Sans Arabic"/>
              </a:rPr>
              <a:t>انسخ  ·  استبدل  ·  لا تُعدّل الأصل</a:t>
            </a:r>
          </a:p>
        </p:txBody>
      </p:sp>
      <p:sp>
        <p:nvSpPr>
          <p:cNvPr id="7" name="TextBox 6"/>
          <p:cNvSpPr txBox="1"/>
          <p:nvPr/>
        </p:nvSpPr>
        <p:spPr>
          <a:xfrm>
            <a:off x="566928" y="6510528"/>
            <a:ext cx="4572000" cy="256032"/>
          </a:xfrm>
          <a:prstGeom prst="rect">
            <a:avLst/>
          </a:prstGeom>
          <a:noFill/>
        </p:spPr>
        <p:txBody>
          <a:bodyPr wrap="square" anchor="t"/>
          <a:lstStyle/>
          <a:p>
            <a:pPr rtl="1" algn="r"/>
            <a:r>
              <a:rPr sz="1100" b="0">
                <a:solidFill>
                  <a:srgbClr val="B8C0B0"/>
                </a:solidFill>
                <a:latin typeface="IBM Plex Sans Arabic"/>
                <a:ea typeface="IBM Plex Sans Arabic"/>
                <a:cs typeface="IBM Plex Sans Arabic"/>
              </a:rPr>
              <a:t>روتانا  ·  الموارد البشرية</a:t>
            </a:r>
          </a:p>
        </p:txBody>
      </p:sp>
      <p:sp>
        <p:nvSpPr>
          <p:cNvPr id="8" name="TextBox 7"/>
          <p:cNvSpPr txBox="1"/>
          <p:nvPr/>
        </p:nvSpPr>
        <p:spPr>
          <a:xfrm>
            <a:off x="9509760" y="6510528"/>
            <a:ext cx="2103120" cy="256032"/>
          </a:xfrm>
          <a:prstGeom prst="rect">
            <a:avLst/>
          </a:prstGeom>
          <a:noFill/>
        </p:spPr>
        <p:txBody>
          <a:bodyPr wrap="square" anchor="t"/>
          <a:lstStyle/>
          <a:p>
            <a:pPr rtl="1" algn="l"/>
            <a:r>
              <a:rPr sz="1100" b="0">
                <a:solidFill>
                  <a:srgbClr val="B8C0B0"/>
                </a:solidFill>
                <a:latin typeface="IBM Plex Mono"/>
                <a:ea typeface="IBM Plex Mono"/>
                <a:cs typeface="IBM Plex Mono"/>
              </a:rPr>
              <a:t>24  /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