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تكوين</c:v>
                </c:pt>
              </c:strCache>
            </c:strRef>
          </c:tx>
          <c:dPt>
            <c:idx val="0"/>
            <c:spPr>
              <a:solidFill>
                <a:srgbClr val="00512F"/>
              </a:solidFill>
            </c:spPr>
          </c:dPt>
          <c:dPt>
            <c:idx val="1"/>
            <c:spPr>
              <a:solidFill>
                <a:srgbClr val="006C3C"/>
              </a:solidFill>
            </c:spPr>
          </c:dPt>
          <c:dPt>
            <c:idx val="2"/>
            <c:spPr>
              <a:solidFill>
                <a:srgbClr val="E8E8E4"/>
              </a:solidFill>
            </c:spPr>
          </c:dPt>
          <c:cat>
            <c:strRef>
              <c:f>Sheet1!$A$2:$A$4</c:f>
              <c:strCache>
                <c:ptCount val="3"/>
                <c:pt idx="0">
                  <c:v>تشغيل</c:v>
                </c:pt>
                <c:pt idx="1">
                  <c:v>دعم</c:v>
                </c:pt>
                <c:pt idx="2">
                  <c:v>قيادة</c:v>
                </c:pt>
              </c:strCache>
            </c:strRef>
          </c:cat>
          <c:val>
            <c:numRef>
              <c:f>Sheet1!$B$2:$B$4</c:f>
              <c:numCache>
                <c:formatCode>General</c:formatCode>
                <c:ptCount val="3"/>
                <c:pt idx="0">
                  <c:v>62</c:v>
                </c:pt>
                <c:pt idx="1">
                  <c:v>23</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حصة</c:v>
                </c:pt>
              </c:strCache>
            </c:strRef>
          </c:tx>
          <c:spPr>
            <a:solidFill>
              <a:srgbClr val="00512F"/>
            </a:solidFill>
          </c:spPr>
          <c:cat>
            <c:strRef>
              <c:f>Sheet1!$A$2:$A$6</c:f>
              <c:strCache>
                <c:ptCount val="5"/>
                <c:pt idx="0">
                  <c:v>موسيقى</c:v>
                </c:pt>
                <c:pt idx="1">
                  <c:v>تلفزيون</c:v>
                </c:pt>
                <c:pt idx="2">
                  <c:v>سينما</c:v>
                </c:pt>
                <c:pt idx="3">
                  <c:v>رقمي</c:v>
                </c:pt>
                <c:pt idx="4">
                  <c:v>شركات</c:v>
                </c:pt>
              </c:strCache>
            </c:strRef>
          </c:cat>
          <c:val>
            <c:numRef>
              <c:f>Sheet1!$B$2:$B$6</c:f>
              <c:numCache>
                <c:formatCode>General</c:formatCode>
                <c:ptCount val="5"/>
                <c:pt idx="0">
                  <c:v>82</c:v>
                </c:pt>
                <c:pt idx="1">
                  <c:v>64</c:v>
                </c:pt>
                <c:pt idx="2">
                  <c:v>48</c:v>
                </c:pt>
                <c:pt idx="3">
                  <c:v>36</c:v>
                </c:pt>
                <c:pt idx="4">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 Id="rId15" Type="http://schemas.openxmlformats.org/officeDocument/2006/relationships/image" Target="../media/image21.png"/><Relationship Id="rId16" Type="http://schemas.openxmlformats.org/officeDocument/2006/relationships/image" Target="../media/image22.png"/><Relationship Id="rId17" Type="http://schemas.openxmlformats.org/officeDocument/2006/relationships/image" Target="../media/image23.png"/><Relationship Id="rId18" Type="http://schemas.openxmlformats.org/officeDocument/2006/relationships/image" Target="../media/image24.png"/><Relationship Id="rId19" Type="http://schemas.openxmlformats.org/officeDocument/2006/relationships/image" Target="../media/image25.png"/><Relationship Id="rId20" Type="http://schemas.openxmlformats.org/officeDocument/2006/relationships/image" Target="../media/image26.png"/><Relationship Id="rId21" Type="http://schemas.openxmlformats.org/officeDocument/2006/relationships/image" Target="../media/image27.png"/><Relationship Id="rId22" Type="http://schemas.openxmlformats.org/officeDocument/2006/relationships/image" Target="../media/image28.png"/><Relationship Id="rId23" Type="http://schemas.openxmlformats.org/officeDocument/2006/relationships/image" Target="../media/image29.png"/><Relationship Id="rId24" Type="http://schemas.openxmlformats.org/officeDocument/2006/relationships/image" Target="../media/image30.png"/><Relationship Id="rId25" Type="http://schemas.openxmlformats.org/officeDocument/2006/relationships/image" Target="../media/image31.png"/><Relationship Id="rId26" Type="http://schemas.openxmlformats.org/officeDocument/2006/relationships/image" Target="../media/image32.png"/><Relationship Id="rId27" Type="http://schemas.openxmlformats.org/officeDocument/2006/relationships/image" Target="../media/image33.png"/><Relationship Id="rId28" Type="http://schemas.openxmlformats.org/officeDocument/2006/relationships/image" Target="../media/image34.png"/><Relationship Id="rId29"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20.png"/><Relationship Id="rId10" Type="http://schemas.openxmlformats.org/officeDocument/2006/relationships/image" Target="../media/image18.png"/><Relationship Id="rId11" Type="http://schemas.openxmlformats.org/officeDocument/2006/relationships/image" Target="../media/image17.png"/><Relationship Id="rId12" Type="http://schemas.openxmlformats.org/officeDocument/2006/relationships/image" Target="../media/image19.png"/><Relationship Id="rId1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99" cy="45720"/>
          </a:xfrm>
          <a:prstGeom prst="rect">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tana-logo-1400.png"/>
          <p:cNvPicPr>
            <a:picLocks noChangeAspect="1"/>
          </p:cNvPicPr>
          <p:nvPr/>
        </p:nvPicPr>
        <p:blipFill>
          <a:blip r:embed="rId2"/>
          <a:stretch>
            <a:fillRect/>
          </a:stretch>
        </p:blipFill>
        <p:spPr>
          <a:xfrm>
            <a:off x="566928" y="438912"/>
            <a:ext cx="3108960" cy="713232"/>
          </a:xfrm>
          <a:prstGeom prst="rect">
            <a:avLst/>
          </a:prstGeom>
        </p:spPr>
      </p:pic>
      <p:sp>
        <p:nvSpPr>
          <p:cNvPr id="5" name="TextBox 4"/>
          <p:cNvSpPr txBox="1"/>
          <p:nvPr/>
        </p:nvSpPr>
        <p:spPr>
          <a:xfrm>
            <a:off x="6766560" y="566928"/>
            <a:ext cx="4846320" cy="274320"/>
          </a:xfrm>
          <a:prstGeom prst="rect">
            <a:avLst/>
          </a:prstGeom>
          <a:noFill/>
        </p:spPr>
        <p:txBody>
          <a:bodyPr wrap="square" anchor="t"/>
          <a:lstStyle/>
          <a:p>
            <a:pPr rtl="1" algn="l"/>
            <a:r>
              <a:rPr sz="1100" b="0">
                <a:solidFill>
                  <a:srgbClr val="B8C0B0"/>
                </a:solidFill>
                <a:latin typeface="IBM Plex Sans"/>
                <a:ea typeface="IBM Plex Sans"/>
                <a:cs typeface="IBM Plex Sans"/>
              </a:rPr>
              <a:t>HUMAN RESOURCES IDENTITY SYSTEM</a:t>
            </a:r>
          </a:p>
        </p:txBody>
      </p:sp>
      <p:sp>
        <p:nvSpPr>
          <p:cNvPr id="6" name="TextBox 5"/>
          <p:cNvSpPr txBox="1"/>
          <p:nvPr/>
        </p:nvSpPr>
        <p:spPr>
          <a:xfrm>
            <a:off x="566928" y="1965960"/>
            <a:ext cx="10058400" cy="320040"/>
          </a:xfrm>
          <a:prstGeom prst="rect">
            <a:avLst/>
          </a:prstGeom>
          <a:noFill/>
        </p:spPr>
        <p:txBody>
          <a:bodyPr wrap="square" anchor="t"/>
          <a:lstStyle/>
          <a:p>
            <a:pPr rtl="1" algn="r"/>
            <a:r>
              <a:rPr sz="1400" b="0">
                <a:solidFill>
                  <a:srgbClr val="2BA86C"/>
                </a:solidFill>
                <a:latin typeface="IBM Plex Sans Arabic"/>
                <a:ea typeface="IBM Plex Sans Arabic"/>
                <a:cs typeface="IBM Plex Sans Arabic"/>
              </a:rPr>
              <a:t>نظام العروض  ·  مرجع قابل للنسخ</a:t>
            </a:r>
          </a:p>
        </p:txBody>
      </p:sp>
      <p:sp>
        <p:nvSpPr>
          <p:cNvPr id="7" name="TextBox 6"/>
          <p:cNvSpPr txBox="1"/>
          <p:nvPr/>
        </p:nvSpPr>
        <p:spPr>
          <a:xfrm>
            <a:off x="566928" y="2331720"/>
            <a:ext cx="10058400" cy="1920240"/>
          </a:xfrm>
          <a:prstGeom prst="rect">
            <a:avLst/>
          </a:prstGeom>
          <a:noFill/>
        </p:spPr>
        <p:txBody>
          <a:bodyPr wrap="square" anchor="t"/>
          <a:lstStyle/>
          <a:p>
            <a:pPr rtl="1" algn="r"/>
            <a:r>
              <a:rPr sz="6000" b="0">
                <a:solidFill>
                  <a:srgbClr val="FFFFFF"/>
                </a:solidFill>
                <a:latin typeface="Amiri"/>
                <a:ea typeface="Amiri"/>
                <a:cs typeface="Amiri"/>
              </a:rPr>
              <a:t>إدارة
الموارد البشرية</a:t>
            </a:r>
          </a:p>
        </p:txBody>
      </p:sp>
      <p:sp>
        <p:nvSpPr>
          <p:cNvPr id="8" name="TextBox 7"/>
          <p:cNvSpPr txBox="1"/>
          <p:nvPr/>
        </p:nvSpPr>
        <p:spPr>
          <a:xfrm>
            <a:off x="566928" y="4434840"/>
            <a:ext cx="7772400" cy="914400"/>
          </a:xfrm>
          <a:prstGeom prst="rect">
            <a:avLst/>
          </a:prstGeom>
          <a:noFill/>
        </p:spPr>
        <p:txBody>
          <a:bodyPr wrap="square" anchor="t"/>
          <a:lstStyle/>
          <a:p>
            <a:pPr rtl="1" algn="r"/>
            <a:r>
              <a:rPr sz="1600" b="0">
                <a:solidFill>
                  <a:srgbClr val="B8C0B0"/>
                </a:solidFill>
                <a:latin typeface="IBM Plex Sans Arabic"/>
                <a:ea typeface="IBM Plex Sans Arabic"/>
                <a:cs typeface="IBM Plex Sans Arabic"/>
              </a:rPr>
              <a:t>قوالب، ماسكات، أرقام، أيقونات، وإدارات — تُنسخ كما هي وتُعدَّل كما تحتاجون.</a:t>
            </a:r>
          </a:p>
        </p:txBody>
      </p:sp>
      <p:pic>
        <p:nvPicPr>
          <p:cNvPr id="9" name="Picture 8" descr="wave-motif.png"/>
          <p:cNvPicPr>
            <a:picLocks noChangeAspect="1"/>
          </p:cNvPicPr>
          <p:nvPr/>
        </p:nvPicPr>
        <p:blipFill>
          <a:blip r:embed="rId3"/>
          <a:stretch>
            <a:fillRect/>
          </a:stretch>
        </p:blipFill>
        <p:spPr>
          <a:xfrm>
            <a:off x="182880" y="5623560"/>
            <a:ext cx="3840480" cy="960120"/>
          </a:xfrm>
          <a:prstGeom prst="rect">
            <a:avLst/>
          </a:prstGeom>
        </p:spPr>
      </p:pic>
      <p:sp>
        <p:nvSpPr>
          <p:cNvPr id="10" name="TextBox 9"/>
          <p:cNvSpPr txBox="1"/>
          <p:nvPr/>
        </p:nvSpPr>
        <p:spPr>
          <a:xfrm>
            <a:off x="566928" y="6510528"/>
            <a:ext cx="9144000" cy="228600"/>
          </a:xfrm>
          <a:prstGeom prst="rect">
            <a:avLst/>
          </a:prstGeom>
          <a:noFill/>
        </p:spPr>
        <p:txBody>
          <a:bodyPr wrap="square" anchor="t"/>
          <a:lstStyle/>
          <a:p>
            <a:pPr rtl="1" algn="r"/>
            <a:r>
              <a:rPr sz="1200" b="0">
                <a:solidFill>
                  <a:srgbClr val="C5C7C2"/>
                </a:solidFill>
                <a:latin typeface="IBM Plex Sans Arabic"/>
                <a:ea typeface="IBM Plex Sans Arabic"/>
                <a:cs typeface="IBM Plex Sans Arabic"/>
              </a:rPr>
              <a:t>روتانا   ·   هوية داخلية   ·   ١٦:٩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٠٢</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طريقة الاستخدام</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انسخ الشريحة. استبدل الصورة. غيّر الرقم.</a:t>
            </a:r>
          </a:p>
        </p:txBody>
      </p:sp>
      <p:sp>
        <p:nvSpPr>
          <p:cNvPr id="6" name="TextBox 5"/>
          <p:cNvSpPr txBox="1"/>
          <p:nvPr/>
        </p:nvSpPr>
        <p:spPr>
          <a:xfrm>
            <a:off x="566928" y="1828800"/>
            <a:ext cx="3383280" cy="640080"/>
          </a:xfrm>
          <a:prstGeom prst="rect">
            <a:avLst/>
          </a:prstGeom>
          <a:noFill/>
        </p:spPr>
        <p:txBody>
          <a:bodyPr wrap="square" anchor="t"/>
          <a:lstStyle/>
          <a:p>
            <a:pPr rtl="1" algn="r"/>
            <a:r>
              <a:rPr sz="4000" b="0">
                <a:solidFill>
                  <a:srgbClr val="00512F"/>
                </a:solidFill>
                <a:latin typeface="Amiri"/>
                <a:ea typeface="Amiri"/>
                <a:cs typeface="Amiri"/>
              </a:rPr>
              <a:t>١</a:t>
            </a:r>
          </a:p>
        </p:txBody>
      </p:sp>
      <p:sp>
        <p:nvSpPr>
          <p:cNvPr id="7" name="TextBox 6"/>
          <p:cNvSpPr txBox="1"/>
          <p:nvPr/>
        </p:nvSpPr>
        <p:spPr>
          <a:xfrm>
            <a:off x="566928" y="2514600"/>
            <a:ext cx="3383280" cy="365760"/>
          </a:xfrm>
          <a:prstGeom prst="rect">
            <a:avLst/>
          </a:prstGeom>
          <a:noFill/>
        </p:spPr>
        <p:txBody>
          <a:bodyPr wrap="square" anchor="t"/>
          <a:lstStyle/>
          <a:p>
            <a:pPr rtl="1" algn="r"/>
            <a:r>
              <a:rPr sz="1800" b="1">
                <a:solidFill>
                  <a:srgbClr val="0C100E"/>
                </a:solidFill>
                <a:latin typeface="IBM Plex Sans Arabic"/>
                <a:ea typeface="IBM Plex Sans Arabic"/>
                <a:cs typeface="IBM Plex Sans Arabic"/>
              </a:rPr>
              <a:t>النسخ من هذا الملف</a:t>
            </a:r>
          </a:p>
        </p:txBody>
      </p:sp>
      <p:sp>
        <p:nvSpPr>
          <p:cNvPr id="8" name="TextBox 7"/>
          <p:cNvSpPr txBox="1"/>
          <p:nvPr/>
        </p:nvSpPr>
        <p:spPr>
          <a:xfrm>
            <a:off x="566928" y="2971800"/>
            <a:ext cx="3383280" cy="146304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كل شريحة تخطيط جاهز. انسخ الشريحة إلى عرضك، أو انسخ العنصر وحده.</a:t>
            </a:r>
          </a:p>
        </p:txBody>
      </p:sp>
      <p:sp>
        <p:nvSpPr>
          <p:cNvPr id="9" name="TextBox 8"/>
          <p:cNvSpPr txBox="1"/>
          <p:nvPr/>
        </p:nvSpPr>
        <p:spPr>
          <a:xfrm>
            <a:off x="4315967" y="1828800"/>
            <a:ext cx="3383280" cy="640080"/>
          </a:xfrm>
          <a:prstGeom prst="rect">
            <a:avLst/>
          </a:prstGeom>
          <a:noFill/>
        </p:spPr>
        <p:txBody>
          <a:bodyPr wrap="square" anchor="t"/>
          <a:lstStyle/>
          <a:p>
            <a:pPr rtl="1" algn="r"/>
            <a:r>
              <a:rPr sz="4000" b="0">
                <a:solidFill>
                  <a:srgbClr val="00512F"/>
                </a:solidFill>
                <a:latin typeface="Amiri"/>
                <a:ea typeface="Amiri"/>
                <a:cs typeface="Amiri"/>
              </a:rPr>
              <a:t>٢</a:t>
            </a:r>
          </a:p>
        </p:txBody>
      </p:sp>
      <p:sp>
        <p:nvSpPr>
          <p:cNvPr id="10" name="TextBox 9"/>
          <p:cNvSpPr txBox="1"/>
          <p:nvPr/>
        </p:nvSpPr>
        <p:spPr>
          <a:xfrm>
            <a:off x="4315967" y="2514600"/>
            <a:ext cx="3383280" cy="365760"/>
          </a:xfrm>
          <a:prstGeom prst="rect">
            <a:avLst/>
          </a:prstGeom>
          <a:noFill/>
        </p:spPr>
        <p:txBody>
          <a:bodyPr wrap="square" anchor="t"/>
          <a:lstStyle/>
          <a:p>
            <a:pPr rtl="1" algn="r"/>
            <a:r>
              <a:rPr sz="1800" b="1">
                <a:solidFill>
                  <a:srgbClr val="0C100E"/>
                </a:solidFill>
                <a:latin typeface="IBM Plex Sans Arabic"/>
                <a:ea typeface="IBM Plex Sans Arabic"/>
                <a:cs typeface="IBM Plex Sans Arabic"/>
              </a:rPr>
              <a:t>الاستبدال لا إعادة الرسم</a:t>
            </a:r>
          </a:p>
        </p:txBody>
      </p:sp>
      <p:sp>
        <p:nvSpPr>
          <p:cNvPr id="11" name="TextBox 10"/>
          <p:cNvSpPr txBox="1"/>
          <p:nvPr/>
        </p:nvSpPr>
        <p:spPr>
          <a:xfrm>
            <a:off x="4315967" y="2971800"/>
            <a:ext cx="3383280" cy="146304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الصور داخل ماسكات. Change Picture. الأيقونات ملفات مستقلة. الألوان لها أكواد.</a:t>
            </a:r>
          </a:p>
        </p:txBody>
      </p:sp>
      <p:sp>
        <p:nvSpPr>
          <p:cNvPr id="12" name="TextBox 11"/>
          <p:cNvSpPr txBox="1"/>
          <p:nvPr/>
        </p:nvSpPr>
        <p:spPr>
          <a:xfrm>
            <a:off x="8065007" y="1828800"/>
            <a:ext cx="3383280" cy="640080"/>
          </a:xfrm>
          <a:prstGeom prst="rect">
            <a:avLst/>
          </a:prstGeom>
          <a:noFill/>
        </p:spPr>
        <p:txBody>
          <a:bodyPr wrap="square" anchor="t"/>
          <a:lstStyle/>
          <a:p>
            <a:pPr rtl="1" algn="r"/>
            <a:r>
              <a:rPr sz="4000" b="0">
                <a:solidFill>
                  <a:srgbClr val="00512F"/>
                </a:solidFill>
                <a:latin typeface="Amiri"/>
                <a:ea typeface="Amiri"/>
                <a:cs typeface="Amiri"/>
              </a:rPr>
              <a:t>٣</a:t>
            </a:r>
          </a:p>
        </p:txBody>
      </p:sp>
      <p:sp>
        <p:nvSpPr>
          <p:cNvPr id="13" name="TextBox 12"/>
          <p:cNvSpPr txBox="1"/>
          <p:nvPr/>
        </p:nvSpPr>
        <p:spPr>
          <a:xfrm>
            <a:off x="8065007" y="2514600"/>
            <a:ext cx="3383280" cy="365760"/>
          </a:xfrm>
          <a:prstGeom prst="rect">
            <a:avLst/>
          </a:prstGeom>
          <a:noFill/>
        </p:spPr>
        <p:txBody>
          <a:bodyPr wrap="square" anchor="t"/>
          <a:lstStyle/>
          <a:p>
            <a:pPr rtl="1" algn="r"/>
            <a:r>
              <a:rPr sz="1800" b="1">
                <a:solidFill>
                  <a:srgbClr val="0C100E"/>
                </a:solidFill>
                <a:latin typeface="IBM Plex Sans Arabic"/>
                <a:ea typeface="IBM Plex Sans Arabic"/>
                <a:cs typeface="IBM Plex Sans Arabic"/>
              </a:rPr>
              <a:t>لا تختَرع لونًا جديدًا</a:t>
            </a:r>
          </a:p>
        </p:txBody>
      </p:sp>
      <p:sp>
        <p:nvSpPr>
          <p:cNvPr id="14" name="TextBox 13"/>
          <p:cNvSpPr txBox="1"/>
          <p:nvPr/>
        </p:nvSpPr>
        <p:spPr>
          <a:xfrm>
            <a:off x="8065007" y="2971800"/>
            <a:ext cx="3383280" cy="146304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الأخضر من الشعار، والرمادي الفاتح هو الورق. الفخامة في الفراغ والخط.</a:t>
            </a:r>
          </a:p>
        </p:txBody>
      </p:sp>
      <p:sp>
        <p:nvSpPr>
          <p:cNvPr id="15" name="TextBox 14"/>
          <p:cNvSpPr txBox="1"/>
          <p:nvPr/>
        </p:nvSpPr>
        <p:spPr>
          <a:xfrm>
            <a:off x="566928" y="5989320"/>
            <a:ext cx="10972800" cy="320040"/>
          </a:xfrm>
          <a:prstGeom prst="rect">
            <a:avLst/>
          </a:prstGeom>
          <a:noFill/>
        </p:spPr>
        <p:txBody>
          <a:bodyPr wrap="square" anchor="t"/>
          <a:lstStyle/>
          <a:p>
            <a:pPr rtl="1" algn="r"/>
            <a:r>
              <a:rPr sz="1300" b="0">
                <a:solidFill>
                  <a:srgbClr val="6A706C"/>
                </a:solidFill>
                <a:latin typeface="IBM Plex Sans Arabic"/>
                <a:ea typeface="IBM Plex Sans Arabic"/>
                <a:cs typeface="IBM Plex Sans Arabic"/>
              </a:rPr>
              <a:t>الشريحة ٠١ و٢٤ للغلاف. الباقي مادة عمل يومي.</a:t>
            </a:r>
          </a:p>
        </p:txBody>
      </p:sp>
      <p:sp>
        <p:nvSpPr>
          <p:cNvPr id="16" name="TextBox 15"/>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7" name="TextBox 16"/>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٠٣</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نظام اللون</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من الشعار، ومعه الرمادي الفاتح.</a:t>
            </a:r>
          </a:p>
        </p:txBody>
      </p:sp>
      <p:sp>
        <p:nvSpPr>
          <p:cNvPr id="6" name="Rectangle 5"/>
          <p:cNvSpPr/>
          <p:nvPr/>
        </p:nvSpPr>
        <p:spPr>
          <a:xfrm>
            <a:off x="566928" y="1554480"/>
            <a:ext cx="1755648" cy="4434840"/>
          </a:xfrm>
          <a:prstGeom prst="rect">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3703320"/>
            <a:ext cx="1554480" cy="274320"/>
          </a:xfrm>
          <a:prstGeom prst="rect">
            <a:avLst/>
          </a:prstGeom>
          <a:noFill/>
        </p:spPr>
        <p:txBody>
          <a:bodyPr wrap="square" anchor="t"/>
          <a:lstStyle/>
          <a:p>
            <a:pPr rtl="1" algn="r"/>
            <a:r>
              <a:rPr sz="1400" b="0">
                <a:solidFill>
                  <a:srgbClr val="FFFFFF"/>
                </a:solidFill>
                <a:latin typeface="IBM Plex Sans"/>
                <a:ea typeface="IBM Plex Sans"/>
                <a:cs typeface="IBM Plex Sans"/>
              </a:rPr>
              <a:t>Forest</a:t>
            </a:r>
          </a:p>
        </p:txBody>
      </p:sp>
      <p:sp>
        <p:nvSpPr>
          <p:cNvPr id="8" name="TextBox 7"/>
          <p:cNvSpPr txBox="1"/>
          <p:nvPr/>
        </p:nvSpPr>
        <p:spPr>
          <a:xfrm>
            <a:off x="676656" y="4005072"/>
            <a:ext cx="1554480" cy="256032"/>
          </a:xfrm>
          <a:prstGeom prst="rect">
            <a:avLst/>
          </a:prstGeom>
          <a:noFill/>
        </p:spPr>
        <p:txBody>
          <a:bodyPr wrap="square" anchor="t"/>
          <a:lstStyle/>
          <a:p>
            <a:pPr rtl="1" algn="r"/>
            <a:r>
              <a:rPr sz="1200" b="0">
                <a:solidFill>
                  <a:srgbClr val="FFFFFF"/>
                </a:solidFill>
                <a:latin typeface="IBM Plex Mono"/>
                <a:ea typeface="IBM Plex Mono"/>
                <a:cs typeface="IBM Plex Mono"/>
              </a:rPr>
              <a:t>#00512F</a:t>
            </a:r>
          </a:p>
        </p:txBody>
      </p:sp>
      <p:sp>
        <p:nvSpPr>
          <p:cNvPr id="9" name="TextBox 8"/>
          <p:cNvSpPr txBox="1"/>
          <p:nvPr/>
        </p:nvSpPr>
        <p:spPr>
          <a:xfrm>
            <a:off x="676656" y="4261104"/>
            <a:ext cx="1554480" cy="228600"/>
          </a:xfrm>
          <a:prstGeom prst="rect">
            <a:avLst/>
          </a:prstGeom>
          <a:noFill/>
        </p:spPr>
        <p:txBody>
          <a:bodyPr wrap="square" anchor="t"/>
          <a:lstStyle/>
          <a:p>
            <a:pPr rtl="1" algn="r"/>
            <a:r>
              <a:rPr sz="900" b="0">
                <a:solidFill>
                  <a:srgbClr val="FFFFFF"/>
                </a:solidFill>
                <a:latin typeface="IBM Plex Mono"/>
                <a:ea typeface="IBM Plex Mono"/>
                <a:cs typeface="IBM Plex Mono"/>
              </a:rPr>
              <a:t>RGB 0 · 81 · 47</a:t>
            </a:r>
          </a:p>
        </p:txBody>
      </p:sp>
      <p:sp>
        <p:nvSpPr>
          <p:cNvPr id="10" name="TextBox 9"/>
          <p:cNvSpPr txBox="1"/>
          <p:nvPr/>
        </p:nvSpPr>
        <p:spPr>
          <a:xfrm>
            <a:off x="676656" y="4617720"/>
            <a:ext cx="1554480" cy="1005840"/>
          </a:xfrm>
          <a:prstGeom prst="rect">
            <a:avLst/>
          </a:prstGeom>
          <a:noFill/>
        </p:spPr>
        <p:txBody>
          <a:bodyPr wrap="square" anchor="t"/>
          <a:lstStyle/>
          <a:p>
            <a:pPr rtl="1" algn="r"/>
            <a:r>
              <a:rPr sz="1200" b="0">
                <a:solidFill>
                  <a:srgbClr val="FFFFFF"/>
                </a:solidFill>
                <a:latin typeface="IBM Plex Sans Arabic"/>
                <a:ea typeface="IBM Plex Sans Arabic"/>
                <a:cs typeface="IBM Plex Sans Arabic"/>
              </a:rPr>
              <a:t>الأساسي — عناوين وقواعد</a:t>
            </a:r>
          </a:p>
        </p:txBody>
      </p:sp>
      <p:sp>
        <p:nvSpPr>
          <p:cNvPr id="11" name="Rectangle 10"/>
          <p:cNvSpPr/>
          <p:nvPr/>
        </p:nvSpPr>
        <p:spPr>
          <a:xfrm>
            <a:off x="2441447" y="1554480"/>
            <a:ext cx="1755648" cy="4434840"/>
          </a:xfrm>
          <a:prstGeom prst="rect">
            <a:avLst/>
          </a:prstGeom>
          <a:solidFill>
            <a:srgbClr val="006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1175" y="3703320"/>
            <a:ext cx="1554480" cy="274320"/>
          </a:xfrm>
          <a:prstGeom prst="rect">
            <a:avLst/>
          </a:prstGeom>
          <a:noFill/>
        </p:spPr>
        <p:txBody>
          <a:bodyPr wrap="square" anchor="t"/>
          <a:lstStyle/>
          <a:p>
            <a:pPr rtl="1" algn="r"/>
            <a:r>
              <a:rPr sz="1400" b="0">
                <a:solidFill>
                  <a:srgbClr val="FFFFFF"/>
                </a:solidFill>
                <a:latin typeface="IBM Plex Sans"/>
                <a:ea typeface="IBM Plex Sans"/>
                <a:cs typeface="IBM Plex Sans"/>
              </a:rPr>
              <a:t>Grove</a:t>
            </a:r>
          </a:p>
        </p:txBody>
      </p:sp>
      <p:sp>
        <p:nvSpPr>
          <p:cNvPr id="13" name="TextBox 12"/>
          <p:cNvSpPr txBox="1"/>
          <p:nvPr/>
        </p:nvSpPr>
        <p:spPr>
          <a:xfrm>
            <a:off x="2551175" y="4005072"/>
            <a:ext cx="1554480" cy="256032"/>
          </a:xfrm>
          <a:prstGeom prst="rect">
            <a:avLst/>
          </a:prstGeom>
          <a:noFill/>
        </p:spPr>
        <p:txBody>
          <a:bodyPr wrap="square" anchor="t"/>
          <a:lstStyle/>
          <a:p>
            <a:pPr rtl="1" algn="r"/>
            <a:r>
              <a:rPr sz="1200" b="0">
                <a:solidFill>
                  <a:srgbClr val="FFFFFF"/>
                </a:solidFill>
                <a:latin typeface="IBM Plex Mono"/>
                <a:ea typeface="IBM Plex Mono"/>
                <a:cs typeface="IBM Plex Mono"/>
              </a:rPr>
              <a:t>#006C3C</a:t>
            </a:r>
          </a:p>
        </p:txBody>
      </p:sp>
      <p:sp>
        <p:nvSpPr>
          <p:cNvPr id="14" name="TextBox 13"/>
          <p:cNvSpPr txBox="1"/>
          <p:nvPr/>
        </p:nvSpPr>
        <p:spPr>
          <a:xfrm>
            <a:off x="2551175" y="4261104"/>
            <a:ext cx="1554480" cy="228600"/>
          </a:xfrm>
          <a:prstGeom prst="rect">
            <a:avLst/>
          </a:prstGeom>
          <a:noFill/>
        </p:spPr>
        <p:txBody>
          <a:bodyPr wrap="square" anchor="t"/>
          <a:lstStyle/>
          <a:p>
            <a:pPr rtl="1" algn="r"/>
            <a:r>
              <a:rPr sz="900" b="0">
                <a:solidFill>
                  <a:srgbClr val="FFFFFF"/>
                </a:solidFill>
                <a:latin typeface="IBM Plex Mono"/>
                <a:ea typeface="IBM Plex Mono"/>
                <a:cs typeface="IBM Plex Mono"/>
              </a:rPr>
              <a:t>RGB 0 · 108 · 60</a:t>
            </a:r>
          </a:p>
        </p:txBody>
      </p:sp>
      <p:sp>
        <p:nvSpPr>
          <p:cNvPr id="15" name="TextBox 14"/>
          <p:cNvSpPr txBox="1"/>
          <p:nvPr/>
        </p:nvSpPr>
        <p:spPr>
          <a:xfrm>
            <a:off x="2551175" y="4617720"/>
            <a:ext cx="1554480" cy="1005840"/>
          </a:xfrm>
          <a:prstGeom prst="rect">
            <a:avLst/>
          </a:prstGeom>
          <a:noFill/>
        </p:spPr>
        <p:txBody>
          <a:bodyPr wrap="square" anchor="t"/>
          <a:lstStyle/>
          <a:p>
            <a:pPr rtl="1" algn="r"/>
            <a:r>
              <a:rPr sz="1200" b="0">
                <a:solidFill>
                  <a:srgbClr val="FFFFFF"/>
                </a:solidFill>
                <a:latin typeface="IBM Plex Sans Arabic"/>
                <a:ea typeface="IBM Plex Sans Arabic"/>
                <a:cs typeface="IBM Plex Sans Arabic"/>
              </a:rPr>
              <a:t>وسط الكرة — رسوم</a:t>
            </a:r>
          </a:p>
        </p:txBody>
      </p:sp>
      <p:sp>
        <p:nvSpPr>
          <p:cNvPr id="16" name="Rectangle 15"/>
          <p:cNvSpPr/>
          <p:nvPr/>
        </p:nvSpPr>
        <p:spPr>
          <a:xfrm>
            <a:off x="4315967" y="1554480"/>
            <a:ext cx="1755648" cy="4434840"/>
          </a:xfrm>
          <a:prstGeom prst="rect">
            <a:avLst/>
          </a:prstGeom>
          <a:solidFill>
            <a:srgbClr val="2BA8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5" y="3703320"/>
            <a:ext cx="1554480" cy="274320"/>
          </a:xfrm>
          <a:prstGeom prst="rect">
            <a:avLst/>
          </a:prstGeom>
          <a:noFill/>
        </p:spPr>
        <p:txBody>
          <a:bodyPr wrap="square" anchor="t"/>
          <a:lstStyle/>
          <a:p>
            <a:pPr rtl="1" algn="r"/>
            <a:r>
              <a:rPr sz="1400" b="0">
                <a:solidFill>
                  <a:srgbClr val="0C100E"/>
                </a:solidFill>
                <a:latin typeface="IBM Plex Sans"/>
                <a:ea typeface="IBM Plex Sans"/>
                <a:cs typeface="IBM Plex Sans"/>
              </a:rPr>
              <a:t>Leaf</a:t>
            </a:r>
          </a:p>
        </p:txBody>
      </p:sp>
      <p:sp>
        <p:nvSpPr>
          <p:cNvPr id="18" name="TextBox 17"/>
          <p:cNvSpPr txBox="1"/>
          <p:nvPr/>
        </p:nvSpPr>
        <p:spPr>
          <a:xfrm>
            <a:off x="4425695" y="4005072"/>
            <a:ext cx="1554480" cy="256032"/>
          </a:xfrm>
          <a:prstGeom prst="rect">
            <a:avLst/>
          </a:prstGeom>
          <a:noFill/>
        </p:spPr>
        <p:txBody>
          <a:bodyPr wrap="square" anchor="t"/>
          <a:lstStyle/>
          <a:p>
            <a:pPr rtl="1" algn="r"/>
            <a:r>
              <a:rPr sz="1200" b="0">
                <a:solidFill>
                  <a:srgbClr val="0C100E"/>
                </a:solidFill>
                <a:latin typeface="IBM Plex Mono"/>
                <a:ea typeface="IBM Plex Mono"/>
                <a:cs typeface="IBM Plex Mono"/>
              </a:rPr>
              <a:t>#2BA86C</a:t>
            </a:r>
          </a:p>
        </p:txBody>
      </p:sp>
      <p:sp>
        <p:nvSpPr>
          <p:cNvPr id="19" name="TextBox 18"/>
          <p:cNvSpPr txBox="1"/>
          <p:nvPr/>
        </p:nvSpPr>
        <p:spPr>
          <a:xfrm>
            <a:off x="4425695" y="4261104"/>
            <a:ext cx="1554480" cy="228600"/>
          </a:xfrm>
          <a:prstGeom prst="rect">
            <a:avLst/>
          </a:prstGeom>
          <a:noFill/>
        </p:spPr>
        <p:txBody>
          <a:bodyPr wrap="square" anchor="t"/>
          <a:lstStyle/>
          <a:p>
            <a:pPr rtl="1" algn="r"/>
            <a:r>
              <a:rPr sz="900" b="0">
                <a:solidFill>
                  <a:srgbClr val="0C100E"/>
                </a:solidFill>
                <a:latin typeface="IBM Plex Mono"/>
                <a:ea typeface="IBM Plex Mono"/>
                <a:cs typeface="IBM Plex Mono"/>
              </a:rPr>
              <a:t>RGB 43 · 168 · 108</a:t>
            </a:r>
          </a:p>
        </p:txBody>
      </p:sp>
      <p:sp>
        <p:nvSpPr>
          <p:cNvPr id="20" name="TextBox 19"/>
          <p:cNvSpPr txBox="1"/>
          <p:nvPr/>
        </p:nvSpPr>
        <p:spPr>
          <a:xfrm>
            <a:off x="4425695" y="4617720"/>
            <a:ext cx="1554480" cy="1005840"/>
          </a:xfrm>
          <a:prstGeom prst="rect">
            <a:avLst/>
          </a:prstGeom>
          <a:noFill/>
        </p:spPr>
        <p:txBody>
          <a:bodyPr wrap="square" anchor="t"/>
          <a:lstStyle/>
          <a:p>
            <a:pPr rtl="1" algn="r"/>
            <a:r>
              <a:rPr sz="1200" b="0">
                <a:solidFill>
                  <a:srgbClr val="0C100E"/>
                </a:solidFill>
                <a:latin typeface="IBM Plex Sans Arabic"/>
                <a:ea typeface="IBM Plex Sans Arabic"/>
                <a:cs typeface="IBM Plex Sans Arabic"/>
              </a:rPr>
              <a:t>لمسة فقط</a:t>
            </a:r>
          </a:p>
        </p:txBody>
      </p:sp>
      <p:sp>
        <p:nvSpPr>
          <p:cNvPr id="21" name="Rectangle 20"/>
          <p:cNvSpPr/>
          <p:nvPr/>
        </p:nvSpPr>
        <p:spPr>
          <a:xfrm>
            <a:off x="6190487" y="1554480"/>
            <a:ext cx="1755648" cy="443484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0215" y="3703320"/>
            <a:ext cx="1554480" cy="274320"/>
          </a:xfrm>
          <a:prstGeom prst="rect">
            <a:avLst/>
          </a:prstGeom>
          <a:noFill/>
        </p:spPr>
        <p:txBody>
          <a:bodyPr wrap="square" anchor="t"/>
          <a:lstStyle/>
          <a:p>
            <a:pPr rtl="1" algn="r"/>
            <a:r>
              <a:rPr sz="1400" b="0">
                <a:solidFill>
                  <a:srgbClr val="0C100E"/>
                </a:solidFill>
                <a:latin typeface="IBM Plex Sans"/>
                <a:ea typeface="IBM Plex Sans"/>
                <a:cs typeface="IBM Plex Sans"/>
              </a:rPr>
              <a:t>Mist</a:t>
            </a:r>
          </a:p>
        </p:txBody>
      </p:sp>
      <p:sp>
        <p:nvSpPr>
          <p:cNvPr id="23" name="TextBox 22"/>
          <p:cNvSpPr txBox="1"/>
          <p:nvPr/>
        </p:nvSpPr>
        <p:spPr>
          <a:xfrm>
            <a:off x="6300215" y="4005072"/>
            <a:ext cx="1554480" cy="256032"/>
          </a:xfrm>
          <a:prstGeom prst="rect">
            <a:avLst/>
          </a:prstGeom>
          <a:noFill/>
        </p:spPr>
        <p:txBody>
          <a:bodyPr wrap="square" anchor="t"/>
          <a:lstStyle/>
          <a:p>
            <a:pPr rtl="1" algn="r"/>
            <a:r>
              <a:rPr sz="1200" b="0">
                <a:solidFill>
                  <a:srgbClr val="0C100E"/>
                </a:solidFill>
                <a:latin typeface="IBM Plex Mono"/>
                <a:ea typeface="IBM Plex Mono"/>
                <a:cs typeface="IBM Plex Mono"/>
              </a:rPr>
              <a:t>#E8E8E4</a:t>
            </a:r>
          </a:p>
        </p:txBody>
      </p:sp>
      <p:sp>
        <p:nvSpPr>
          <p:cNvPr id="24" name="TextBox 23"/>
          <p:cNvSpPr txBox="1"/>
          <p:nvPr/>
        </p:nvSpPr>
        <p:spPr>
          <a:xfrm>
            <a:off x="6300215" y="4261104"/>
            <a:ext cx="1554480" cy="228600"/>
          </a:xfrm>
          <a:prstGeom prst="rect">
            <a:avLst/>
          </a:prstGeom>
          <a:noFill/>
        </p:spPr>
        <p:txBody>
          <a:bodyPr wrap="square" anchor="t"/>
          <a:lstStyle/>
          <a:p>
            <a:pPr rtl="1" algn="r"/>
            <a:r>
              <a:rPr sz="900" b="0">
                <a:solidFill>
                  <a:srgbClr val="0C100E"/>
                </a:solidFill>
                <a:latin typeface="IBM Plex Mono"/>
                <a:ea typeface="IBM Plex Mono"/>
                <a:cs typeface="IBM Plex Mono"/>
              </a:rPr>
              <a:t>RGB 232 · 232 · 228</a:t>
            </a:r>
          </a:p>
        </p:txBody>
      </p:sp>
      <p:sp>
        <p:nvSpPr>
          <p:cNvPr id="25" name="TextBox 24"/>
          <p:cNvSpPr txBox="1"/>
          <p:nvPr/>
        </p:nvSpPr>
        <p:spPr>
          <a:xfrm>
            <a:off x="6300215" y="4617720"/>
            <a:ext cx="1554480" cy="1005840"/>
          </a:xfrm>
          <a:prstGeom prst="rect">
            <a:avLst/>
          </a:prstGeom>
          <a:noFill/>
        </p:spPr>
        <p:txBody>
          <a:bodyPr wrap="square" anchor="t"/>
          <a:lstStyle/>
          <a:p>
            <a:pPr rtl="1" algn="r"/>
            <a:r>
              <a:rPr sz="1200" b="0">
                <a:solidFill>
                  <a:srgbClr val="0C100E"/>
                </a:solidFill>
                <a:latin typeface="IBM Plex Sans Arabic"/>
                <a:ea typeface="IBM Plex Sans Arabic"/>
                <a:cs typeface="IBM Plex Sans Arabic"/>
              </a:rPr>
              <a:t>الرمادي الفاتح — حقول</a:t>
            </a:r>
          </a:p>
        </p:txBody>
      </p:sp>
      <p:sp>
        <p:nvSpPr>
          <p:cNvPr id="26" name="Rectangle 25"/>
          <p:cNvSpPr/>
          <p:nvPr/>
        </p:nvSpPr>
        <p:spPr>
          <a:xfrm>
            <a:off x="8065007" y="1554480"/>
            <a:ext cx="1755648" cy="443484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74735" y="3703320"/>
            <a:ext cx="1554480" cy="274320"/>
          </a:xfrm>
          <a:prstGeom prst="rect">
            <a:avLst/>
          </a:prstGeom>
          <a:noFill/>
        </p:spPr>
        <p:txBody>
          <a:bodyPr wrap="square" anchor="t"/>
          <a:lstStyle/>
          <a:p>
            <a:pPr rtl="1" algn="r"/>
            <a:r>
              <a:rPr sz="1400" b="0">
                <a:solidFill>
                  <a:srgbClr val="FFFFFF"/>
                </a:solidFill>
                <a:latin typeface="IBM Plex Sans"/>
                <a:ea typeface="IBM Plex Sans"/>
                <a:cs typeface="IBM Plex Sans"/>
              </a:rPr>
              <a:t>Ink</a:t>
            </a:r>
          </a:p>
        </p:txBody>
      </p:sp>
      <p:sp>
        <p:nvSpPr>
          <p:cNvPr id="28" name="TextBox 27"/>
          <p:cNvSpPr txBox="1"/>
          <p:nvPr/>
        </p:nvSpPr>
        <p:spPr>
          <a:xfrm>
            <a:off x="8174735" y="4005072"/>
            <a:ext cx="1554480" cy="256032"/>
          </a:xfrm>
          <a:prstGeom prst="rect">
            <a:avLst/>
          </a:prstGeom>
          <a:noFill/>
        </p:spPr>
        <p:txBody>
          <a:bodyPr wrap="square" anchor="t"/>
          <a:lstStyle/>
          <a:p>
            <a:pPr rtl="1" algn="r"/>
            <a:r>
              <a:rPr sz="1200" b="0">
                <a:solidFill>
                  <a:srgbClr val="FFFFFF"/>
                </a:solidFill>
                <a:latin typeface="IBM Plex Mono"/>
                <a:ea typeface="IBM Plex Mono"/>
                <a:cs typeface="IBM Plex Mono"/>
              </a:rPr>
              <a:t>#0C100E</a:t>
            </a:r>
          </a:p>
        </p:txBody>
      </p:sp>
      <p:sp>
        <p:nvSpPr>
          <p:cNvPr id="29" name="TextBox 28"/>
          <p:cNvSpPr txBox="1"/>
          <p:nvPr/>
        </p:nvSpPr>
        <p:spPr>
          <a:xfrm>
            <a:off x="8174735" y="4261104"/>
            <a:ext cx="1554480" cy="228600"/>
          </a:xfrm>
          <a:prstGeom prst="rect">
            <a:avLst/>
          </a:prstGeom>
          <a:noFill/>
        </p:spPr>
        <p:txBody>
          <a:bodyPr wrap="square" anchor="t"/>
          <a:lstStyle/>
          <a:p>
            <a:pPr rtl="1" algn="r"/>
            <a:r>
              <a:rPr sz="900" b="0">
                <a:solidFill>
                  <a:srgbClr val="FFFFFF"/>
                </a:solidFill>
                <a:latin typeface="IBM Plex Mono"/>
                <a:ea typeface="IBM Plex Mono"/>
                <a:cs typeface="IBM Plex Mono"/>
              </a:rPr>
              <a:t>RGB 12 · 16 · 14</a:t>
            </a:r>
          </a:p>
        </p:txBody>
      </p:sp>
      <p:sp>
        <p:nvSpPr>
          <p:cNvPr id="30" name="TextBox 29"/>
          <p:cNvSpPr txBox="1"/>
          <p:nvPr/>
        </p:nvSpPr>
        <p:spPr>
          <a:xfrm>
            <a:off x="8174735" y="4617720"/>
            <a:ext cx="1554480" cy="1005840"/>
          </a:xfrm>
          <a:prstGeom prst="rect">
            <a:avLst/>
          </a:prstGeom>
          <a:noFill/>
        </p:spPr>
        <p:txBody>
          <a:bodyPr wrap="square" anchor="t"/>
          <a:lstStyle/>
          <a:p>
            <a:pPr rtl="1" algn="r"/>
            <a:r>
              <a:rPr sz="1200" b="0">
                <a:solidFill>
                  <a:srgbClr val="FFFFFF"/>
                </a:solidFill>
                <a:latin typeface="IBM Plex Sans Arabic"/>
                <a:ea typeface="IBM Plex Sans Arabic"/>
                <a:cs typeface="IBM Plex Sans Arabic"/>
              </a:rPr>
              <a:t>أغلفة وأقسام</a:t>
            </a:r>
          </a:p>
        </p:txBody>
      </p:sp>
      <p:sp>
        <p:nvSpPr>
          <p:cNvPr id="31" name="Rectangle 30"/>
          <p:cNvSpPr/>
          <p:nvPr/>
        </p:nvSpPr>
        <p:spPr>
          <a:xfrm>
            <a:off x="9939528" y="1554480"/>
            <a:ext cx="1755648" cy="443484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49256" y="3703320"/>
            <a:ext cx="1554480" cy="274320"/>
          </a:xfrm>
          <a:prstGeom prst="rect">
            <a:avLst/>
          </a:prstGeom>
          <a:noFill/>
        </p:spPr>
        <p:txBody>
          <a:bodyPr wrap="square" anchor="t"/>
          <a:lstStyle/>
          <a:p>
            <a:pPr rtl="1" algn="r"/>
            <a:r>
              <a:rPr sz="1400" b="0">
                <a:solidFill>
                  <a:srgbClr val="0C100E"/>
                </a:solidFill>
                <a:latin typeface="IBM Plex Sans"/>
                <a:ea typeface="IBM Plex Sans"/>
                <a:cs typeface="IBM Plex Sans"/>
              </a:rPr>
              <a:t>Stone</a:t>
            </a:r>
          </a:p>
        </p:txBody>
      </p:sp>
      <p:sp>
        <p:nvSpPr>
          <p:cNvPr id="33" name="TextBox 32"/>
          <p:cNvSpPr txBox="1"/>
          <p:nvPr/>
        </p:nvSpPr>
        <p:spPr>
          <a:xfrm>
            <a:off x="10049256" y="4005072"/>
            <a:ext cx="1554480" cy="256032"/>
          </a:xfrm>
          <a:prstGeom prst="rect">
            <a:avLst/>
          </a:prstGeom>
          <a:noFill/>
        </p:spPr>
        <p:txBody>
          <a:bodyPr wrap="square" anchor="t"/>
          <a:lstStyle/>
          <a:p>
            <a:pPr rtl="1" algn="r"/>
            <a:r>
              <a:rPr sz="1200" b="0">
                <a:solidFill>
                  <a:srgbClr val="0C100E"/>
                </a:solidFill>
                <a:latin typeface="IBM Plex Mono"/>
                <a:ea typeface="IBM Plex Mono"/>
                <a:cs typeface="IBM Plex Mono"/>
              </a:rPr>
              <a:t>#C5C7C2</a:t>
            </a:r>
          </a:p>
        </p:txBody>
      </p:sp>
      <p:sp>
        <p:nvSpPr>
          <p:cNvPr id="34" name="TextBox 33"/>
          <p:cNvSpPr txBox="1"/>
          <p:nvPr/>
        </p:nvSpPr>
        <p:spPr>
          <a:xfrm>
            <a:off x="10049256" y="4261104"/>
            <a:ext cx="1554480" cy="228600"/>
          </a:xfrm>
          <a:prstGeom prst="rect">
            <a:avLst/>
          </a:prstGeom>
          <a:noFill/>
        </p:spPr>
        <p:txBody>
          <a:bodyPr wrap="square" anchor="t"/>
          <a:lstStyle/>
          <a:p>
            <a:pPr rtl="1" algn="r"/>
            <a:r>
              <a:rPr sz="900" b="0">
                <a:solidFill>
                  <a:srgbClr val="0C100E"/>
                </a:solidFill>
                <a:latin typeface="IBM Plex Mono"/>
                <a:ea typeface="IBM Plex Mono"/>
                <a:cs typeface="IBM Plex Mono"/>
              </a:rPr>
              <a:t>RGB 197 · 199 · 194</a:t>
            </a:r>
          </a:p>
        </p:txBody>
      </p:sp>
      <p:sp>
        <p:nvSpPr>
          <p:cNvPr id="35" name="TextBox 34"/>
          <p:cNvSpPr txBox="1"/>
          <p:nvPr/>
        </p:nvSpPr>
        <p:spPr>
          <a:xfrm>
            <a:off x="10049256" y="4617720"/>
            <a:ext cx="1554480" cy="1005840"/>
          </a:xfrm>
          <a:prstGeom prst="rect">
            <a:avLst/>
          </a:prstGeom>
          <a:noFill/>
        </p:spPr>
        <p:txBody>
          <a:bodyPr wrap="square" anchor="t"/>
          <a:lstStyle/>
          <a:p>
            <a:pPr rtl="1" algn="r"/>
            <a:r>
              <a:rPr sz="1200" b="0">
                <a:solidFill>
                  <a:srgbClr val="0C100E"/>
                </a:solidFill>
                <a:latin typeface="IBM Plex Sans Arabic"/>
                <a:ea typeface="IBM Plex Sans Arabic"/>
                <a:cs typeface="IBM Plex Sans Arabic"/>
              </a:rPr>
              <a:t>خطوط رفيعة</a:t>
            </a:r>
          </a:p>
        </p:txBody>
      </p:sp>
      <p:sp>
        <p:nvSpPr>
          <p:cNvPr id="36" name="TextBox 35"/>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37" name="TextBox 36"/>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٠٤</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تطبيق اللون</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أخضر للقرار. رمادي للهدوء. حبر للوقفة.</a:t>
            </a:r>
          </a:p>
        </p:txBody>
      </p:sp>
      <p:sp>
        <p:nvSpPr>
          <p:cNvPr id="6" name="Rectangle 5"/>
          <p:cNvSpPr/>
          <p:nvPr/>
        </p:nvSpPr>
        <p:spPr>
          <a:xfrm>
            <a:off x="566928" y="1600200"/>
            <a:ext cx="3657600" cy="233172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154680"/>
            <a:ext cx="3200400" cy="502920"/>
          </a:xfrm>
          <a:prstGeom prst="rect">
            <a:avLst/>
          </a:prstGeom>
          <a:noFill/>
        </p:spPr>
        <p:txBody>
          <a:bodyPr wrap="square" anchor="t"/>
          <a:lstStyle/>
          <a:p>
            <a:pPr rtl="1" algn="r"/>
            <a:r>
              <a:rPr sz="1600" b="0">
                <a:solidFill>
                  <a:srgbClr val="FFFFFF"/>
                </a:solidFill>
                <a:latin typeface="IBM Plex Sans Arabic"/>
                <a:ea typeface="IBM Plex Sans Arabic"/>
                <a:cs typeface="IBM Plex Sans Arabic"/>
              </a:rPr>
              <a:t>غلاف / فاصل
Ink + Forest</a:t>
            </a:r>
          </a:p>
        </p:txBody>
      </p:sp>
      <p:sp>
        <p:nvSpPr>
          <p:cNvPr id="8" name="Rectangle 7"/>
          <p:cNvSpPr/>
          <p:nvPr/>
        </p:nvSpPr>
        <p:spPr>
          <a:xfrm>
            <a:off x="4407408" y="1600200"/>
            <a:ext cx="3657600" cy="233172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6008" y="3154680"/>
            <a:ext cx="3200400" cy="5029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محتوى يومي
Paper + Mist</a:t>
            </a:r>
          </a:p>
        </p:txBody>
      </p:sp>
      <p:sp>
        <p:nvSpPr>
          <p:cNvPr id="10" name="Rectangle 9"/>
          <p:cNvSpPr/>
          <p:nvPr/>
        </p:nvSpPr>
        <p:spPr>
          <a:xfrm>
            <a:off x="7973568" y="1600200"/>
            <a:ext cx="3657600" cy="2331720"/>
          </a:xfrm>
          <a:prstGeom prst="rect">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2168" y="3154680"/>
            <a:ext cx="3200400" cy="502920"/>
          </a:xfrm>
          <a:prstGeom prst="rect">
            <a:avLst/>
          </a:prstGeom>
          <a:noFill/>
        </p:spPr>
        <p:txBody>
          <a:bodyPr wrap="square" anchor="t"/>
          <a:lstStyle/>
          <a:p>
            <a:pPr rtl="1" algn="r"/>
            <a:r>
              <a:rPr sz="1600" b="0">
                <a:solidFill>
                  <a:srgbClr val="FFFFFF"/>
                </a:solidFill>
                <a:latin typeface="IBM Plex Sans Arabic"/>
                <a:ea typeface="IBM Plex Sans Arabic"/>
                <a:cs typeface="IBM Plex Sans Arabic"/>
              </a:rPr>
              <a:t>رقم واحد مهم
Forest field</a:t>
            </a:r>
          </a:p>
        </p:txBody>
      </p:sp>
      <p:sp>
        <p:nvSpPr>
          <p:cNvPr id="12" name="Oval 11"/>
          <p:cNvSpPr/>
          <p:nvPr/>
        </p:nvSpPr>
        <p:spPr>
          <a:xfrm>
            <a:off x="566928" y="4297680"/>
            <a:ext cx="109728" cy="10972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206240"/>
            <a:ext cx="5120640" cy="36576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لا تضع تدرجًا على النص.</a:t>
            </a:r>
          </a:p>
        </p:txBody>
      </p:sp>
      <p:sp>
        <p:nvSpPr>
          <p:cNvPr id="14" name="Oval 13"/>
          <p:cNvSpPr/>
          <p:nvPr/>
        </p:nvSpPr>
        <p:spPr>
          <a:xfrm>
            <a:off x="6236208" y="4297680"/>
            <a:ext cx="109728" cy="10972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206240"/>
            <a:ext cx="5120640" cy="36576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لا تستخدم الذهبي أو النيون — ليسا من الشعار.</a:t>
            </a:r>
          </a:p>
        </p:txBody>
      </p:sp>
      <p:sp>
        <p:nvSpPr>
          <p:cNvPr id="16" name="Oval 15"/>
          <p:cNvSpPr/>
          <p:nvPr/>
        </p:nvSpPr>
        <p:spPr>
          <a:xfrm>
            <a:off x="566928" y="4800600"/>
            <a:ext cx="109728" cy="10972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709160"/>
            <a:ext cx="5120640" cy="36576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Leaf للبيانات الموجبة فقط، بمساحة صغيرة.</a:t>
            </a:r>
          </a:p>
        </p:txBody>
      </p:sp>
      <p:sp>
        <p:nvSpPr>
          <p:cNvPr id="18" name="Oval 17"/>
          <p:cNvSpPr/>
          <p:nvPr/>
        </p:nvSpPr>
        <p:spPr>
          <a:xfrm>
            <a:off x="6236208" y="4800600"/>
            <a:ext cx="109728" cy="10972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4709160"/>
            <a:ext cx="5120640" cy="36576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الحدود Stone بسمك ١px، لا ظلال تحت البطاقات.</a:t>
            </a:r>
          </a:p>
        </p:txBody>
      </p:sp>
      <p:sp>
        <p:nvSpPr>
          <p:cNvPr id="20" name="TextBox 19"/>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21" name="TextBox 20"/>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٠٥</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نظام الخط</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عربي أولاً. لاتيني يمشي معه.</a:t>
            </a:r>
          </a:p>
        </p:txBody>
      </p:sp>
      <p:sp>
        <p:nvSpPr>
          <p:cNvPr id="6" name="TextBox 5"/>
          <p:cNvSpPr txBox="1"/>
          <p:nvPr/>
        </p:nvSpPr>
        <p:spPr>
          <a:xfrm>
            <a:off x="566928" y="1554480"/>
            <a:ext cx="3749039" cy="256032"/>
          </a:xfrm>
          <a:prstGeom prst="rect">
            <a:avLst/>
          </a:prstGeom>
          <a:noFill/>
        </p:spPr>
        <p:txBody>
          <a:bodyPr wrap="square" anchor="t"/>
          <a:lstStyle/>
          <a:p>
            <a:pPr rtl="1" algn="r"/>
            <a:r>
              <a:rPr sz="1100" b="0">
                <a:solidFill>
                  <a:srgbClr val="00512F"/>
                </a:solidFill>
                <a:latin typeface="IBM Plex Sans"/>
                <a:ea typeface="IBM Plex Sans"/>
                <a:cs typeface="IBM Plex Sans"/>
              </a:rPr>
              <a:t>DISPLAY — AMIRI</a:t>
            </a:r>
          </a:p>
        </p:txBody>
      </p:sp>
      <p:sp>
        <p:nvSpPr>
          <p:cNvPr id="7" name="TextBox 6"/>
          <p:cNvSpPr txBox="1"/>
          <p:nvPr/>
        </p:nvSpPr>
        <p:spPr>
          <a:xfrm>
            <a:off x="566928" y="1874519"/>
            <a:ext cx="3840480" cy="2011680"/>
          </a:xfrm>
          <a:prstGeom prst="rect">
            <a:avLst/>
          </a:prstGeom>
          <a:noFill/>
        </p:spPr>
        <p:txBody>
          <a:bodyPr wrap="square" anchor="t"/>
          <a:lstStyle/>
          <a:p>
            <a:pPr rtl="1" algn="r"/>
            <a:r>
              <a:rPr sz="2800" b="0">
                <a:solidFill>
                  <a:srgbClr val="0C100E"/>
                </a:solidFill>
                <a:latin typeface="Amiri"/>
                <a:ea typeface="Amiri"/>
                <a:cs typeface="Amiri"/>
              </a:rPr>
              <a:t>المواهب تُدار
كما تُدار العلامة.</a:t>
            </a:r>
          </a:p>
        </p:txBody>
      </p:sp>
      <p:sp>
        <p:nvSpPr>
          <p:cNvPr id="8" name="TextBox 7"/>
          <p:cNvSpPr txBox="1"/>
          <p:nvPr/>
        </p:nvSpPr>
        <p:spPr>
          <a:xfrm>
            <a:off x="566928" y="4023360"/>
            <a:ext cx="3840480" cy="365760"/>
          </a:xfrm>
          <a:prstGeom prst="rect">
            <a:avLst/>
          </a:prstGeom>
          <a:noFill/>
        </p:spPr>
        <p:txBody>
          <a:bodyPr wrap="square" anchor="t"/>
          <a:lstStyle/>
          <a:p>
            <a:pPr rtl="1" algn="r"/>
            <a:r>
              <a:rPr sz="1200" b="0">
                <a:solidFill>
                  <a:srgbClr val="6A706C"/>
                </a:solidFill>
                <a:latin typeface="IBM Plex Sans Arabic"/>
                <a:ea typeface="IBM Plex Sans Arabic"/>
                <a:cs typeface="IBM Plex Sans Arabic"/>
              </a:rPr>
              <a:t>عناوين الأغلفة والفواصل  ·  ٦٤–٩٢</a:t>
            </a:r>
          </a:p>
        </p:txBody>
      </p:sp>
      <p:sp>
        <p:nvSpPr>
          <p:cNvPr id="9" name="TextBox 8"/>
          <p:cNvSpPr txBox="1"/>
          <p:nvPr/>
        </p:nvSpPr>
        <p:spPr>
          <a:xfrm>
            <a:off x="4663440" y="1554480"/>
            <a:ext cx="3840480" cy="256032"/>
          </a:xfrm>
          <a:prstGeom prst="rect">
            <a:avLst/>
          </a:prstGeom>
          <a:noFill/>
        </p:spPr>
        <p:txBody>
          <a:bodyPr wrap="square" anchor="t"/>
          <a:lstStyle/>
          <a:p>
            <a:pPr rtl="1" algn="r"/>
            <a:r>
              <a:rPr sz="1100" b="0">
                <a:solidFill>
                  <a:srgbClr val="00512F"/>
                </a:solidFill>
                <a:latin typeface="IBM Plex Sans"/>
                <a:ea typeface="IBM Plex Sans"/>
                <a:cs typeface="IBM Plex Sans"/>
              </a:rPr>
              <a:t>UI — IBM PLEX SANS ARABIC</a:t>
            </a:r>
          </a:p>
        </p:txBody>
      </p:sp>
      <p:sp>
        <p:nvSpPr>
          <p:cNvPr id="10" name="TextBox 9"/>
          <p:cNvSpPr txBox="1"/>
          <p:nvPr/>
        </p:nvSpPr>
        <p:spPr>
          <a:xfrm>
            <a:off x="4663440" y="1920240"/>
            <a:ext cx="3840480" cy="914400"/>
          </a:xfrm>
          <a:prstGeom prst="rect">
            <a:avLst/>
          </a:prstGeom>
          <a:noFill/>
        </p:spPr>
        <p:txBody>
          <a:bodyPr wrap="square" anchor="t"/>
          <a:lstStyle/>
          <a:p>
            <a:pPr rtl="1" algn="r"/>
            <a:r>
              <a:rPr sz="1800" b="1">
                <a:solidFill>
                  <a:srgbClr val="0C100E"/>
                </a:solidFill>
                <a:latin typeface="IBM Plex Sans Arabic"/>
                <a:ea typeface="IBM Plex Sans Arabic"/>
                <a:cs typeface="IBM Plex Sans Arabic"/>
              </a:rPr>
              <a:t>الاستقطاب، التهيئة، الأداء، المزايا، الثقافة.</a:t>
            </a:r>
          </a:p>
        </p:txBody>
      </p:sp>
      <p:sp>
        <p:nvSpPr>
          <p:cNvPr id="11" name="TextBox 10"/>
          <p:cNvSpPr txBox="1"/>
          <p:nvPr/>
        </p:nvSpPr>
        <p:spPr>
          <a:xfrm>
            <a:off x="4663440" y="2926080"/>
            <a:ext cx="3840480" cy="109728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الجسم ١٨–٢٠. الشروحات ١٥. التسميات ١٢. لا تضغط السطر.</a:t>
            </a:r>
          </a:p>
        </p:txBody>
      </p:sp>
      <p:sp>
        <p:nvSpPr>
          <p:cNvPr id="12" name="TextBox 11"/>
          <p:cNvSpPr txBox="1"/>
          <p:nvPr/>
        </p:nvSpPr>
        <p:spPr>
          <a:xfrm>
            <a:off x="8686800" y="1554480"/>
            <a:ext cx="3017520" cy="256032"/>
          </a:xfrm>
          <a:prstGeom prst="rect">
            <a:avLst/>
          </a:prstGeom>
          <a:noFill/>
        </p:spPr>
        <p:txBody>
          <a:bodyPr wrap="square" anchor="t"/>
          <a:lstStyle/>
          <a:p>
            <a:pPr rtl="1" algn="r"/>
            <a:r>
              <a:rPr sz="1100" b="0">
                <a:solidFill>
                  <a:srgbClr val="00512F"/>
                </a:solidFill>
                <a:latin typeface="IBM Plex Sans"/>
                <a:ea typeface="IBM Plex Sans"/>
                <a:cs typeface="IBM Plex Sans"/>
              </a:rPr>
              <a:t>LATIN — IBM PLEX SANS</a:t>
            </a:r>
          </a:p>
        </p:txBody>
      </p:sp>
      <p:sp>
        <p:nvSpPr>
          <p:cNvPr id="13" name="TextBox 12"/>
          <p:cNvSpPr txBox="1"/>
          <p:nvPr/>
        </p:nvSpPr>
        <p:spPr>
          <a:xfrm>
            <a:off x="8686800" y="1965960"/>
            <a:ext cx="3017520" cy="640080"/>
          </a:xfrm>
          <a:prstGeom prst="rect">
            <a:avLst/>
          </a:prstGeom>
          <a:noFill/>
        </p:spPr>
        <p:txBody>
          <a:bodyPr wrap="square" anchor="t"/>
          <a:lstStyle/>
          <a:p>
            <a:pPr rtl="1" algn="r"/>
            <a:r>
              <a:rPr sz="1600" b="0">
                <a:solidFill>
                  <a:srgbClr val="0C100E"/>
                </a:solidFill>
                <a:latin typeface="IBM Plex Sans"/>
                <a:ea typeface="IBM Plex Sans"/>
                <a:cs typeface="IBM Plex Sans"/>
              </a:rPr>
              <a:t>Rotana HR
Headcount · eNPS</a:t>
            </a:r>
          </a:p>
        </p:txBody>
      </p:sp>
      <p:sp>
        <p:nvSpPr>
          <p:cNvPr id="14" name="TextBox 13"/>
          <p:cNvSpPr txBox="1"/>
          <p:nvPr/>
        </p:nvSpPr>
        <p:spPr>
          <a:xfrm>
            <a:off x="8686800" y="2926080"/>
            <a:ext cx="3017520" cy="256032"/>
          </a:xfrm>
          <a:prstGeom prst="rect">
            <a:avLst/>
          </a:prstGeom>
          <a:noFill/>
        </p:spPr>
        <p:txBody>
          <a:bodyPr wrap="square" anchor="t"/>
          <a:lstStyle/>
          <a:p>
            <a:pPr rtl="1" algn="r"/>
            <a:r>
              <a:rPr sz="1100" b="0">
                <a:solidFill>
                  <a:srgbClr val="00512F"/>
                </a:solidFill>
                <a:latin typeface="IBM Plex Sans"/>
                <a:ea typeface="IBM Plex Sans"/>
                <a:cs typeface="IBM Plex Sans"/>
              </a:rPr>
              <a:t>CODES — IBM PLEX MONO</a:t>
            </a:r>
          </a:p>
        </p:txBody>
      </p:sp>
      <p:sp>
        <p:nvSpPr>
          <p:cNvPr id="15" name="TextBox 14"/>
          <p:cNvSpPr txBox="1"/>
          <p:nvPr/>
        </p:nvSpPr>
        <p:spPr>
          <a:xfrm>
            <a:off x="8686800" y="3246120"/>
            <a:ext cx="3017520" cy="457200"/>
          </a:xfrm>
          <a:prstGeom prst="rect">
            <a:avLst/>
          </a:prstGeom>
          <a:noFill/>
        </p:spPr>
        <p:txBody>
          <a:bodyPr wrap="square" anchor="t"/>
          <a:lstStyle/>
          <a:p>
            <a:pPr rtl="1" algn="r"/>
            <a:r>
              <a:rPr sz="1800" b="0">
                <a:solidFill>
                  <a:srgbClr val="00512F"/>
                </a:solidFill>
                <a:latin typeface="IBM Plex Mono"/>
                <a:ea typeface="IBM Plex Mono"/>
                <a:cs typeface="IBM Plex Mono"/>
              </a:rPr>
              <a:t>#00512F</a:t>
            </a:r>
          </a:p>
        </p:txBody>
      </p:sp>
      <p:sp>
        <p:nvSpPr>
          <p:cNvPr id="16" name="TextBox 15"/>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7" name="TextBox 16"/>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٠٦</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الشعار</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لا يُعاد رسمه. يُوضع كما هو.</a:t>
            </a:r>
          </a:p>
        </p:txBody>
      </p:sp>
      <p:sp>
        <p:nvSpPr>
          <p:cNvPr id="6" name="Rectangle 5"/>
          <p:cNvSpPr/>
          <p:nvPr/>
        </p:nvSpPr>
        <p:spPr>
          <a:xfrm>
            <a:off x="566928" y="1554480"/>
            <a:ext cx="5029200" cy="379476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tana-logo-1400.png"/>
          <p:cNvPicPr>
            <a:picLocks noChangeAspect="1"/>
          </p:cNvPicPr>
          <p:nvPr/>
        </p:nvPicPr>
        <p:blipFill>
          <a:blip r:embed="rId2"/>
          <a:stretch>
            <a:fillRect/>
          </a:stretch>
        </p:blipFill>
        <p:spPr>
          <a:xfrm>
            <a:off x="1051560" y="2788920"/>
            <a:ext cx="4023360" cy="914400"/>
          </a:xfrm>
          <a:prstGeom prst="rect">
            <a:avLst/>
          </a:prstGeom>
        </p:spPr>
      </p:pic>
      <p:sp>
        <p:nvSpPr>
          <p:cNvPr id="8" name="TextBox 7"/>
          <p:cNvSpPr txBox="1"/>
          <p:nvPr/>
        </p:nvSpPr>
        <p:spPr>
          <a:xfrm>
            <a:off x="566928" y="5074920"/>
            <a:ext cx="5029200" cy="256032"/>
          </a:xfrm>
          <a:prstGeom prst="rect">
            <a:avLst/>
          </a:prstGeom>
          <a:noFill/>
        </p:spPr>
        <p:txBody>
          <a:bodyPr wrap="square" anchor="t"/>
          <a:lstStyle/>
          <a:p>
            <a:pPr rtl="1" algn="ctr"/>
            <a:r>
              <a:rPr sz="1200" b="0">
                <a:solidFill>
                  <a:srgbClr val="B8C0B0"/>
                </a:solidFill>
                <a:latin typeface="IBM Plex Sans Arabic"/>
                <a:ea typeface="IBM Plex Sans Arabic"/>
                <a:cs typeface="IBM Plex Sans Arabic"/>
              </a:rPr>
              <a:t>على الحبر</a:t>
            </a:r>
          </a:p>
        </p:txBody>
      </p:sp>
      <p:sp>
        <p:nvSpPr>
          <p:cNvPr id="9" name="Rectangle 8"/>
          <p:cNvSpPr/>
          <p:nvPr/>
        </p:nvSpPr>
        <p:spPr>
          <a:xfrm>
            <a:off x="5806440" y="1554480"/>
            <a:ext cx="3291840" cy="379476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otana-logo-1400.png"/>
          <p:cNvPicPr>
            <a:picLocks noChangeAspect="1"/>
          </p:cNvPicPr>
          <p:nvPr/>
        </p:nvPicPr>
        <p:blipFill>
          <a:blip r:embed="rId2"/>
          <a:stretch>
            <a:fillRect/>
          </a:stretch>
        </p:blipFill>
        <p:spPr>
          <a:xfrm>
            <a:off x="6080760" y="2788920"/>
            <a:ext cx="2743200" cy="640080"/>
          </a:xfrm>
          <a:prstGeom prst="rect">
            <a:avLst/>
          </a:prstGeom>
        </p:spPr>
      </p:pic>
      <p:sp>
        <p:nvSpPr>
          <p:cNvPr id="11" name="TextBox 10"/>
          <p:cNvSpPr txBox="1"/>
          <p:nvPr/>
        </p:nvSpPr>
        <p:spPr>
          <a:xfrm>
            <a:off x="5806440" y="5074920"/>
            <a:ext cx="3291840" cy="256032"/>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على الرمادي الفاتح</a:t>
            </a:r>
          </a:p>
        </p:txBody>
      </p:sp>
      <p:sp>
        <p:nvSpPr>
          <p:cNvPr id="12" name="Rectangle 11"/>
          <p:cNvSpPr/>
          <p:nvPr/>
        </p:nvSpPr>
        <p:spPr>
          <a:xfrm>
            <a:off x="9281160" y="1554480"/>
            <a:ext cx="2331720" cy="3794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81160" y="1554480"/>
            <a:ext cx="2331720" cy="3794760"/>
          </a:xfrm>
          <a:prstGeom prst="rect">
            <a:avLst/>
          </a:prstGeom>
          <a:noFill/>
          <a:ln w="12700">
            <a:solidFill>
              <a:srgbClr val="E8E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tana-sphere.png"/>
          <p:cNvPicPr>
            <a:picLocks noChangeAspect="1"/>
          </p:cNvPicPr>
          <p:nvPr/>
        </p:nvPicPr>
        <p:blipFill>
          <a:blip r:embed="rId3"/>
          <a:stretch>
            <a:fillRect/>
          </a:stretch>
        </p:blipFill>
        <p:spPr>
          <a:xfrm>
            <a:off x="9509760" y="2331720"/>
            <a:ext cx="1874519" cy="1965960"/>
          </a:xfrm>
          <a:prstGeom prst="rect">
            <a:avLst/>
          </a:prstGeom>
        </p:spPr>
      </p:pic>
      <p:sp>
        <p:nvSpPr>
          <p:cNvPr id="15" name="TextBox 14"/>
          <p:cNvSpPr txBox="1"/>
          <p:nvPr/>
        </p:nvSpPr>
        <p:spPr>
          <a:xfrm>
            <a:off x="9281160" y="5074920"/>
            <a:ext cx="2331720" cy="256032"/>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الكرة — أيقونة</a:t>
            </a:r>
          </a:p>
        </p:txBody>
      </p:sp>
      <p:sp>
        <p:nvSpPr>
          <p:cNvPr id="16" name="TextBox 15"/>
          <p:cNvSpPr txBox="1"/>
          <p:nvPr/>
        </p:nvSpPr>
        <p:spPr>
          <a:xfrm>
            <a:off x="566928" y="5943600"/>
            <a:ext cx="10972800" cy="320040"/>
          </a:xfrm>
          <a:prstGeom prst="rect">
            <a:avLst/>
          </a:prstGeom>
          <a:noFill/>
        </p:spPr>
        <p:txBody>
          <a:bodyPr wrap="square" anchor="t"/>
          <a:lstStyle/>
          <a:p>
            <a:pPr rtl="1" algn="r"/>
            <a:r>
              <a:rPr sz="1300" b="0">
                <a:solidFill>
                  <a:srgbClr val="6A706C"/>
                </a:solidFill>
                <a:latin typeface="IBM Plex Sans Arabic"/>
                <a:ea typeface="IBM Plex Sans Arabic"/>
                <a:cs typeface="IBM Plex Sans Arabic"/>
              </a:rPr>
              <a:t>مساحة الأمان = ارتفاع حرف r. لا ظل، ولا إعادة تلوين للوردمارك.</a:t>
            </a:r>
          </a:p>
        </p:txBody>
      </p:sp>
      <p:sp>
        <p:nvSpPr>
          <p:cNvPr id="17" name="TextBox 16"/>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8" name="TextBox 17"/>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٠٧</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ماسكات الصورة</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شكل ثابت. صورة تُستبدل.</a:t>
            </a:r>
          </a:p>
        </p:txBody>
      </p:sp>
      <p:pic>
        <p:nvPicPr>
          <p:cNvPr id="6" name="Picture 5" descr="circle-01.png"/>
          <p:cNvPicPr>
            <a:picLocks noChangeAspect="1"/>
          </p:cNvPicPr>
          <p:nvPr/>
        </p:nvPicPr>
        <p:blipFill>
          <a:blip r:embed="rId2"/>
          <a:stretch>
            <a:fillRect/>
          </a:stretch>
        </p:blipFill>
        <p:spPr>
          <a:xfrm>
            <a:off x="566928" y="1508760"/>
            <a:ext cx="2606040" cy="3977639"/>
          </a:xfrm>
          <a:prstGeom prst="ellipse">
            <a:avLst/>
          </a:prstGeom>
        </p:spPr>
      </p:pic>
      <p:sp>
        <p:nvSpPr>
          <p:cNvPr id="7" name="TextBox 6"/>
          <p:cNvSpPr txBox="1"/>
          <p:nvPr/>
        </p:nvSpPr>
        <p:spPr>
          <a:xfrm>
            <a:off x="566928" y="5577840"/>
            <a:ext cx="2606040" cy="365760"/>
          </a:xfrm>
          <a:prstGeom prst="rect">
            <a:avLst/>
          </a:prstGeom>
          <a:noFill/>
        </p:spPr>
        <p:txBody>
          <a:bodyPr wrap="square" anchor="t"/>
          <a:lstStyle/>
          <a:p>
            <a:pPr rtl="1" algn="ctr"/>
            <a:r>
              <a:rPr sz="1300" b="0">
                <a:solidFill>
                  <a:srgbClr val="3A403C"/>
                </a:solidFill>
                <a:latin typeface="IBM Plex Sans Arabic"/>
                <a:ea typeface="IBM Plex Sans Arabic"/>
                <a:cs typeface="IBM Plex Sans Arabic"/>
              </a:rPr>
              <a:t>دائري · قيادات</a:t>
            </a:r>
          </a:p>
        </p:txBody>
      </p:sp>
      <p:pic>
        <p:nvPicPr>
          <p:cNvPr id="8" name="Picture 7" descr="arch-01.png"/>
          <p:cNvPicPr>
            <a:picLocks noChangeAspect="1"/>
          </p:cNvPicPr>
          <p:nvPr/>
        </p:nvPicPr>
        <p:blipFill>
          <a:blip r:embed="rId3"/>
          <a:stretch>
            <a:fillRect/>
          </a:stretch>
        </p:blipFill>
        <p:spPr>
          <a:xfrm>
            <a:off x="3447288" y="1508760"/>
            <a:ext cx="2606040" cy="3977639"/>
          </a:xfrm>
          <a:prstGeom prst="rect">
            <a:avLst/>
          </a:prstGeom>
        </p:spPr>
      </p:pic>
      <p:sp>
        <p:nvSpPr>
          <p:cNvPr id="9" name="TextBox 8"/>
          <p:cNvSpPr txBox="1"/>
          <p:nvPr/>
        </p:nvSpPr>
        <p:spPr>
          <a:xfrm>
            <a:off x="3447288" y="5577840"/>
            <a:ext cx="2606040" cy="365760"/>
          </a:xfrm>
          <a:prstGeom prst="rect">
            <a:avLst/>
          </a:prstGeom>
          <a:noFill/>
        </p:spPr>
        <p:txBody>
          <a:bodyPr wrap="square" anchor="t"/>
          <a:lstStyle/>
          <a:p>
            <a:pPr rtl="1" algn="ctr"/>
            <a:r>
              <a:rPr sz="1300" b="0">
                <a:solidFill>
                  <a:srgbClr val="3A403C"/>
                </a:solidFill>
                <a:latin typeface="IBM Plex Sans Arabic"/>
                <a:ea typeface="IBM Plex Sans Arabic"/>
                <a:cs typeface="IBM Plex Sans Arabic"/>
              </a:rPr>
              <a:t>قوس · بورتريه</a:t>
            </a:r>
          </a:p>
        </p:txBody>
      </p:sp>
      <p:pic>
        <p:nvPicPr>
          <p:cNvPr id="10" name="Picture 9" descr="rounded-01.png"/>
          <p:cNvPicPr>
            <a:picLocks noChangeAspect="1"/>
          </p:cNvPicPr>
          <p:nvPr/>
        </p:nvPicPr>
        <p:blipFill>
          <a:blip r:embed="rId4"/>
          <a:stretch>
            <a:fillRect/>
          </a:stretch>
        </p:blipFill>
        <p:spPr>
          <a:xfrm>
            <a:off x="6327648" y="1508760"/>
            <a:ext cx="2606040" cy="3977639"/>
          </a:xfrm>
          <a:prstGeom prst="rect">
            <a:avLst/>
          </a:prstGeom>
        </p:spPr>
      </p:pic>
      <p:sp>
        <p:nvSpPr>
          <p:cNvPr id="11" name="TextBox 10"/>
          <p:cNvSpPr txBox="1"/>
          <p:nvPr/>
        </p:nvSpPr>
        <p:spPr>
          <a:xfrm>
            <a:off x="6327648" y="5577840"/>
            <a:ext cx="2606040" cy="365760"/>
          </a:xfrm>
          <a:prstGeom prst="rect">
            <a:avLst/>
          </a:prstGeom>
          <a:noFill/>
        </p:spPr>
        <p:txBody>
          <a:bodyPr wrap="square" anchor="t"/>
          <a:lstStyle/>
          <a:p>
            <a:pPr rtl="1" algn="ctr"/>
            <a:r>
              <a:rPr sz="1300" b="0">
                <a:solidFill>
                  <a:srgbClr val="3A403C"/>
                </a:solidFill>
                <a:latin typeface="IBM Plex Sans Arabic"/>
                <a:ea typeface="IBM Plex Sans Arabic"/>
                <a:cs typeface="IBM Plex Sans Arabic"/>
              </a:rPr>
              <a:t>مستطيل ناعم</a:t>
            </a:r>
          </a:p>
        </p:txBody>
      </p:sp>
      <p:pic>
        <p:nvPicPr>
          <p:cNvPr id="12" name="Picture 11" descr="wave-01.png"/>
          <p:cNvPicPr>
            <a:picLocks noChangeAspect="1"/>
          </p:cNvPicPr>
          <p:nvPr/>
        </p:nvPicPr>
        <p:blipFill>
          <a:blip r:embed="rId5"/>
          <a:stretch>
            <a:fillRect/>
          </a:stretch>
        </p:blipFill>
        <p:spPr>
          <a:xfrm>
            <a:off x="9208008" y="1508760"/>
            <a:ext cx="2606040" cy="3977639"/>
          </a:xfrm>
          <a:prstGeom prst="rect">
            <a:avLst/>
          </a:prstGeom>
        </p:spPr>
      </p:pic>
      <p:sp>
        <p:nvSpPr>
          <p:cNvPr id="13" name="TextBox 12"/>
          <p:cNvSpPr txBox="1"/>
          <p:nvPr/>
        </p:nvSpPr>
        <p:spPr>
          <a:xfrm>
            <a:off x="9208008" y="5577840"/>
            <a:ext cx="2606040" cy="365760"/>
          </a:xfrm>
          <a:prstGeom prst="rect">
            <a:avLst/>
          </a:prstGeom>
          <a:noFill/>
        </p:spPr>
        <p:txBody>
          <a:bodyPr wrap="square" anchor="t"/>
          <a:lstStyle/>
          <a:p>
            <a:pPr rtl="1" algn="ctr"/>
            <a:r>
              <a:rPr sz="1300" b="0">
                <a:solidFill>
                  <a:srgbClr val="3A403C"/>
                </a:solidFill>
                <a:latin typeface="IBM Plex Sans Arabic"/>
                <a:ea typeface="IBM Plex Sans Arabic"/>
                <a:cs typeface="IBM Plex Sans Arabic"/>
              </a:rPr>
              <a:t>موجة روتانا</a:t>
            </a:r>
          </a:p>
        </p:txBody>
      </p:sp>
      <p:sp>
        <p:nvSpPr>
          <p:cNvPr id="14" name="TextBox 13"/>
          <p:cNvSpPr txBox="1"/>
          <p:nvPr/>
        </p:nvSpPr>
        <p:spPr>
          <a:xfrm>
            <a:off x="566928" y="5989320"/>
            <a:ext cx="10972800" cy="274320"/>
          </a:xfrm>
          <a:prstGeom prst="rect">
            <a:avLst/>
          </a:prstGeom>
          <a:noFill/>
        </p:spPr>
        <p:txBody>
          <a:bodyPr wrap="square" anchor="t"/>
          <a:lstStyle/>
          <a:p>
            <a:pPr rtl="1" algn="r"/>
            <a:r>
              <a:rPr sz="1300" b="0">
                <a:solidFill>
                  <a:srgbClr val="6A706C"/>
                </a:solidFill>
                <a:latin typeface="IBM Plex Sans Arabic"/>
                <a:ea typeface="IBM Plex Sans Arabic"/>
                <a:cs typeface="IBM Plex Sans Arabic"/>
              </a:rPr>
              <a:t>Picture Format → Change Picture. الماسك يبقى.</a:t>
            </a:r>
          </a:p>
        </p:txBody>
      </p:sp>
      <p:sp>
        <p:nvSpPr>
          <p:cNvPr id="15" name="TextBox 14"/>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6" name="TextBox 15"/>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٠٨</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مكتبة الأيقونات</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خط واحد، نهايات مدوّرة — بلغة الشعار.</a:t>
            </a:r>
          </a:p>
        </p:txBody>
      </p:sp>
      <p:pic>
        <p:nvPicPr>
          <p:cNvPr id="6" name="Picture 5" descr="people.png"/>
          <p:cNvPicPr>
            <a:picLocks noChangeAspect="1"/>
          </p:cNvPicPr>
          <p:nvPr/>
        </p:nvPicPr>
        <p:blipFill>
          <a:blip r:embed="rId2"/>
          <a:stretch>
            <a:fillRect/>
          </a:stretch>
        </p:blipFill>
        <p:spPr>
          <a:xfrm>
            <a:off x="1069848" y="1554480"/>
            <a:ext cx="384048" cy="384048"/>
          </a:xfrm>
          <a:prstGeom prst="rect">
            <a:avLst/>
          </a:prstGeom>
        </p:spPr>
      </p:pic>
      <p:sp>
        <p:nvSpPr>
          <p:cNvPr id="7" name="TextBox 6"/>
          <p:cNvSpPr txBox="1"/>
          <p:nvPr/>
        </p:nvSpPr>
        <p:spPr>
          <a:xfrm>
            <a:off x="566928"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فريق</a:t>
            </a:r>
          </a:p>
        </p:txBody>
      </p:sp>
      <p:pic>
        <p:nvPicPr>
          <p:cNvPr id="8" name="Picture 7" descr="hire.png"/>
          <p:cNvPicPr>
            <a:picLocks noChangeAspect="1"/>
          </p:cNvPicPr>
          <p:nvPr/>
        </p:nvPicPr>
        <p:blipFill>
          <a:blip r:embed="rId3"/>
          <a:stretch>
            <a:fillRect/>
          </a:stretch>
        </p:blipFill>
        <p:spPr>
          <a:xfrm>
            <a:off x="2697480" y="1554480"/>
            <a:ext cx="384048" cy="384048"/>
          </a:xfrm>
          <a:prstGeom prst="rect">
            <a:avLst/>
          </a:prstGeom>
        </p:spPr>
      </p:pic>
      <p:sp>
        <p:nvSpPr>
          <p:cNvPr id="9" name="TextBox 8"/>
          <p:cNvSpPr txBox="1"/>
          <p:nvPr/>
        </p:nvSpPr>
        <p:spPr>
          <a:xfrm>
            <a:off x="2194560"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استقطاب</a:t>
            </a:r>
          </a:p>
        </p:txBody>
      </p:sp>
      <p:pic>
        <p:nvPicPr>
          <p:cNvPr id="10" name="Picture 9" descr="onboard.png"/>
          <p:cNvPicPr>
            <a:picLocks noChangeAspect="1"/>
          </p:cNvPicPr>
          <p:nvPr/>
        </p:nvPicPr>
        <p:blipFill>
          <a:blip r:embed="rId4"/>
          <a:stretch>
            <a:fillRect/>
          </a:stretch>
        </p:blipFill>
        <p:spPr>
          <a:xfrm>
            <a:off x="4325112" y="1554480"/>
            <a:ext cx="384048" cy="384048"/>
          </a:xfrm>
          <a:prstGeom prst="rect">
            <a:avLst/>
          </a:prstGeom>
        </p:spPr>
      </p:pic>
      <p:sp>
        <p:nvSpPr>
          <p:cNvPr id="11" name="TextBox 10"/>
          <p:cNvSpPr txBox="1"/>
          <p:nvPr/>
        </p:nvSpPr>
        <p:spPr>
          <a:xfrm>
            <a:off x="3822192"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تهيئة</a:t>
            </a:r>
          </a:p>
        </p:txBody>
      </p:sp>
      <p:pic>
        <p:nvPicPr>
          <p:cNvPr id="12" name="Picture 11" descr="train.png"/>
          <p:cNvPicPr>
            <a:picLocks noChangeAspect="1"/>
          </p:cNvPicPr>
          <p:nvPr/>
        </p:nvPicPr>
        <p:blipFill>
          <a:blip r:embed="rId5"/>
          <a:stretch>
            <a:fillRect/>
          </a:stretch>
        </p:blipFill>
        <p:spPr>
          <a:xfrm>
            <a:off x="5952744" y="1554480"/>
            <a:ext cx="384048" cy="384048"/>
          </a:xfrm>
          <a:prstGeom prst="rect">
            <a:avLst/>
          </a:prstGeom>
        </p:spPr>
      </p:pic>
      <p:sp>
        <p:nvSpPr>
          <p:cNvPr id="13" name="TextBox 12"/>
          <p:cNvSpPr txBox="1"/>
          <p:nvPr/>
        </p:nvSpPr>
        <p:spPr>
          <a:xfrm>
            <a:off x="5449824"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تدريب</a:t>
            </a:r>
          </a:p>
        </p:txBody>
      </p:sp>
      <p:pic>
        <p:nvPicPr>
          <p:cNvPr id="14" name="Picture 13" descr="performance.png"/>
          <p:cNvPicPr>
            <a:picLocks noChangeAspect="1"/>
          </p:cNvPicPr>
          <p:nvPr/>
        </p:nvPicPr>
        <p:blipFill>
          <a:blip r:embed="rId6"/>
          <a:stretch>
            <a:fillRect/>
          </a:stretch>
        </p:blipFill>
        <p:spPr>
          <a:xfrm>
            <a:off x="7580376" y="1554480"/>
            <a:ext cx="384048" cy="384048"/>
          </a:xfrm>
          <a:prstGeom prst="rect">
            <a:avLst/>
          </a:prstGeom>
        </p:spPr>
      </p:pic>
      <p:sp>
        <p:nvSpPr>
          <p:cNvPr id="15" name="TextBox 14"/>
          <p:cNvSpPr txBox="1"/>
          <p:nvPr/>
        </p:nvSpPr>
        <p:spPr>
          <a:xfrm>
            <a:off x="7077456"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أداء</a:t>
            </a:r>
          </a:p>
        </p:txBody>
      </p:sp>
      <p:pic>
        <p:nvPicPr>
          <p:cNvPr id="16" name="Picture 15" descr="benefits.png"/>
          <p:cNvPicPr>
            <a:picLocks noChangeAspect="1"/>
          </p:cNvPicPr>
          <p:nvPr/>
        </p:nvPicPr>
        <p:blipFill>
          <a:blip r:embed="rId7"/>
          <a:stretch>
            <a:fillRect/>
          </a:stretch>
        </p:blipFill>
        <p:spPr>
          <a:xfrm>
            <a:off x="9208008" y="1554480"/>
            <a:ext cx="384048" cy="384048"/>
          </a:xfrm>
          <a:prstGeom prst="rect">
            <a:avLst/>
          </a:prstGeom>
        </p:spPr>
      </p:pic>
      <p:sp>
        <p:nvSpPr>
          <p:cNvPr id="17" name="TextBox 16"/>
          <p:cNvSpPr txBox="1"/>
          <p:nvPr/>
        </p:nvSpPr>
        <p:spPr>
          <a:xfrm>
            <a:off x="8705088"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مزايا</a:t>
            </a:r>
          </a:p>
        </p:txBody>
      </p:sp>
      <p:pic>
        <p:nvPicPr>
          <p:cNvPr id="18" name="Picture 17" descr="relations.png"/>
          <p:cNvPicPr>
            <a:picLocks noChangeAspect="1"/>
          </p:cNvPicPr>
          <p:nvPr/>
        </p:nvPicPr>
        <p:blipFill>
          <a:blip r:embed="rId8"/>
          <a:stretch>
            <a:fillRect/>
          </a:stretch>
        </p:blipFill>
        <p:spPr>
          <a:xfrm>
            <a:off x="10835640" y="1554480"/>
            <a:ext cx="384048" cy="384048"/>
          </a:xfrm>
          <a:prstGeom prst="rect">
            <a:avLst/>
          </a:prstGeom>
        </p:spPr>
      </p:pic>
      <p:sp>
        <p:nvSpPr>
          <p:cNvPr id="19" name="TextBox 18"/>
          <p:cNvSpPr txBox="1"/>
          <p:nvPr/>
        </p:nvSpPr>
        <p:spPr>
          <a:xfrm>
            <a:off x="10332720" y="2011680"/>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علاقات</a:t>
            </a:r>
          </a:p>
        </p:txBody>
      </p:sp>
      <p:pic>
        <p:nvPicPr>
          <p:cNvPr id="20" name="Picture 19" descr="culture.png"/>
          <p:cNvPicPr>
            <a:picLocks noChangeAspect="1"/>
          </p:cNvPicPr>
          <p:nvPr/>
        </p:nvPicPr>
        <p:blipFill>
          <a:blip r:embed="rId9"/>
          <a:stretch>
            <a:fillRect/>
          </a:stretch>
        </p:blipFill>
        <p:spPr>
          <a:xfrm>
            <a:off x="1069848" y="2670048"/>
            <a:ext cx="384048" cy="384048"/>
          </a:xfrm>
          <a:prstGeom prst="rect">
            <a:avLst/>
          </a:prstGeom>
        </p:spPr>
      </p:pic>
      <p:sp>
        <p:nvSpPr>
          <p:cNvPr id="21" name="TextBox 20"/>
          <p:cNvSpPr txBox="1"/>
          <p:nvPr/>
        </p:nvSpPr>
        <p:spPr>
          <a:xfrm>
            <a:off x="566928"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ثقافة</a:t>
            </a:r>
          </a:p>
        </p:txBody>
      </p:sp>
      <p:pic>
        <p:nvPicPr>
          <p:cNvPr id="22" name="Picture 21" descr="wellness.png"/>
          <p:cNvPicPr>
            <a:picLocks noChangeAspect="1"/>
          </p:cNvPicPr>
          <p:nvPr/>
        </p:nvPicPr>
        <p:blipFill>
          <a:blip r:embed="rId10"/>
          <a:stretch>
            <a:fillRect/>
          </a:stretch>
        </p:blipFill>
        <p:spPr>
          <a:xfrm>
            <a:off x="2697480" y="2670048"/>
            <a:ext cx="384048" cy="384048"/>
          </a:xfrm>
          <a:prstGeom prst="rect">
            <a:avLst/>
          </a:prstGeom>
        </p:spPr>
      </p:pic>
      <p:sp>
        <p:nvSpPr>
          <p:cNvPr id="23" name="TextBox 22"/>
          <p:cNvSpPr txBox="1"/>
          <p:nvPr/>
        </p:nvSpPr>
        <p:spPr>
          <a:xfrm>
            <a:off x="2194560"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رفاه</a:t>
            </a:r>
          </a:p>
        </p:txBody>
      </p:sp>
      <p:pic>
        <p:nvPicPr>
          <p:cNvPr id="24" name="Picture 23" descr="payroll.png"/>
          <p:cNvPicPr>
            <a:picLocks noChangeAspect="1"/>
          </p:cNvPicPr>
          <p:nvPr/>
        </p:nvPicPr>
        <p:blipFill>
          <a:blip r:embed="rId11"/>
          <a:stretch>
            <a:fillRect/>
          </a:stretch>
        </p:blipFill>
        <p:spPr>
          <a:xfrm>
            <a:off x="4325112" y="2670048"/>
            <a:ext cx="384048" cy="384048"/>
          </a:xfrm>
          <a:prstGeom prst="rect">
            <a:avLst/>
          </a:prstGeom>
        </p:spPr>
      </p:pic>
      <p:sp>
        <p:nvSpPr>
          <p:cNvPr id="25" name="TextBox 24"/>
          <p:cNvSpPr txBox="1"/>
          <p:nvPr/>
        </p:nvSpPr>
        <p:spPr>
          <a:xfrm>
            <a:off x="3822192"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رواتب</a:t>
            </a:r>
          </a:p>
        </p:txBody>
      </p:sp>
      <p:pic>
        <p:nvPicPr>
          <p:cNvPr id="26" name="Picture 25" descr="policy.png"/>
          <p:cNvPicPr>
            <a:picLocks noChangeAspect="1"/>
          </p:cNvPicPr>
          <p:nvPr/>
        </p:nvPicPr>
        <p:blipFill>
          <a:blip r:embed="rId12"/>
          <a:stretch>
            <a:fillRect/>
          </a:stretch>
        </p:blipFill>
        <p:spPr>
          <a:xfrm>
            <a:off x="5952744" y="2670048"/>
            <a:ext cx="384048" cy="384048"/>
          </a:xfrm>
          <a:prstGeom prst="rect">
            <a:avLst/>
          </a:prstGeom>
        </p:spPr>
      </p:pic>
      <p:sp>
        <p:nvSpPr>
          <p:cNvPr id="27" name="TextBox 26"/>
          <p:cNvSpPr txBox="1"/>
          <p:nvPr/>
        </p:nvSpPr>
        <p:spPr>
          <a:xfrm>
            <a:off x="5449824"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سياسات</a:t>
            </a:r>
          </a:p>
        </p:txBody>
      </p:sp>
      <p:pic>
        <p:nvPicPr>
          <p:cNvPr id="28" name="Picture 27" descr="talent.png"/>
          <p:cNvPicPr>
            <a:picLocks noChangeAspect="1"/>
          </p:cNvPicPr>
          <p:nvPr/>
        </p:nvPicPr>
        <p:blipFill>
          <a:blip r:embed="rId13"/>
          <a:stretch>
            <a:fillRect/>
          </a:stretch>
        </p:blipFill>
        <p:spPr>
          <a:xfrm>
            <a:off x="7580376" y="2670048"/>
            <a:ext cx="384048" cy="384048"/>
          </a:xfrm>
          <a:prstGeom prst="rect">
            <a:avLst/>
          </a:prstGeom>
        </p:spPr>
      </p:pic>
      <p:sp>
        <p:nvSpPr>
          <p:cNvPr id="29" name="TextBox 28"/>
          <p:cNvSpPr txBox="1"/>
          <p:nvPr/>
        </p:nvSpPr>
        <p:spPr>
          <a:xfrm>
            <a:off x="7077456"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مواهب</a:t>
            </a:r>
          </a:p>
        </p:txBody>
      </p:sp>
      <p:pic>
        <p:nvPicPr>
          <p:cNvPr id="30" name="Picture 29" descr="org.png"/>
          <p:cNvPicPr>
            <a:picLocks noChangeAspect="1"/>
          </p:cNvPicPr>
          <p:nvPr/>
        </p:nvPicPr>
        <p:blipFill>
          <a:blip r:embed="rId14"/>
          <a:stretch>
            <a:fillRect/>
          </a:stretch>
        </p:blipFill>
        <p:spPr>
          <a:xfrm>
            <a:off x="9208008" y="2670048"/>
            <a:ext cx="384048" cy="384048"/>
          </a:xfrm>
          <a:prstGeom prst="rect">
            <a:avLst/>
          </a:prstGeom>
        </p:spPr>
      </p:pic>
      <p:sp>
        <p:nvSpPr>
          <p:cNvPr id="31" name="TextBox 30"/>
          <p:cNvSpPr txBox="1"/>
          <p:nvPr/>
        </p:nvSpPr>
        <p:spPr>
          <a:xfrm>
            <a:off x="8705088"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هيكل</a:t>
            </a:r>
          </a:p>
        </p:txBody>
      </p:sp>
      <p:pic>
        <p:nvPicPr>
          <p:cNvPr id="32" name="Picture 31" descr="calendar.png"/>
          <p:cNvPicPr>
            <a:picLocks noChangeAspect="1"/>
          </p:cNvPicPr>
          <p:nvPr/>
        </p:nvPicPr>
        <p:blipFill>
          <a:blip r:embed="rId15"/>
          <a:stretch>
            <a:fillRect/>
          </a:stretch>
        </p:blipFill>
        <p:spPr>
          <a:xfrm>
            <a:off x="10835640" y="2670048"/>
            <a:ext cx="384048" cy="384048"/>
          </a:xfrm>
          <a:prstGeom prst="rect">
            <a:avLst/>
          </a:prstGeom>
        </p:spPr>
      </p:pic>
      <p:sp>
        <p:nvSpPr>
          <p:cNvPr id="33" name="TextBox 32"/>
          <p:cNvSpPr txBox="1"/>
          <p:nvPr/>
        </p:nvSpPr>
        <p:spPr>
          <a:xfrm>
            <a:off x="10332720" y="3127248"/>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تقويم</a:t>
            </a:r>
          </a:p>
        </p:txBody>
      </p:sp>
      <p:pic>
        <p:nvPicPr>
          <p:cNvPr id="34" name="Picture 33" descr="chart.png"/>
          <p:cNvPicPr>
            <a:picLocks noChangeAspect="1"/>
          </p:cNvPicPr>
          <p:nvPr/>
        </p:nvPicPr>
        <p:blipFill>
          <a:blip r:embed="rId16"/>
          <a:stretch>
            <a:fillRect/>
          </a:stretch>
        </p:blipFill>
        <p:spPr>
          <a:xfrm>
            <a:off x="1069848" y="3785616"/>
            <a:ext cx="384048" cy="384048"/>
          </a:xfrm>
          <a:prstGeom prst="rect">
            <a:avLst/>
          </a:prstGeom>
        </p:spPr>
      </p:pic>
      <p:sp>
        <p:nvSpPr>
          <p:cNvPr id="35" name="TextBox 34"/>
          <p:cNvSpPr txBox="1"/>
          <p:nvPr/>
        </p:nvSpPr>
        <p:spPr>
          <a:xfrm>
            <a:off x="566928"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مؤشر</a:t>
            </a:r>
          </a:p>
        </p:txBody>
      </p:sp>
      <p:pic>
        <p:nvPicPr>
          <p:cNvPr id="36" name="Picture 35" descr="target.png"/>
          <p:cNvPicPr>
            <a:picLocks noChangeAspect="1"/>
          </p:cNvPicPr>
          <p:nvPr/>
        </p:nvPicPr>
        <p:blipFill>
          <a:blip r:embed="rId17"/>
          <a:stretch>
            <a:fillRect/>
          </a:stretch>
        </p:blipFill>
        <p:spPr>
          <a:xfrm>
            <a:off x="2697480" y="3785616"/>
            <a:ext cx="384048" cy="384048"/>
          </a:xfrm>
          <a:prstGeom prst="rect">
            <a:avLst/>
          </a:prstGeom>
        </p:spPr>
      </p:pic>
      <p:sp>
        <p:nvSpPr>
          <p:cNvPr id="37" name="TextBox 36"/>
          <p:cNvSpPr txBox="1"/>
          <p:nvPr/>
        </p:nvSpPr>
        <p:spPr>
          <a:xfrm>
            <a:off x="2194560"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هدف</a:t>
            </a:r>
          </a:p>
        </p:txBody>
      </p:sp>
      <p:pic>
        <p:nvPicPr>
          <p:cNvPr id="38" name="Picture 37" descr="handshake.png"/>
          <p:cNvPicPr>
            <a:picLocks noChangeAspect="1"/>
          </p:cNvPicPr>
          <p:nvPr/>
        </p:nvPicPr>
        <p:blipFill>
          <a:blip r:embed="rId18"/>
          <a:stretch>
            <a:fillRect/>
          </a:stretch>
        </p:blipFill>
        <p:spPr>
          <a:xfrm>
            <a:off x="4325112" y="3785616"/>
            <a:ext cx="384048" cy="384048"/>
          </a:xfrm>
          <a:prstGeom prst="rect">
            <a:avLst/>
          </a:prstGeom>
        </p:spPr>
      </p:pic>
      <p:sp>
        <p:nvSpPr>
          <p:cNvPr id="39" name="TextBox 38"/>
          <p:cNvSpPr txBox="1"/>
          <p:nvPr/>
        </p:nvSpPr>
        <p:spPr>
          <a:xfrm>
            <a:off x="3822192"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شراكة</a:t>
            </a:r>
          </a:p>
        </p:txBody>
      </p:sp>
      <p:pic>
        <p:nvPicPr>
          <p:cNvPr id="40" name="Picture 39" descr="shield.png"/>
          <p:cNvPicPr>
            <a:picLocks noChangeAspect="1"/>
          </p:cNvPicPr>
          <p:nvPr/>
        </p:nvPicPr>
        <p:blipFill>
          <a:blip r:embed="rId19"/>
          <a:stretch>
            <a:fillRect/>
          </a:stretch>
        </p:blipFill>
        <p:spPr>
          <a:xfrm>
            <a:off x="5952744" y="3785616"/>
            <a:ext cx="384048" cy="384048"/>
          </a:xfrm>
          <a:prstGeom prst="rect">
            <a:avLst/>
          </a:prstGeom>
        </p:spPr>
      </p:pic>
      <p:sp>
        <p:nvSpPr>
          <p:cNvPr id="41" name="TextBox 40"/>
          <p:cNvSpPr txBox="1"/>
          <p:nvPr/>
        </p:nvSpPr>
        <p:spPr>
          <a:xfrm>
            <a:off x="5449824"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التزام</a:t>
            </a:r>
          </a:p>
        </p:txBody>
      </p:sp>
      <p:pic>
        <p:nvPicPr>
          <p:cNvPr id="42" name="Picture 41" descr="globe.png"/>
          <p:cNvPicPr>
            <a:picLocks noChangeAspect="1"/>
          </p:cNvPicPr>
          <p:nvPr/>
        </p:nvPicPr>
        <p:blipFill>
          <a:blip r:embed="rId20"/>
          <a:stretch>
            <a:fillRect/>
          </a:stretch>
        </p:blipFill>
        <p:spPr>
          <a:xfrm>
            <a:off x="7580376" y="3785616"/>
            <a:ext cx="384048" cy="384048"/>
          </a:xfrm>
          <a:prstGeom prst="rect">
            <a:avLst/>
          </a:prstGeom>
        </p:spPr>
      </p:pic>
      <p:sp>
        <p:nvSpPr>
          <p:cNvPr id="43" name="TextBox 42"/>
          <p:cNvSpPr txBox="1"/>
          <p:nvPr/>
        </p:nvSpPr>
        <p:spPr>
          <a:xfrm>
            <a:off x="7077456"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عالمي</a:t>
            </a:r>
          </a:p>
        </p:txBody>
      </p:sp>
      <p:pic>
        <p:nvPicPr>
          <p:cNvPr id="44" name="Picture 43" descr="music.png"/>
          <p:cNvPicPr>
            <a:picLocks noChangeAspect="1"/>
          </p:cNvPicPr>
          <p:nvPr/>
        </p:nvPicPr>
        <p:blipFill>
          <a:blip r:embed="rId21"/>
          <a:stretch>
            <a:fillRect/>
          </a:stretch>
        </p:blipFill>
        <p:spPr>
          <a:xfrm>
            <a:off x="9208008" y="3785616"/>
            <a:ext cx="384048" cy="384048"/>
          </a:xfrm>
          <a:prstGeom prst="rect">
            <a:avLst/>
          </a:prstGeom>
        </p:spPr>
      </p:pic>
      <p:sp>
        <p:nvSpPr>
          <p:cNvPr id="45" name="TextBox 44"/>
          <p:cNvSpPr txBox="1"/>
          <p:nvPr/>
        </p:nvSpPr>
        <p:spPr>
          <a:xfrm>
            <a:off x="8705088"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موسيقى</a:t>
            </a:r>
          </a:p>
        </p:txBody>
      </p:sp>
      <p:pic>
        <p:nvPicPr>
          <p:cNvPr id="46" name="Picture 45" descr="film.png"/>
          <p:cNvPicPr>
            <a:picLocks noChangeAspect="1"/>
          </p:cNvPicPr>
          <p:nvPr/>
        </p:nvPicPr>
        <p:blipFill>
          <a:blip r:embed="rId22"/>
          <a:stretch>
            <a:fillRect/>
          </a:stretch>
        </p:blipFill>
        <p:spPr>
          <a:xfrm>
            <a:off x="10835640" y="3785616"/>
            <a:ext cx="384048" cy="384048"/>
          </a:xfrm>
          <a:prstGeom prst="rect">
            <a:avLst/>
          </a:prstGeom>
        </p:spPr>
      </p:pic>
      <p:sp>
        <p:nvSpPr>
          <p:cNvPr id="47" name="TextBox 46"/>
          <p:cNvSpPr txBox="1"/>
          <p:nvPr/>
        </p:nvSpPr>
        <p:spPr>
          <a:xfrm>
            <a:off x="10332720" y="4242816"/>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سينما</a:t>
            </a:r>
          </a:p>
        </p:txBody>
      </p:sp>
      <p:pic>
        <p:nvPicPr>
          <p:cNvPr id="48" name="Picture 47" descr="tv.png"/>
          <p:cNvPicPr>
            <a:picLocks noChangeAspect="1"/>
          </p:cNvPicPr>
          <p:nvPr/>
        </p:nvPicPr>
        <p:blipFill>
          <a:blip r:embed="rId23"/>
          <a:stretch>
            <a:fillRect/>
          </a:stretch>
        </p:blipFill>
        <p:spPr>
          <a:xfrm>
            <a:off x="1069848" y="4901184"/>
            <a:ext cx="384048" cy="384048"/>
          </a:xfrm>
          <a:prstGeom prst="rect">
            <a:avLst/>
          </a:prstGeom>
        </p:spPr>
      </p:pic>
      <p:sp>
        <p:nvSpPr>
          <p:cNvPr id="49" name="TextBox 48"/>
          <p:cNvSpPr txBox="1"/>
          <p:nvPr/>
        </p:nvSpPr>
        <p:spPr>
          <a:xfrm>
            <a:off x="566928"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تلفزيون</a:t>
            </a:r>
          </a:p>
        </p:txBody>
      </p:sp>
      <p:pic>
        <p:nvPicPr>
          <p:cNvPr id="50" name="Picture 49" descr="megaphone.png"/>
          <p:cNvPicPr>
            <a:picLocks noChangeAspect="1"/>
          </p:cNvPicPr>
          <p:nvPr/>
        </p:nvPicPr>
        <p:blipFill>
          <a:blip r:embed="rId24"/>
          <a:stretch>
            <a:fillRect/>
          </a:stretch>
        </p:blipFill>
        <p:spPr>
          <a:xfrm>
            <a:off x="2697480" y="4901184"/>
            <a:ext cx="384048" cy="384048"/>
          </a:xfrm>
          <a:prstGeom prst="rect">
            <a:avLst/>
          </a:prstGeom>
        </p:spPr>
      </p:pic>
      <p:sp>
        <p:nvSpPr>
          <p:cNvPr id="51" name="TextBox 50"/>
          <p:cNvSpPr txBox="1"/>
          <p:nvPr/>
        </p:nvSpPr>
        <p:spPr>
          <a:xfrm>
            <a:off x="2194560"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إعلام</a:t>
            </a:r>
          </a:p>
        </p:txBody>
      </p:sp>
      <p:pic>
        <p:nvPicPr>
          <p:cNvPr id="52" name="Picture 51" descr="building.png"/>
          <p:cNvPicPr>
            <a:picLocks noChangeAspect="1"/>
          </p:cNvPicPr>
          <p:nvPr/>
        </p:nvPicPr>
        <p:blipFill>
          <a:blip r:embed="rId25"/>
          <a:stretch>
            <a:fillRect/>
          </a:stretch>
        </p:blipFill>
        <p:spPr>
          <a:xfrm>
            <a:off x="4325112" y="4901184"/>
            <a:ext cx="384048" cy="384048"/>
          </a:xfrm>
          <a:prstGeom prst="rect">
            <a:avLst/>
          </a:prstGeom>
        </p:spPr>
      </p:pic>
      <p:sp>
        <p:nvSpPr>
          <p:cNvPr id="53" name="TextBox 52"/>
          <p:cNvSpPr txBox="1"/>
          <p:nvPr/>
        </p:nvSpPr>
        <p:spPr>
          <a:xfrm>
            <a:off x="3822192"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مقر</a:t>
            </a:r>
          </a:p>
        </p:txBody>
      </p:sp>
      <p:pic>
        <p:nvPicPr>
          <p:cNvPr id="54" name="Picture 53" descr="document.png"/>
          <p:cNvPicPr>
            <a:picLocks noChangeAspect="1"/>
          </p:cNvPicPr>
          <p:nvPr/>
        </p:nvPicPr>
        <p:blipFill>
          <a:blip r:embed="rId26"/>
          <a:stretch>
            <a:fillRect/>
          </a:stretch>
        </p:blipFill>
        <p:spPr>
          <a:xfrm>
            <a:off x="5952744" y="4901184"/>
            <a:ext cx="384048" cy="384048"/>
          </a:xfrm>
          <a:prstGeom prst="rect">
            <a:avLst/>
          </a:prstGeom>
        </p:spPr>
      </p:pic>
      <p:sp>
        <p:nvSpPr>
          <p:cNvPr id="55" name="TextBox 54"/>
          <p:cNvSpPr txBox="1"/>
          <p:nvPr/>
        </p:nvSpPr>
        <p:spPr>
          <a:xfrm>
            <a:off x="5449824"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مستند</a:t>
            </a:r>
          </a:p>
        </p:txBody>
      </p:sp>
      <p:pic>
        <p:nvPicPr>
          <p:cNvPr id="56" name="Picture 55" descr="clock.png"/>
          <p:cNvPicPr>
            <a:picLocks noChangeAspect="1"/>
          </p:cNvPicPr>
          <p:nvPr/>
        </p:nvPicPr>
        <p:blipFill>
          <a:blip r:embed="rId27"/>
          <a:stretch>
            <a:fillRect/>
          </a:stretch>
        </p:blipFill>
        <p:spPr>
          <a:xfrm>
            <a:off x="7580376" y="4901184"/>
            <a:ext cx="384048" cy="384048"/>
          </a:xfrm>
          <a:prstGeom prst="rect">
            <a:avLst/>
          </a:prstGeom>
        </p:spPr>
      </p:pic>
      <p:sp>
        <p:nvSpPr>
          <p:cNvPr id="57" name="TextBox 56"/>
          <p:cNvSpPr txBox="1"/>
          <p:nvPr/>
        </p:nvSpPr>
        <p:spPr>
          <a:xfrm>
            <a:off x="7077456"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زمن</a:t>
            </a:r>
          </a:p>
        </p:txBody>
      </p:sp>
      <p:pic>
        <p:nvPicPr>
          <p:cNvPr id="58" name="Picture 57" descr="pin.png"/>
          <p:cNvPicPr>
            <a:picLocks noChangeAspect="1"/>
          </p:cNvPicPr>
          <p:nvPr/>
        </p:nvPicPr>
        <p:blipFill>
          <a:blip r:embed="rId28"/>
          <a:stretch>
            <a:fillRect/>
          </a:stretch>
        </p:blipFill>
        <p:spPr>
          <a:xfrm>
            <a:off x="9208008" y="4901184"/>
            <a:ext cx="384048" cy="384048"/>
          </a:xfrm>
          <a:prstGeom prst="rect">
            <a:avLst/>
          </a:prstGeom>
        </p:spPr>
      </p:pic>
      <p:sp>
        <p:nvSpPr>
          <p:cNvPr id="59" name="TextBox 58"/>
          <p:cNvSpPr txBox="1"/>
          <p:nvPr/>
        </p:nvSpPr>
        <p:spPr>
          <a:xfrm>
            <a:off x="8705088"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موقع</a:t>
            </a:r>
          </a:p>
        </p:txBody>
      </p:sp>
      <p:pic>
        <p:nvPicPr>
          <p:cNvPr id="60" name="Picture 59" descr="message.png"/>
          <p:cNvPicPr>
            <a:picLocks noChangeAspect="1"/>
          </p:cNvPicPr>
          <p:nvPr/>
        </p:nvPicPr>
        <p:blipFill>
          <a:blip r:embed="rId29"/>
          <a:stretch>
            <a:fillRect/>
          </a:stretch>
        </p:blipFill>
        <p:spPr>
          <a:xfrm>
            <a:off x="10835640" y="4901184"/>
            <a:ext cx="384048" cy="384048"/>
          </a:xfrm>
          <a:prstGeom prst="rect">
            <a:avLst/>
          </a:prstGeom>
        </p:spPr>
      </p:pic>
      <p:sp>
        <p:nvSpPr>
          <p:cNvPr id="61" name="TextBox 60"/>
          <p:cNvSpPr txBox="1"/>
          <p:nvPr/>
        </p:nvSpPr>
        <p:spPr>
          <a:xfrm>
            <a:off x="10332720" y="5358384"/>
            <a:ext cx="1417320" cy="292608"/>
          </a:xfrm>
          <a:prstGeom prst="rect">
            <a:avLst/>
          </a:prstGeom>
          <a:noFill/>
        </p:spPr>
        <p:txBody>
          <a:bodyPr wrap="square" anchor="t"/>
          <a:lstStyle/>
          <a:p>
            <a:pPr rtl="1" algn="ctr"/>
            <a:r>
              <a:rPr sz="1200" b="0">
                <a:solidFill>
                  <a:srgbClr val="3A403C"/>
                </a:solidFill>
                <a:latin typeface="IBM Plex Sans Arabic"/>
                <a:ea typeface="IBM Plex Sans Arabic"/>
                <a:cs typeface="IBM Plex Sans Arabic"/>
              </a:rPr>
              <a:t>رسالة</a:t>
            </a:r>
          </a:p>
        </p:txBody>
      </p:sp>
      <p:sp>
        <p:nvSpPr>
          <p:cNvPr id="62" name="TextBox 61"/>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63" name="TextBox 62"/>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٠٩</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إنفوجرافيك الأرقام</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رقم كبير. شرح صغير. بلا صندوق.</a:t>
            </a:r>
          </a:p>
        </p:txBody>
      </p:sp>
      <p:sp>
        <p:nvSpPr>
          <p:cNvPr id="6" name="TextBox 5"/>
          <p:cNvSpPr txBox="1"/>
          <p:nvPr/>
        </p:nvSpPr>
        <p:spPr>
          <a:xfrm>
            <a:off x="566928" y="1554480"/>
            <a:ext cx="2697480" cy="1051560"/>
          </a:xfrm>
          <a:prstGeom prst="rect">
            <a:avLst/>
          </a:prstGeom>
          <a:noFill/>
        </p:spPr>
        <p:txBody>
          <a:bodyPr wrap="square" anchor="t"/>
          <a:lstStyle/>
          <a:p>
            <a:pPr rtl="1" algn="r"/>
            <a:r>
              <a:rPr sz="4400" b="0">
                <a:solidFill>
                  <a:srgbClr val="00512F"/>
                </a:solidFill>
                <a:latin typeface="Amiri"/>
                <a:ea typeface="Amiri"/>
                <a:cs typeface="Amiri"/>
              </a:rPr>
              <a:t>1,240</a:t>
            </a:r>
          </a:p>
        </p:txBody>
      </p:sp>
      <p:sp>
        <p:nvSpPr>
          <p:cNvPr id="7" name="TextBox 6"/>
          <p:cNvSpPr txBox="1"/>
          <p:nvPr/>
        </p:nvSpPr>
        <p:spPr>
          <a:xfrm>
            <a:off x="566928" y="2606040"/>
            <a:ext cx="2697480" cy="320040"/>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إجمالي القوة</a:t>
            </a:r>
          </a:p>
        </p:txBody>
      </p:sp>
      <p:sp>
        <p:nvSpPr>
          <p:cNvPr id="8" name="TextBox 7"/>
          <p:cNvSpPr txBox="1"/>
          <p:nvPr/>
        </p:nvSpPr>
        <p:spPr>
          <a:xfrm>
            <a:off x="566928" y="2926080"/>
            <a:ext cx="2697480" cy="274320"/>
          </a:xfrm>
          <a:prstGeom prst="rect">
            <a:avLst/>
          </a:prstGeom>
          <a:noFill/>
        </p:spPr>
        <p:txBody>
          <a:bodyPr wrap="square" anchor="t"/>
          <a:lstStyle/>
          <a:p>
            <a:pPr rtl="1" algn="r"/>
            <a:r>
              <a:rPr sz="1200" b="0">
                <a:solidFill>
                  <a:srgbClr val="6A706C"/>
                </a:solidFill>
                <a:latin typeface="IBM Plex Sans"/>
                <a:ea typeface="IBM Plex Sans"/>
                <a:cs typeface="IBM Plex Sans"/>
              </a:rPr>
              <a:t>Headcount · Q2</a:t>
            </a:r>
          </a:p>
        </p:txBody>
      </p:sp>
      <p:sp>
        <p:nvSpPr>
          <p:cNvPr id="9" name="TextBox 8"/>
          <p:cNvSpPr txBox="1"/>
          <p:nvPr/>
        </p:nvSpPr>
        <p:spPr>
          <a:xfrm>
            <a:off x="3447288" y="1554480"/>
            <a:ext cx="2697480" cy="1051560"/>
          </a:xfrm>
          <a:prstGeom prst="rect">
            <a:avLst/>
          </a:prstGeom>
          <a:noFill/>
        </p:spPr>
        <p:txBody>
          <a:bodyPr wrap="square" anchor="t"/>
          <a:lstStyle/>
          <a:p>
            <a:pPr rtl="1" algn="r"/>
            <a:r>
              <a:rPr sz="4400" b="0">
                <a:solidFill>
                  <a:srgbClr val="00512F"/>
                </a:solidFill>
                <a:latin typeface="Amiri"/>
                <a:ea typeface="Amiri"/>
                <a:cs typeface="Amiri"/>
              </a:rPr>
              <a:t>87%</a:t>
            </a:r>
          </a:p>
        </p:txBody>
      </p:sp>
      <p:sp>
        <p:nvSpPr>
          <p:cNvPr id="10" name="TextBox 9"/>
          <p:cNvSpPr txBox="1"/>
          <p:nvPr/>
        </p:nvSpPr>
        <p:spPr>
          <a:xfrm>
            <a:off x="3447288" y="2606040"/>
            <a:ext cx="2697480" cy="320040"/>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نسبة التهيئة</a:t>
            </a:r>
          </a:p>
        </p:txBody>
      </p:sp>
      <p:sp>
        <p:nvSpPr>
          <p:cNvPr id="11" name="TextBox 10"/>
          <p:cNvSpPr txBox="1"/>
          <p:nvPr/>
        </p:nvSpPr>
        <p:spPr>
          <a:xfrm>
            <a:off x="3447288" y="2926080"/>
            <a:ext cx="2697480" cy="274320"/>
          </a:xfrm>
          <a:prstGeom prst="rect">
            <a:avLst/>
          </a:prstGeom>
          <a:noFill/>
        </p:spPr>
        <p:txBody>
          <a:bodyPr wrap="square" anchor="t"/>
          <a:lstStyle/>
          <a:p>
            <a:pPr rtl="1" algn="r"/>
            <a:r>
              <a:rPr sz="1200" b="0">
                <a:solidFill>
                  <a:srgbClr val="6A706C"/>
                </a:solidFill>
                <a:latin typeface="IBM Plex Sans"/>
                <a:ea typeface="IBM Plex Sans"/>
                <a:cs typeface="IBM Plex Sans"/>
              </a:rPr>
              <a:t>Onboarding complete</a:t>
            </a:r>
          </a:p>
        </p:txBody>
      </p:sp>
      <p:sp>
        <p:nvSpPr>
          <p:cNvPr id="12" name="TextBox 11"/>
          <p:cNvSpPr txBox="1"/>
          <p:nvPr/>
        </p:nvSpPr>
        <p:spPr>
          <a:xfrm>
            <a:off x="6327648" y="1554480"/>
            <a:ext cx="2697480" cy="1051560"/>
          </a:xfrm>
          <a:prstGeom prst="rect">
            <a:avLst/>
          </a:prstGeom>
          <a:noFill/>
        </p:spPr>
        <p:txBody>
          <a:bodyPr wrap="square" anchor="t"/>
          <a:lstStyle/>
          <a:p>
            <a:pPr rtl="1" algn="r"/>
            <a:r>
              <a:rPr sz="4400" b="0">
                <a:solidFill>
                  <a:srgbClr val="00512F"/>
                </a:solidFill>
                <a:latin typeface="Amiri"/>
                <a:ea typeface="Amiri"/>
                <a:cs typeface="Amiri"/>
              </a:rPr>
              <a:t>24</a:t>
            </a:r>
          </a:p>
        </p:txBody>
      </p:sp>
      <p:sp>
        <p:nvSpPr>
          <p:cNvPr id="13" name="TextBox 12"/>
          <p:cNvSpPr txBox="1"/>
          <p:nvPr/>
        </p:nvSpPr>
        <p:spPr>
          <a:xfrm>
            <a:off x="6327648" y="2606040"/>
            <a:ext cx="2697480" cy="320040"/>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يومًا للتوظيف</a:t>
            </a:r>
          </a:p>
        </p:txBody>
      </p:sp>
      <p:sp>
        <p:nvSpPr>
          <p:cNvPr id="14" name="TextBox 13"/>
          <p:cNvSpPr txBox="1"/>
          <p:nvPr/>
        </p:nvSpPr>
        <p:spPr>
          <a:xfrm>
            <a:off x="6327648" y="2926080"/>
            <a:ext cx="2697480" cy="274320"/>
          </a:xfrm>
          <a:prstGeom prst="rect">
            <a:avLst/>
          </a:prstGeom>
          <a:noFill/>
        </p:spPr>
        <p:txBody>
          <a:bodyPr wrap="square" anchor="t"/>
          <a:lstStyle/>
          <a:p>
            <a:pPr rtl="1" algn="r"/>
            <a:r>
              <a:rPr sz="1200" b="0">
                <a:solidFill>
                  <a:srgbClr val="6A706C"/>
                </a:solidFill>
                <a:latin typeface="IBM Plex Sans"/>
                <a:ea typeface="IBM Plex Sans"/>
                <a:cs typeface="IBM Plex Sans"/>
              </a:rPr>
              <a:t>Time to hire</a:t>
            </a:r>
          </a:p>
        </p:txBody>
      </p:sp>
      <p:sp>
        <p:nvSpPr>
          <p:cNvPr id="15" name="TextBox 14"/>
          <p:cNvSpPr txBox="1"/>
          <p:nvPr/>
        </p:nvSpPr>
        <p:spPr>
          <a:xfrm>
            <a:off x="9208008" y="1554480"/>
            <a:ext cx="2697480" cy="1051560"/>
          </a:xfrm>
          <a:prstGeom prst="rect">
            <a:avLst/>
          </a:prstGeom>
          <a:noFill/>
        </p:spPr>
        <p:txBody>
          <a:bodyPr wrap="square" anchor="t"/>
          <a:lstStyle/>
          <a:p>
            <a:pPr rtl="1" algn="r"/>
            <a:r>
              <a:rPr sz="4400" b="0">
                <a:solidFill>
                  <a:srgbClr val="00512F"/>
                </a:solidFill>
                <a:latin typeface="Amiri"/>
                <a:ea typeface="Amiri"/>
                <a:cs typeface="Amiri"/>
              </a:rPr>
              <a:t>+6.2</a:t>
            </a:r>
          </a:p>
        </p:txBody>
      </p:sp>
      <p:sp>
        <p:nvSpPr>
          <p:cNvPr id="16" name="TextBox 15"/>
          <p:cNvSpPr txBox="1"/>
          <p:nvPr/>
        </p:nvSpPr>
        <p:spPr>
          <a:xfrm>
            <a:off x="9208008" y="2606040"/>
            <a:ext cx="2697480" cy="320040"/>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eNPS</a:t>
            </a:r>
          </a:p>
        </p:txBody>
      </p:sp>
      <p:sp>
        <p:nvSpPr>
          <p:cNvPr id="17" name="TextBox 16"/>
          <p:cNvSpPr txBox="1"/>
          <p:nvPr/>
        </p:nvSpPr>
        <p:spPr>
          <a:xfrm>
            <a:off x="9208008" y="2926080"/>
            <a:ext cx="2697480" cy="274320"/>
          </a:xfrm>
          <a:prstGeom prst="rect">
            <a:avLst/>
          </a:prstGeom>
          <a:noFill/>
        </p:spPr>
        <p:txBody>
          <a:bodyPr wrap="square" anchor="t"/>
          <a:lstStyle/>
          <a:p>
            <a:pPr rtl="1" algn="r"/>
            <a:r>
              <a:rPr sz="1200" b="0">
                <a:solidFill>
                  <a:srgbClr val="6A706C"/>
                </a:solidFill>
                <a:latin typeface="IBM Plex Sans"/>
                <a:ea typeface="IBM Plex Sans"/>
                <a:cs typeface="IBM Plex Sans"/>
              </a:rPr>
              <a:t>مقابل الربع السابق</a:t>
            </a:r>
          </a:p>
        </p:txBody>
      </p:sp>
      <p:sp>
        <p:nvSpPr>
          <p:cNvPr id="18" name="Rectangle 17"/>
          <p:cNvSpPr/>
          <p:nvPr/>
        </p:nvSpPr>
        <p:spPr>
          <a:xfrm>
            <a:off x="566928" y="3383280"/>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03320"/>
            <a:ext cx="3017520" cy="27432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استبقاء السنة الأولى</a:t>
            </a:r>
          </a:p>
        </p:txBody>
      </p:sp>
      <p:sp>
        <p:nvSpPr>
          <p:cNvPr id="20" name="Rectangle 19"/>
          <p:cNvSpPr/>
          <p:nvPr/>
        </p:nvSpPr>
        <p:spPr>
          <a:xfrm>
            <a:off x="3749039" y="3776472"/>
            <a:ext cx="6766560" cy="146304"/>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37682" y="3776472"/>
            <a:ext cx="5277916" cy="146304"/>
          </a:xfrm>
          <a:prstGeom prst="rect">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0" y="3703320"/>
            <a:ext cx="1005840" cy="274320"/>
          </a:xfrm>
          <a:prstGeom prst="rect">
            <a:avLst/>
          </a:prstGeom>
          <a:noFill/>
        </p:spPr>
        <p:txBody>
          <a:bodyPr wrap="square" anchor="t"/>
          <a:lstStyle/>
          <a:p>
            <a:pPr rtl="1" algn="l"/>
            <a:r>
              <a:rPr sz="1300" b="0">
                <a:solidFill>
                  <a:srgbClr val="00512F"/>
                </a:solidFill>
                <a:latin typeface="IBM Plex Mono"/>
                <a:ea typeface="IBM Plex Mono"/>
                <a:cs typeface="IBM Plex Mono"/>
              </a:rPr>
              <a:t>78%</a:t>
            </a:r>
          </a:p>
        </p:txBody>
      </p:sp>
      <p:sp>
        <p:nvSpPr>
          <p:cNvPr id="23" name="TextBox 22"/>
          <p:cNvSpPr txBox="1"/>
          <p:nvPr/>
        </p:nvSpPr>
        <p:spPr>
          <a:xfrm>
            <a:off x="566928" y="4361688"/>
            <a:ext cx="3017520" cy="27432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اكتمال التقييمات</a:t>
            </a:r>
          </a:p>
        </p:txBody>
      </p:sp>
      <p:sp>
        <p:nvSpPr>
          <p:cNvPr id="24" name="Rectangle 23"/>
          <p:cNvSpPr/>
          <p:nvPr/>
        </p:nvSpPr>
        <p:spPr>
          <a:xfrm>
            <a:off x="3749039" y="4434840"/>
            <a:ext cx="6766560" cy="146304"/>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85000" y="4434840"/>
            <a:ext cx="4330598" cy="146304"/>
          </a:xfrm>
          <a:prstGeom prst="rect">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07040" y="4361688"/>
            <a:ext cx="1005840" cy="274320"/>
          </a:xfrm>
          <a:prstGeom prst="rect">
            <a:avLst/>
          </a:prstGeom>
          <a:noFill/>
        </p:spPr>
        <p:txBody>
          <a:bodyPr wrap="square" anchor="t"/>
          <a:lstStyle/>
          <a:p>
            <a:pPr rtl="1" algn="l"/>
            <a:r>
              <a:rPr sz="1300" b="0">
                <a:solidFill>
                  <a:srgbClr val="00512F"/>
                </a:solidFill>
                <a:latin typeface="IBM Plex Mono"/>
                <a:ea typeface="IBM Plex Mono"/>
                <a:cs typeface="IBM Plex Mono"/>
              </a:rPr>
              <a:t>64%</a:t>
            </a:r>
          </a:p>
        </p:txBody>
      </p:sp>
      <p:sp>
        <p:nvSpPr>
          <p:cNvPr id="27" name="TextBox 26"/>
          <p:cNvSpPr txBox="1"/>
          <p:nvPr/>
        </p:nvSpPr>
        <p:spPr>
          <a:xfrm>
            <a:off x="566928" y="5020056"/>
            <a:ext cx="3017520" cy="274320"/>
          </a:xfrm>
          <a:prstGeom prst="rect">
            <a:avLst/>
          </a:prstGeom>
          <a:noFill/>
        </p:spPr>
        <p:txBody>
          <a:bodyPr wrap="square" anchor="t"/>
          <a:lstStyle/>
          <a:p>
            <a:pPr rtl="1" algn="r"/>
            <a:r>
              <a:rPr sz="1400" b="0">
                <a:solidFill>
                  <a:srgbClr val="3A403C"/>
                </a:solidFill>
                <a:latin typeface="IBM Plex Sans Arabic"/>
                <a:ea typeface="IBM Plex Sans Arabic"/>
                <a:cs typeface="IBM Plex Sans Arabic"/>
              </a:rPr>
              <a:t>شواغر حرجة مغلقة</a:t>
            </a:r>
          </a:p>
        </p:txBody>
      </p:sp>
      <p:sp>
        <p:nvSpPr>
          <p:cNvPr id="28" name="Rectangle 27"/>
          <p:cNvSpPr/>
          <p:nvPr/>
        </p:nvSpPr>
        <p:spPr>
          <a:xfrm>
            <a:off x="3749039" y="5093208"/>
            <a:ext cx="6766560" cy="146304"/>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41309" y="5093208"/>
            <a:ext cx="2774289" cy="146304"/>
          </a:xfrm>
          <a:prstGeom prst="rect">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07040" y="5020056"/>
            <a:ext cx="1005840" cy="274320"/>
          </a:xfrm>
          <a:prstGeom prst="rect">
            <a:avLst/>
          </a:prstGeom>
          <a:noFill/>
        </p:spPr>
        <p:txBody>
          <a:bodyPr wrap="square" anchor="t"/>
          <a:lstStyle/>
          <a:p>
            <a:pPr rtl="1" algn="l"/>
            <a:r>
              <a:rPr sz="1300" b="0">
                <a:solidFill>
                  <a:srgbClr val="00512F"/>
                </a:solidFill>
                <a:latin typeface="IBM Plex Mono"/>
                <a:ea typeface="IBM Plex Mono"/>
                <a:cs typeface="IBM Plex Mono"/>
              </a:rPr>
              <a:t>41%</a:t>
            </a:r>
          </a:p>
        </p:txBody>
      </p:sp>
      <p:sp>
        <p:nvSpPr>
          <p:cNvPr id="31" name="TextBox 30"/>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32" name="TextBox 31"/>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١٠</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تكوين القوة</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دائرة القرار، وأعمدة المقارنة — عدّل الأرقام من الشارت.</a:t>
            </a:r>
          </a:p>
        </p:txBody>
      </p:sp>
      <p:graphicFrame>
        <p:nvGraphicFramePr>
          <p:cNvPr id="6" name="Chart 5"/>
          <p:cNvGraphicFramePr>
            <a:graphicFrameLocks noGrp="1"/>
          </p:cNvGraphicFramePr>
          <p:nvPr/>
        </p:nvGraphicFramePr>
        <p:xfrm>
          <a:off x="566928" y="1508760"/>
          <a:ext cx="4206240" cy="420624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852160" y="1691640"/>
          <a:ext cx="5852160" cy="4023360"/>
        </p:xfrm>
        <a:graphic>
          <a:graphicData uri="http://schemas.openxmlformats.org/drawingml/2006/chart">
            <c:chart xmlns:c="http://schemas.openxmlformats.org/drawingml/2006/chart" r:id="rId3"/>
          </a:graphicData>
        </a:graphic>
      </p:graphicFrame>
      <p:sp>
        <p:nvSpPr>
          <p:cNvPr id="8" name="TextBox 7"/>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9" name="TextBox 8"/>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١١</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إدارات روتانا</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وحدات العمل — انسخ البطاقة إلى عرض القسم.</a:t>
            </a:r>
          </a:p>
        </p:txBody>
      </p:sp>
      <p:sp>
        <p:nvSpPr>
          <p:cNvPr id="6" name="Rounded Rectangle 5"/>
          <p:cNvSpPr/>
          <p:nvPr/>
        </p:nvSpPr>
        <p:spPr>
          <a:xfrm>
            <a:off x="566928" y="1508760"/>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36776"/>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موسيقى</a:t>
            </a:r>
          </a:p>
        </p:txBody>
      </p:sp>
      <p:sp>
        <p:nvSpPr>
          <p:cNvPr id="8" name="Rounded Rectangle 7"/>
          <p:cNvSpPr/>
          <p:nvPr/>
        </p:nvSpPr>
        <p:spPr>
          <a:xfrm>
            <a:off x="4361688" y="1508760"/>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636776"/>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خليجية</a:t>
            </a:r>
          </a:p>
        </p:txBody>
      </p:sp>
      <p:sp>
        <p:nvSpPr>
          <p:cNvPr id="10" name="Rounded Rectangle 9"/>
          <p:cNvSpPr/>
          <p:nvPr/>
        </p:nvSpPr>
        <p:spPr>
          <a:xfrm>
            <a:off x="8156448" y="1508760"/>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636776"/>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سينما</a:t>
            </a:r>
          </a:p>
        </p:txBody>
      </p:sp>
      <p:sp>
        <p:nvSpPr>
          <p:cNvPr id="12" name="Rounded Rectangle 11"/>
          <p:cNvSpPr/>
          <p:nvPr/>
        </p:nvSpPr>
        <p:spPr>
          <a:xfrm>
            <a:off x="566928" y="2221992"/>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50008"/>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دراما</a:t>
            </a:r>
          </a:p>
        </p:txBody>
      </p:sp>
      <p:sp>
        <p:nvSpPr>
          <p:cNvPr id="14" name="Rounded Rectangle 13"/>
          <p:cNvSpPr/>
          <p:nvPr/>
        </p:nvSpPr>
        <p:spPr>
          <a:xfrm>
            <a:off x="4361688" y="2221992"/>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350008"/>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كوميدي</a:t>
            </a:r>
          </a:p>
        </p:txBody>
      </p:sp>
      <p:sp>
        <p:nvSpPr>
          <p:cNvPr id="16" name="Rounded Rectangle 15"/>
          <p:cNvSpPr/>
          <p:nvPr/>
        </p:nvSpPr>
        <p:spPr>
          <a:xfrm>
            <a:off x="8156448" y="2221992"/>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2350008"/>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زمان</a:t>
            </a:r>
          </a:p>
        </p:txBody>
      </p:sp>
      <p:sp>
        <p:nvSpPr>
          <p:cNvPr id="18" name="Rounded Rectangle 17"/>
          <p:cNvSpPr/>
          <p:nvPr/>
        </p:nvSpPr>
        <p:spPr>
          <a:xfrm>
            <a:off x="566928" y="2935224"/>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063240"/>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كلاسيك</a:t>
            </a:r>
          </a:p>
        </p:txBody>
      </p:sp>
      <p:sp>
        <p:nvSpPr>
          <p:cNvPr id="20" name="Rounded Rectangle 19"/>
          <p:cNvSpPr/>
          <p:nvPr/>
        </p:nvSpPr>
        <p:spPr>
          <a:xfrm>
            <a:off x="4361688" y="2935224"/>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3063240"/>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روتانا كيدز</a:t>
            </a:r>
          </a:p>
        </p:txBody>
      </p:sp>
      <p:sp>
        <p:nvSpPr>
          <p:cNvPr id="22" name="Rounded Rectangle 21"/>
          <p:cNvSpPr/>
          <p:nvPr/>
        </p:nvSpPr>
        <p:spPr>
          <a:xfrm>
            <a:off x="8156448" y="2935224"/>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3063240"/>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المنصات الرقمية</a:t>
            </a:r>
          </a:p>
        </p:txBody>
      </p:sp>
      <p:sp>
        <p:nvSpPr>
          <p:cNvPr id="24" name="Rounded Rectangle 23"/>
          <p:cNvSpPr/>
          <p:nvPr/>
        </p:nvSpPr>
        <p:spPr>
          <a:xfrm>
            <a:off x="566928" y="3648456"/>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76472"/>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التسويق والعلامات</a:t>
            </a:r>
          </a:p>
        </p:txBody>
      </p:sp>
      <p:sp>
        <p:nvSpPr>
          <p:cNvPr id="26" name="Rounded Rectangle 25"/>
          <p:cNvSpPr/>
          <p:nvPr/>
        </p:nvSpPr>
        <p:spPr>
          <a:xfrm>
            <a:off x="4361688" y="3648456"/>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3776472"/>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المبيعات والشراكات</a:t>
            </a:r>
          </a:p>
        </p:txBody>
      </p:sp>
      <p:sp>
        <p:nvSpPr>
          <p:cNvPr id="28" name="Rounded Rectangle 27"/>
          <p:cNvSpPr/>
          <p:nvPr/>
        </p:nvSpPr>
        <p:spPr>
          <a:xfrm>
            <a:off x="8156448" y="3648456"/>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0" y="3776472"/>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الإنتاج</a:t>
            </a:r>
          </a:p>
        </p:txBody>
      </p:sp>
      <p:sp>
        <p:nvSpPr>
          <p:cNvPr id="30" name="Rounded Rectangle 29"/>
          <p:cNvSpPr/>
          <p:nvPr/>
        </p:nvSpPr>
        <p:spPr>
          <a:xfrm>
            <a:off x="566928" y="4361688"/>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489704"/>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التوزيع والحقوق</a:t>
            </a:r>
          </a:p>
        </p:txBody>
      </p:sp>
      <p:sp>
        <p:nvSpPr>
          <p:cNvPr id="32" name="Rounded Rectangle 31"/>
          <p:cNvSpPr/>
          <p:nvPr/>
        </p:nvSpPr>
        <p:spPr>
          <a:xfrm>
            <a:off x="4361688" y="4361688"/>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26280" y="4489704"/>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المالية</a:t>
            </a:r>
          </a:p>
        </p:txBody>
      </p:sp>
      <p:sp>
        <p:nvSpPr>
          <p:cNvPr id="34" name="Rounded Rectangle 33"/>
          <p:cNvSpPr/>
          <p:nvPr/>
        </p:nvSpPr>
        <p:spPr>
          <a:xfrm>
            <a:off x="8156448" y="4361688"/>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4489704"/>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الشؤون القانونية</a:t>
            </a:r>
          </a:p>
        </p:txBody>
      </p:sp>
      <p:sp>
        <p:nvSpPr>
          <p:cNvPr id="36" name="Rounded Rectangle 35"/>
          <p:cNvSpPr/>
          <p:nvPr/>
        </p:nvSpPr>
        <p:spPr>
          <a:xfrm>
            <a:off x="566928" y="5074920"/>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202936"/>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تقنية المعلومات</a:t>
            </a:r>
          </a:p>
        </p:txBody>
      </p:sp>
      <p:sp>
        <p:nvSpPr>
          <p:cNvPr id="38" name="Rounded Rectangle 37"/>
          <p:cNvSpPr/>
          <p:nvPr/>
        </p:nvSpPr>
        <p:spPr>
          <a:xfrm>
            <a:off x="4361688" y="5074920"/>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26280" y="5202936"/>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الاتصال المؤسسي</a:t>
            </a:r>
          </a:p>
        </p:txBody>
      </p:sp>
      <p:sp>
        <p:nvSpPr>
          <p:cNvPr id="40" name="Rounded Rectangle 39"/>
          <p:cNvSpPr/>
          <p:nvPr/>
        </p:nvSpPr>
        <p:spPr>
          <a:xfrm>
            <a:off x="8156448" y="5074920"/>
            <a:ext cx="3611880" cy="566928"/>
          </a:xfrm>
          <a:prstGeom prst="roundRect">
            <a:avLst/>
          </a:prstGeom>
          <a:solidFill>
            <a:srgbClr val="FFFFFF"/>
          </a:solidFill>
          <a:ln w="12700">
            <a:solidFill>
              <a:srgbClr val="C5C7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0" y="5202936"/>
            <a:ext cx="3291840" cy="329184"/>
          </a:xfrm>
          <a:prstGeom prst="rect">
            <a:avLst/>
          </a:prstGeom>
          <a:noFill/>
        </p:spPr>
        <p:txBody>
          <a:bodyPr wrap="square" anchor="t"/>
          <a:lstStyle/>
          <a:p>
            <a:pPr rtl="1" algn="r"/>
            <a:r>
              <a:rPr sz="1500" b="0">
                <a:solidFill>
                  <a:srgbClr val="0C100E"/>
                </a:solidFill>
                <a:latin typeface="IBM Plex Sans Arabic"/>
                <a:ea typeface="IBM Plex Sans Arabic"/>
                <a:cs typeface="IBM Plex Sans Arabic"/>
              </a:rPr>
              <a:t>الموارد البشرية</a:t>
            </a:r>
          </a:p>
        </p:txBody>
      </p:sp>
      <p:sp>
        <p:nvSpPr>
          <p:cNvPr id="42" name="TextBox 41"/>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43" name="TextBox 42"/>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١٢</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وحدات الموارد البشرية</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كل وظيفة لها أيقونة — انسخ الصف.</a:t>
            </a:r>
          </a:p>
        </p:txBody>
      </p:sp>
      <p:pic>
        <p:nvPicPr>
          <p:cNvPr id="6" name="Picture 5" descr="hire.png"/>
          <p:cNvPicPr>
            <a:picLocks noChangeAspect="1"/>
          </p:cNvPicPr>
          <p:nvPr/>
        </p:nvPicPr>
        <p:blipFill>
          <a:blip r:embed="rId2"/>
          <a:stretch>
            <a:fillRect/>
          </a:stretch>
        </p:blipFill>
        <p:spPr>
          <a:xfrm>
            <a:off x="566928" y="1673352"/>
            <a:ext cx="365760" cy="365760"/>
          </a:xfrm>
          <a:prstGeom prst="rect">
            <a:avLst/>
          </a:prstGeom>
        </p:spPr>
      </p:pic>
      <p:sp>
        <p:nvSpPr>
          <p:cNvPr id="7" name="TextBox 6"/>
          <p:cNvSpPr txBox="1"/>
          <p:nvPr/>
        </p:nvSpPr>
        <p:spPr>
          <a:xfrm>
            <a:off x="1069848" y="1618488"/>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الاستقطاب</a:t>
            </a:r>
          </a:p>
        </p:txBody>
      </p:sp>
      <p:sp>
        <p:nvSpPr>
          <p:cNvPr id="8" name="TextBox 7"/>
          <p:cNvSpPr txBox="1"/>
          <p:nvPr/>
        </p:nvSpPr>
        <p:spPr>
          <a:xfrm>
            <a:off x="1069848" y="1911096"/>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Talent Acquisition</a:t>
            </a:r>
          </a:p>
        </p:txBody>
      </p:sp>
      <p:sp>
        <p:nvSpPr>
          <p:cNvPr id="9" name="Rectangle 8"/>
          <p:cNvSpPr/>
          <p:nvPr/>
        </p:nvSpPr>
        <p:spPr>
          <a:xfrm>
            <a:off x="566928" y="2331720"/>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onboard.png"/>
          <p:cNvPicPr>
            <a:picLocks noChangeAspect="1"/>
          </p:cNvPicPr>
          <p:nvPr/>
        </p:nvPicPr>
        <p:blipFill>
          <a:blip r:embed="rId3"/>
          <a:stretch>
            <a:fillRect/>
          </a:stretch>
        </p:blipFill>
        <p:spPr>
          <a:xfrm>
            <a:off x="4361688" y="1673352"/>
            <a:ext cx="365760" cy="365760"/>
          </a:xfrm>
          <a:prstGeom prst="rect">
            <a:avLst/>
          </a:prstGeom>
        </p:spPr>
      </p:pic>
      <p:sp>
        <p:nvSpPr>
          <p:cNvPr id="11" name="TextBox 10"/>
          <p:cNvSpPr txBox="1"/>
          <p:nvPr/>
        </p:nvSpPr>
        <p:spPr>
          <a:xfrm>
            <a:off x="4864608" y="1618488"/>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التهيئة</a:t>
            </a:r>
          </a:p>
        </p:txBody>
      </p:sp>
      <p:sp>
        <p:nvSpPr>
          <p:cNvPr id="12" name="TextBox 11"/>
          <p:cNvSpPr txBox="1"/>
          <p:nvPr/>
        </p:nvSpPr>
        <p:spPr>
          <a:xfrm>
            <a:off x="4864608" y="1911096"/>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Onboarding</a:t>
            </a:r>
          </a:p>
        </p:txBody>
      </p:sp>
      <p:sp>
        <p:nvSpPr>
          <p:cNvPr id="13" name="Rectangle 12"/>
          <p:cNvSpPr/>
          <p:nvPr/>
        </p:nvSpPr>
        <p:spPr>
          <a:xfrm>
            <a:off x="4361688" y="2331720"/>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ain.png"/>
          <p:cNvPicPr>
            <a:picLocks noChangeAspect="1"/>
          </p:cNvPicPr>
          <p:nvPr/>
        </p:nvPicPr>
        <p:blipFill>
          <a:blip r:embed="rId4"/>
          <a:stretch>
            <a:fillRect/>
          </a:stretch>
        </p:blipFill>
        <p:spPr>
          <a:xfrm>
            <a:off x="8156448" y="1673352"/>
            <a:ext cx="365760" cy="365760"/>
          </a:xfrm>
          <a:prstGeom prst="rect">
            <a:avLst/>
          </a:prstGeom>
        </p:spPr>
      </p:pic>
      <p:sp>
        <p:nvSpPr>
          <p:cNvPr id="15" name="TextBox 14"/>
          <p:cNvSpPr txBox="1"/>
          <p:nvPr/>
        </p:nvSpPr>
        <p:spPr>
          <a:xfrm>
            <a:off x="8659368" y="1618488"/>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التدريب والتطوير</a:t>
            </a:r>
          </a:p>
        </p:txBody>
      </p:sp>
      <p:sp>
        <p:nvSpPr>
          <p:cNvPr id="16" name="TextBox 15"/>
          <p:cNvSpPr txBox="1"/>
          <p:nvPr/>
        </p:nvSpPr>
        <p:spPr>
          <a:xfrm>
            <a:off x="8659368" y="1911096"/>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L&amp;D</a:t>
            </a:r>
          </a:p>
        </p:txBody>
      </p:sp>
      <p:sp>
        <p:nvSpPr>
          <p:cNvPr id="17" name="Rectangle 16"/>
          <p:cNvSpPr/>
          <p:nvPr/>
        </p:nvSpPr>
        <p:spPr>
          <a:xfrm>
            <a:off x="8156448" y="2331720"/>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erformance.png"/>
          <p:cNvPicPr>
            <a:picLocks noChangeAspect="1"/>
          </p:cNvPicPr>
          <p:nvPr/>
        </p:nvPicPr>
        <p:blipFill>
          <a:blip r:embed="rId5"/>
          <a:stretch>
            <a:fillRect/>
          </a:stretch>
        </p:blipFill>
        <p:spPr>
          <a:xfrm>
            <a:off x="566928" y="2752344"/>
            <a:ext cx="365760" cy="365760"/>
          </a:xfrm>
          <a:prstGeom prst="rect">
            <a:avLst/>
          </a:prstGeom>
        </p:spPr>
      </p:pic>
      <p:sp>
        <p:nvSpPr>
          <p:cNvPr id="19" name="TextBox 18"/>
          <p:cNvSpPr txBox="1"/>
          <p:nvPr/>
        </p:nvSpPr>
        <p:spPr>
          <a:xfrm>
            <a:off x="1069848" y="2697480"/>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إدارة الأداء</a:t>
            </a:r>
          </a:p>
        </p:txBody>
      </p:sp>
      <p:sp>
        <p:nvSpPr>
          <p:cNvPr id="20" name="TextBox 19"/>
          <p:cNvSpPr txBox="1"/>
          <p:nvPr/>
        </p:nvSpPr>
        <p:spPr>
          <a:xfrm>
            <a:off x="1069848" y="2990088"/>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Performance</a:t>
            </a:r>
          </a:p>
        </p:txBody>
      </p:sp>
      <p:sp>
        <p:nvSpPr>
          <p:cNvPr id="21" name="Rectangle 20"/>
          <p:cNvSpPr/>
          <p:nvPr/>
        </p:nvSpPr>
        <p:spPr>
          <a:xfrm>
            <a:off x="566928" y="3410712"/>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enefits.png"/>
          <p:cNvPicPr>
            <a:picLocks noChangeAspect="1"/>
          </p:cNvPicPr>
          <p:nvPr/>
        </p:nvPicPr>
        <p:blipFill>
          <a:blip r:embed="rId6"/>
          <a:stretch>
            <a:fillRect/>
          </a:stretch>
        </p:blipFill>
        <p:spPr>
          <a:xfrm>
            <a:off x="4361688" y="2752344"/>
            <a:ext cx="365760" cy="365760"/>
          </a:xfrm>
          <a:prstGeom prst="rect">
            <a:avLst/>
          </a:prstGeom>
        </p:spPr>
      </p:pic>
      <p:sp>
        <p:nvSpPr>
          <p:cNvPr id="23" name="TextBox 22"/>
          <p:cNvSpPr txBox="1"/>
          <p:nvPr/>
        </p:nvSpPr>
        <p:spPr>
          <a:xfrm>
            <a:off x="4864608" y="2697480"/>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التعويضات والمزايا</a:t>
            </a:r>
          </a:p>
        </p:txBody>
      </p:sp>
      <p:sp>
        <p:nvSpPr>
          <p:cNvPr id="24" name="TextBox 23"/>
          <p:cNvSpPr txBox="1"/>
          <p:nvPr/>
        </p:nvSpPr>
        <p:spPr>
          <a:xfrm>
            <a:off x="4864608" y="2990088"/>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C&amp;B</a:t>
            </a:r>
          </a:p>
        </p:txBody>
      </p:sp>
      <p:sp>
        <p:nvSpPr>
          <p:cNvPr id="25" name="Rectangle 24"/>
          <p:cNvSpPr/>
          <p:nvPr/>
        </p:nvSpPr>
        <p:spPr>
          <a:xfrm>
            <a:off x="4361688" y="3410712"/>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lations.png"/>
          <p:cNvPicPr>
            <a:picLocks noChangeAspect="1"/>
          </p:cNvPicPr>
          <p:nvPr/>
        </p:nvPicPr>
        <p:blipFill>
          <a:blip r:embed="rId7"/>
          <a:stretch>
            <a:fillRect/>
          </a:stretch>
        </p:blipFill>
        <p:spPr>
          <a:xfrm>
            <a:off x="8156448" y="2752344"/>
            <a:ext cx="365760" cy="365760"/>
          </a:xfrm>
          <a:prstGeom prst="rect">
            <a:avLst/>
          </a:prstGeom>
        </p:spPr>
      </p:pic>
      <p:sp>
        <p:nvSpPr>
          <p:cNvPr id="27" name="TextBox 26"/>
          <p:cNvSpPr txBox="1"/>
          <p:nvPr/>
        </p:nvSpPr>
        <p:spPr>
          <a:xfrm>
            <a:off x="8659368" y="2697480"/>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علاقات الموظفين</a:t>
            </a:r>
          </a:p>
        </p:txBody>
      </p:sp>
      <p:sp>
        <p:nvSpPr>
          <p:cNvPr id="28" name="TextBox 27"/>
          <p:cNvSpPr txBox="1"/>
          <p:nvPr/>
        </p:nvSpPr>
        <p:spPr>
          <a:xfrm>
            <a:off x="8659368" y="2990088"/>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ER</a:t>
            </a:r>
          </a:p>
        </p:txBody>
      </p:sp>
      <p:sp>
        <p:nvSpPr>
          <p:cNvPr id="29" name="Rectangle 28"/>
          <p:cNvSpPr/>
          <p:nvPr/>
        </p:nvSpPr>
        <p:spPr>
          <a:xfrm>
            <a:off x="8156448" y="3410712"/>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ulture.png"/>
          <p:cNvPicPr>
            <a:picLocks noChangeAspect="1"/>
          </p:cNvPicPr>
          <p:nvPr/>
        </p:nvPicPr>
        <p:blipFill>
          <a:blip r:embed="rId8"/>
          <a:stretch>
            <a:fillRect/>
          </a:stretch>
        </p:blipFill>
        <p:spPr>
          <a:xfrm>
            <a:off x="566928" y="3831336"/>
            <a:ext cx="365760" cy="365760"/>
          </a:xfrm>
          <a:prstGeom prst="rect">
            <a:avLst/>
          </a:prstGeom>
        </p:spPr>
      </p:pic>
      <p:sp>
        <p:nvSpPr>
          <p:cNvPr id="31" name="TextBox 30"/>
          <p:cNvSpPr txBox="1"/>
          <p:nvPr/>
        </p:nvSpPr>
        <p:spPr>
          <a:xfrm>
            <a:off x="1069848" y="3776472"/>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الثقافة والرفاه</a:t>
            </a:r>
          </a:p>
        </p:txBody>
      </p:sp>
      <p:sp>
        <p:nvSpPr>
          <p:cNvPr id="32" name="TextBox 31"/>
          <p:cNvSpPr txBox="1"/>
          <p:nvPr/>
        </p:nvSpPr>
        <p:spPr>
          <a:xfrm>
            <a:off x="1069848" y="4069080"/>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Culture</a:t>
            </a:r>
          </a:p>
        </p:txBody>
      </p:sp>
      <p:sp>
        <p:nvSpPr>
          <p:cNvPr id="33" name="Rectangle 32"/>
          <p:cNvSpPr/>
          <p:nvPr/>
        </p:nvSpPr>
        <p:spPr>
          <a:xfrm>
            <a:off x="566928" y="4489704"/>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org.png"/>
          <p:cNvPicPr>
            <a:picLocks noChangeAspect="1"/>
          </p:cNvPicPr>
          <p:nvPr/>
        </p:nvPicPr>
        <p:blipFill>
          <a:blip r:embed="rId9"/>
          <a:stretch>
            <a:fillRect/>
          </a:stretch>
        </p:blipFill>
        <p:spPr>
          <a:xfrm>
            <a:off x="4361688" y="3831336"/>
            <a:ext cx="365760" cy="365760"/>
          </a:xfrm>
          <a:prstGeom prst="rect">
            <a:avLst/>
          </a:prstGeom>
        </p:spPr>
      </p:pic>
      <p:sp>
        <p:nvSpPr>
          <p:cNvPr id="35" name="TextBox 34"/>
          <p:cNvSpPr txBox="1"/>
          <p:nvPr/>
        </p:nvSpPr>
        <p:spPr>
          <a:xfrm>
            <a:off x="4864608" y="3776472"/>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تخطيط القوة</a:t>
            </a:r>
          </a:p>
        </p:txBody>
      </p:sp>
      <p:sp>
        <p:nvSpPr>
          <p:cNvPr id="36" name="TextBox 35"/>
          <p:cNvSpPr txBox="1"/>
          <p:nvPr/>
        </p:nvSpPr>
        <p:spPr>
          <a:xfrm>
            <a:off x="4864608" y="4069080"/>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Workforce</a:t>
            </a:r>
          </a:p>
        </p:txBody>
      </p:sp>
      <p:sp>
        <p:nvSpPr>
          <p:cNvPr id="37" name="Rectangle 36"/>
          <p:cNvSpPr/>
          <p:nvPr/>
        </p:nvSpPr>
        <p:spPr>
          <a:xfrm>
            <a:off x="4361688" y="4489704"/>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olicy.png"/>
          <p:cNvPicPr>
            <a:picLocks noChangeAspect="1"/>
          </p:cNvPicPr>
          <p:nvPr/>
        </p:nvPicPr>
        <p:blipFill>
          <a:blip r:embed="rId10"/>
          <a:stretch>
            <a:fillRect/>
          </a:stretch>
        </p:blipFill>
        <p:spPr>
          <a:xfrm>
            <a:off x="8156448" y="3831336"/>
            <a:ext cx="365760" cy="365760"/>
          </a:xfrm>
          <a:prstGeom prst="rect">
            <a:avLst/>
          </a:prstGeom>
        </p:spPr>
      </p:pic>
      <p:sp>
        <p:nvSpPr>
          <p:cNvPr id="39" name="TextBox 38"/>
          <p:cNvSpPr txBox="1"/>
          <p:nvPr/>
        </p:nvSpPr>
        <p:spPr>
          <a:xfrm>
            <a:off x="8659368" y="3776472"/>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السياسات والالتزام</a:t>
            </a:r>
          </a:p>
        </p:txBody>
      </p:sp>
      <p:sp>
        <p:nvSpPr>
          <p:cNvPr id="40" name="TextBox 39"/>
          <p:cNvSpPr txBox="1"/>
          <p:nvPr/>
        </p:nvSpPr>
        <p:spPr>
          <a:xfrm>
            <a:off x="8659368" y="4069080"/>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Compliance</a:t>
            </a:r>
          </a:p>
        </p:txBody>
      </p:sp>
      <p:sp>
        <p:nvSpPr>
          <p:cNvPr id="41" name="Rectangle 40"/>
          <p:cNvSpPr/>
          <p:nvPr/>
        </p:nvSpPr>
        <p:spPr>
          <a:xfrm>
            <a:off x="8156448" y="4489704"/>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ayroll.png"/>
          <p:cNvPicPr>
            <a:picLocks noChangeAspect="1"/>
          </p:cNvPicPr>
          <p:nvPr/>
        </p:nvPicPr>
        <p:blipFill>
          <a:blip r:embed="rId11"/>
          <a:stretch>
            <a:fillRect/>
          </a:stretch>
        </p:blipFill>
        <p:spPr>
          <a:xfrm>
            <a:off x="566928" y="4910328"/>
            <a:ext cx="365760" cy="365760"/>
          </a:xfrm>
          <a:prstGeom prst="rect">
            <a:avLst/>
          </a:prstGeom>
        </p:spPr>
      </p:pic>
      <p:sp>
        <p:nvSpPr>
          <p:cNvPr id="43" name="TextBox 42"/>
          <p:cNvSpPr txBox="1"/>
          <p:nvPr/>
        </p:nvSpPr>
        <p:spPr>
          <a:xfrm>
            <a:off x="1069848" y="4855464"/>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الرواتب</a:t>
            </a:r>
          </a:p>
        </p:txBody>
      </p:sp>
      <p:sp>
        <p:nvSpPr>
          <p:cNvPr id="44" name="TextBox 43"/>
          <p:cNvSpPr txBox="1"/>
          <p:nvPr/>
        </p:nvSpPr>
        <p:spPr>
          <a:xfrm>
            <a:off x="1069848" y="5148072"/>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Payroll</a:t>
            </a:r>
          </a:p>
        </p:txBody>
      </p:sp>
      <p:sp>
        <p:nvSpPr>
          <p:cNvPr id="45" name="Rectangle 44"/>
          <p:cNvSpPr/>
          <p:nvPr/>
        </p:nvSpPr>
        <p:spPr>
          <a:xfrm>
            <a:off x="566928" y="5568696"/>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talent.png"/>
          <p:cNvPicPr>
            <a:picLocks noChangeAspect="1"/>
          </p:cNvPicPr>
          <p:nvPr/>
        </p:nvPicPr>
        <p:blipFill>
          <a:blip r:embed="rId12"/>
          <a:stretch>
            <a:fillRect/>
          </a:stretch>
        </p:blipFill>
        <p:spPr>
          <a:xfrm>
            <a:off x="4361688" y="4910328"/>
            <a:ext cx="365760" cy="365760"/>
          </a:xfrm>
          <a:prstGeom prst="rect">
            <a:avLst/>
          </a:prstGeom>
        </p:spPr>
      </p:pic>
      <p:sp>
        <p:nvSpPr>
          <p:cNvPr id="47" name="TextBox 46"/>
          <p:cNvSpPr txBox="1"/>
          <p:nvPr/>
        </p:nvSpPr>
        <p:spPr>
          <a:xfrm>
            <a:off x="4864608" y="4855464"/>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المواهب والخلافة</a:t>
            </a:r>
          </a:p>
        </p:txBody>
      </p:sp>
      <p:sp>
        <p:nvSpPr>
          <p:cNvPr id="48" name="TextBox 47"/>
          <p:cNvSpPr txBox="1"/>
          <p:nvPr/>
        </p:nvSpPr>
        <p:spPr>
          <a:xfrm>
            <a:off x="4864608" y="5148072"/>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Talent</a:t>
            </a:r>
          </a:p>
        </p:txBody>
      </p:sp>
      <p:sp>
        <p:nvSpPr>
          <p:cNvPr id="49" name="Rectangle 48"/>
          <p:cNvSpPr/>
          <p:nvPr/>
        </p:nvSpPr>
        <p:spPr>
          <a:xfrm>
            <a:off x="4361688" y="5568696"/>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wellness.png"/>
          <p:cNvPicPr>
            <a:picLocks noChangeAspect="1"/>
          </p:cNvPicPr>
          <p:nvPr/>
        </p:nvPicPr>
        <p:blipFill>
          <a:blip r:embed="rId13"/>
          <a:stretch>
            <a:fillRect/>
          </a:stretch>
        </p:blipFill>
        <p:spPr>
          <a:xfrm>
            <a:off x="8156448" y="4910328"/>
            <a:ext cx="365760" cy="365760"/>
          </a:xfrm>
          <a:prstGeom prst="rect">
            <a:avLst/>
          </a:prstGeom>
        </p:spPr>
      </p:pic>
      <p:sp>
        <p:nvSpPr>
          <p:cNvPr id="51" name="TextBox 50"/>
          <p:cNvSpPr txBox="1"/>
          <p:nvPr/>
        </p:nvSpPr>
        <p:spPr>
          <a:xfrm>
            <a:off x="8659368" y="4855464"/>
            <a:ext cx="3017520" cy="292608"/>
          </a:xfrm>
          <a:prstGeom prst="rect">
            <a:avLst/>
          </a:prstGeom>
          <a:noFill/>
        </p:spPr>
        <p:txBody>
          <a:bodyPr wrap="square" anchor="t"/>
          <a:lstStyle/>
          <a:p>
            <a:pPr rtl="1" algn="r"/>
            <a:r>
              <a:rPr sz="1600" b="1">
                <a:solidFill>
                  <a:srgbClr val="0C100E"/>
                </a:solidFill>
                <a:latin typeface="IBM Plex Sans Arabic"/>
                <a:ea typeface="IBM Plex Sans Arabic"/>
                <a:cs typeface="IBM Plex Sans Arabic"/>
              </a:rPr>
              <a:t>الصحة المهنية</a:t>
            </a:r>
          </a:p>
        </p:txBody>
      </p:sp>
      <p:sp>
        <p:nvSpPr>
          <p:cNvPr id="52" name="TextBox 51"/>
          <p:cNvSpPr txBox="1"/>
          <p:nvPr/>
        </p:nvSpPr>
        <p:spPr>
          <a:xfrm>
            <a:off x="8659368" y="5148072"/>
            <a:ext cx="3017520" cy="256032"/>
          </a:xfrm>
          <a:prstGeom prst="rect">
            <a:avLst/>
          </a:prstGeom>
          <a:noFill/>
        </p:spPr>
        <p:txBody>
          <a:bodyPr wrap="square" anchor="t"/>
          <a:lstStyle/>
          <a:p>
            <a:pPr rtl="1" algn="r"/>
            <a:r>
              <a:rPr sz="1100" b="0">
                <a:solidFill>
                  <a:srgbClr val="6A706C"/>
                </a:solidFill>
                <a:latin typeface="IBM Plex Sans"/>
                <a:ea typeface="IBM Plex Sans"/>
                <a:cs typeface="IBM Plex Sans"/>
              </a:rPr>
              <a:t>Wellbeing</a:t>
            </a:r>
          </a:p>
        </p:txBody>
      </p:sp>
      <p:sp>
        <p:nvSpPr>
          <p:cNvPr id="53" name="Rectangle 52"/>
          <p:cNvSpPr/>
          <p:nvPr/>
        </p:nvSpPr>
        <p:spPr>
          <a:xfrm>
            <a:off x="8156448" y="5568696"/>
            <a:ext cx="3520440" cy="635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55" name="TextBox 54"/>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3657600" cy="274320"/>
          </a:xfrm>
          <a:prstGeom prst="rect">
            <a:avLst/>
          </a:prstGeom>
          <a:noFill/>
        </p:spPr>
        <p:txBody>
          <a:bodyPr wrap="square" anchor="t"/>
          <a:lstStyle/>
          <a:p>
            <a:pPr rtl="1" algn="r"/>
            <a:r>
              <a:rPr sz="1400" b="0">
                <a:solidFill>
                  <a:srgbClr val="2BA86C"/>
                </a:solidFill>
                <a:latin typeface="IBM Plex Mono"/>
                <a:ea typeface="IBM Plex Mono"/>
                <a:cs typeface="IBM Plex Mono"/>
              </a:rPr>
              <a:t>٠١</a:t>
            </a:r>
          </a:p>
        </p:txBody>
      </p:sp>
      <p:sp>
        <p:nvSpPr>
          <p:cNvPr id="4" name="TextBox 3"/>
          <p:cNvSpPr txBox="1"/>
          <p:nvPr/>
        </p:nvSpPr>
        <p:spPr>
          <a:xfrm>
            <a:off x="566928" y="2331720"/>
            <a:ext cx="10058400" cy="1828800"/>
          </a:xfrm>
          <a:prstGeom prst="rect">
            <a:avLst/>
          </a:prstGeom>
          <a:noFill/>
        </p:spPr>
        <p:txBody>
          <a:bodyPr wrap="square" anchor="t"/>
          <a:lstStyle/>
          <a:p>
            <a:pPr rtl="1" algn="r"/>
            <a:r>
              <a:rPr sz="5400" b="0">
                <a:solidFill>
                  <a:srgbClr val="FFFFFF"/>
                </a:solidFill>
                <a:latin typeface="Amiri"/>
                <a:ea typeface="Amiri"/>
                <a:cs typeface="Amiri"/>
              </a:rPr>
              <a:t>الاستقطاب
والاختيار</a:t>
            </a:r>
          </a:p>
        </p:txBody>
      </p:sp>
      <p:sp>
        <p:nvSpPr>
          <p:cNvPr id="5" name="TextBox 4"/>
          <p:cNvSpPr txBox="1"/>
          <p:nvPr/>
        </p:nvSpPr>
        <p:spPr>
          <a:xfrm>
            <a:off x="566928" y="4343400"/>
            <a:ext cx="7315200" cy="320040"/>
          </a:xfrm>
          <a:prstGeom prst="rect">
            <a:avLst/>
          </a:prstGeom>
          <a:noFill/>
        </p:spPr>
        <p:txBody>
          <a:bodyPr wrap="square" anchor="t"/>
          <a:lstStyle/>
          <a:p>
            <a:pPr rtl="1" algn="r"/>
            <a:r>
              <a:rPr sz="1300" b="0">
                <a:solidFill>
                  <a:srgbClr val="B8C0B0"/>
                </a:solidFill>
                <a:latin typeface="IBM Plex Sans"/>
                <a:ea typeface="IBM Plex Sans"/>
                <a:cs typeface="IBM Plex Sans"/>
              </a:rPr>
              <a:t>TALENT ACQUISITION</a:t>
            </a:r>
          </a:p>
        </p:txBody>
      </p:sp>
      <p:pic>
        <p:nvPicPr>
          <p:cNvPr id="6" name="Picture 5" descr="wave-motif.png"/>
          <p:cNvPicPr>
            <a:picLocks noChangeAspect="1"/>
          </p:cNvPicPr>
          <p:nvPr/>
        </p:nvPicPr>
        <p:blipFill>
          <a:blip r:embed="rId2"/>
          <a:stretch>
            <a:fillRect/>
          </a:stretch>
        </p:blipFill>
        <p:spPr>
          <a:xfrm>
            <a:off x="182880" y="5623560"/>
            <a:ext cx="3840480" cy="960120"/>
          </a:xfrm>
          <a:prstGeom prst="rect">
            <a:avLst/>
          </a:prstGeom>
        </p:spPr>
      </p:pic>
      <p:sp>
        <p:nvSpPr>
          <p:cNvPr id="7" name="TextBox 6"/>
          <p:cNvSpPr txBox="1"/>
          <p:nvPr/>
        </p:nvSpPr>
        <p:spPr>
          <a:xfrm>
            <a:off x="566928" y="6510528"/>
            <a:ext cx="4572000" cy="256032"/>
          </a:xfrm>
          <a:prstGeom prst="rect">
            <a:avLst/>
          </a:prstGeom>
          <a:noFill/>
        </p:spPr>
        <p:txBody>
          <a:bodyPr wrap="square" anchor="t"/>
          <a:lstStyle/>
          <a:p>
            <a:pPr rtl="1" algn="r"/>
            <a:r>
              <a:rPr sz="1100" b="0">
                <a:solidFill>
                  <a:srgbClr val="B8C0B0"/>
                </a:solidFill>
                <a:latin typeface="IBM Plex Sans Arabic"/>
                <a:ea typeface="IBM Plex Sans Arabic"/>
                <a:cs typeface="IBM Plex Sans Arabic"/>
              </a:rPr>
              <a:t>روتانا  ·  الموارد البشرية</a:t>
            </a:r>
          </a:p>
        </p:txBody>
      </p:sp>
      <p:sp>
        <p:nvSpPr>
          <p:cNvPr id="8" name="TextBox 7"/>
          <p:cNvSpPr txBox="1"/>
          <p:nvPr/>
        </p:nvSpPr>
        <p:spPr>
          <a:xfrm>
            <a:off x="9509760" y="6510528"/>
            <a:ext cx="2103120" cy="256032"/>
          </a:xfrm>
          <a:prstGeom prst="rect">
            <a:avLst/>
          </a:prstGeom>
          <a:noFill/>
        </p:spPr>
        <p:txBody>
          <a:bodyPr wrap="square" anchor="t"/>
          <a:lstStyle/>
          <a:p>
            <a:pPr rtl="1" algn="l"/>
            <a:r>
              <a:rPr sz="1100" b="0">
                <a:solidFill>
                  <a:srgbClr val="B8C0B0"/>
                </a:solidFill>
                <a:latin typeface="IBM Plex Mono"/>
                <a:ea typeface="IBM Plex Mono"/>
                <a:cs typeface="IBM Plex Mono"/>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١٤</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جدول الأعمال</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اجتماع قيادة الموارد البشرية</a:t>
            </a:r>
          </a:p>
        </p:txBody>
      </p:sp>
      <p:sp>
        <p:nvSpPr>
          <p:cNvPr id="6" name="TextBox 5"/>
          <p:cNvSpPr txBox="1"/>
          <p:nvPr/>
        </p:nvSpPr>
        <p:spPr>
          <a:xfrm>
            <a:off x="566928" y="1755648"/>
            <a:ext cx="640080" cy="320040"/>
          </a:xfrm>
          <a:prstGeom prst="rect">
            <a:avLst/>
          </a:prstGeom>
          <a:noFill/>
        </p:spPr>
        <p:txBody>
          <a:bodyPr wrap="square" anchor="t"/>
          <a:lstStyle/>
          <a:p>
            <a:pPr rtl="1" algn="r"/>
            <a:r>
              <a:rPr sz="1300" b="0">
                <a:solidFill>
                  <a:srgbClr val="00512F"/>
                </a:solidFill>
                <a:latin typeface="IBM Plex Mono"/>
                <a:ea typeface="IBM Plex Mono"/>
                <a:cs typeface="IBM Plex Mono"/>
              </a:rPr>
              <a:t>٠١</a:t>
            </a:r>
          </a:p>
        </p:txBody>
      </p:sp>
      <p:sp>
        <p:nvSpPr>
          <p:cNvPr id="7" name="TextBox 6"/>
          <p:cNvSpPr txBox="1"/>
          <p:nvPr/>
        </p:nvSpPr>
        <p:spPr>
          <a:xfrm>
            <a:off x="1371600" y="1700784"/>
            <a:ext cx="8412480" cy="41148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نبض القوة العاملة</a:t>
            </a:r>
          </a:p>
        </p:txBody>
      </p:sp>
      <p:sp>
        <p:nvSpPr>
          <p:cNvPr id="8" name="TextBox 7"/>
          <p:cNvSpPr txBox="1"/>
          <p:nvPr/>
        </p:nvSpPr>
        <p:spPr>
          <a:xfrm>
            <a:off x="10332720" y="1755648"/>
            <a:ext cx="1280160" cy="320040"/>
          </a:xfrm>
          <a:prstGeom prst="rect">
            <a:avLst/>
          </a:prstGeom>
          <a:noFill/>
        </p:spPr>
        <p:txBody>
          <a:bodyPr wrap="square" anchor="t"/>
          <a:lstStyle/>
          <a:p>
            <a:pPr rtl="1" algn="l"/>
            <a:r>
              <a:rPr sz="1400" b="0">
                <a:solidFill>
                  <a:srgbClr val="6A706C"/>
                </a:solidFill>
                <a:latin typeface="IBM Plex Sans Arabic"/>
                <a:ea typeface="IBM Plex Sans Arabic"/>
                <a:cs typeface="IBM Plex Sans Arabic"/>
              </a:rPr>
              <a:t>١٢ د</a:t>
            </a:r>
          </a:p>
        </p:txBody>
      </p:sp>
      <p:sp>
        <p:nvSpPr>
          <p:cNvPr id="9" name="Rectangle 8"/>
          <p:cNvSpPr/>
          <p:nvPr/>
        </p:nvSpPr>
        <p:spPr>
          <a:xfrm>
            <a:off x="566928" y="2267712"/>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78608"/>
            <a:ext cx="640080" cy="320040"/>
          </a:xfrm>
          <a:prstGeom prst="rect">
            <a:avLst/>
          </a:prstGeom>
          <a:noFill/>
        </p:spPr>
        <p:txBody>
          <a:bodyPr wrap="square" anchor="t"/>
          <a:lstStyle/>
          <a:p>
            <a:pPr rtl="1" algn="r"/>
            <a:r>
              <a:rPr sz="1300" b="0">
                <a:solidFill>
                  <a:srgbClr val="00512F"/>
                </a:solidFill>
                <a:latin typeface="IBM Plex Mono"/>
                <a:ea typeface="IBM Plex Mono"/>
                <a:cs typeface="IBM Plex Mono"/>
              </a:rPr>
              <a:t>٠٢</a:t>
            </a:r>
          </a:p>
        </p:txBody>
      </p:sp>
      <p:sp>
        <p:nvSpPr>
          <p:cNvPr id="11" name="TextBox 10"/>
          <p:cNvSpPr txBox="1"/>
          <p:nvPr/>
        </p:nvSpPr>
        <p:spPr>
          <a:xfrm>
            <a:off x="1371600" y="2523744"/>
            <a:ext cx="8412480" cy="41148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الشواغر الحرجة والمواهب</a:t>
            </a:r>
          </a:p>
        </p:txBody>
      </p:sp>
      <p:sp>
        <p:nvSpPr>
          <p:cNvPr id="12" name="TextBox 11"/>
          <p:cNvSpPr txBox="1"/>
          <p:nvPr/>
        </p:nvSpPr>
        <p:spPr>
          <a:xfrm>
            <a:off x="10332720" y="2578608"/>
            <a:ext cx="1280160" cy="320040"/>
          </a:xfrm>
          <a:prstGeom prst="rect">
            <a:avLst/>
          </a:prstGeom>
          <a:noFill/>
        </p:spPr>
        <p:txBody>
          <a:bodyPr wrap="square" anchor="t"/>
          <a:lstStyle/>
          <a:p>
            <a:pPr rtl="1" algn="l"/>
            <a:r>
              <a:rPr sz="1400" b="0">
                <a:solidFill>
                  <a:srgbClr val="6A706C"/>
                </a:solidFill>
                <a:latin typeface="IBM Plex Sans Arabic"/>
                <a:ea typeface="IBM Plex Sans Arabic"/>
                <a:cs typeface="IBM Plex Sans Arabic"/>
              </a:rPr>
              <a:t>١٨ د</a:t>
            </a:r>
          </a:p>
        </p:txBody>
      </p:sp>
      <p:sp>
        <p:nvSpPr>
          <p:cNvPr id="13" name="Rectangle 12"/>
          <p:cNvSpPr/>
          <p:nvPr/>
        </p:nvSpPr>
        <p:spPr>
          <a:xfrm>
            <a:off x="566928" y="3090672"/>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01568"/>
            <a:ext cx="640080" cy="320040"/>
          </a:xfrm>
          <a:prstGeom prst="rect">
            <a:avLst/>
          </a:prstGeom>
          <a:noFill/>
        </p:spPr>
        <p:txBody>
          <a:bodyPr wrap="square" anchor="t"/>
          <a:lstStyle/>
          <a:p>
            <a:pPr rtl="1" algn="r"/>
            <a:r>
              <a:rPr sz="1300" b="0">
                <a:solidFill>
                  <a:srgbClr val="00512F"/>
                </a:solidFill>
                <a:latin typeface="IBM Plex Mono"/>
                <a:ea typeface="IBM Plex Mono"/>
                <a:cs typeface="IBM Plex Mono"/>
              </a:rPr>
              <a:t>٠٣</a:t>
            </a:r>
          </a:p>
        </p:txBody>
      </p:sp>
      <p:sp>
        <p:nvSpPr>
          <p:cNvPr id="15" name="TextBox 14"/>
          <p:cNvSpPr txBox="1"/>
          <p:nvPr/>
        </p:nvSpPr>
        <p:spPr>
          <a:xfrm>
            <a:off x="1371600" y="3346704"/>
            <a:ext cx="8412480" cy="41148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مسار التهيئة للربع</a:t>
            </a:r>
          </a:p>
        </p:txBody>
      </p:sp>
      <p:sp>
        <p:nvSpPr>
          <p:cNvPr id="16" name="TextBox 15"/>
          <p:cNvSpPr txBox="1"/>
          <p:nvPr/>
        </p:nvSpPr>
        <p:spPr>
          <a:xfrm>
            <a:off x="10332720" y="3401568"/>
            <a:ext cx="1280160" cy="320040"/>
          </a:xfrm>
          <a:prstGeom prst="rect">
            <a:avLst/>
          </a:prstGeom>
          <a:noFill/>
        </p:spPr>
        <p:txBody>
          <a:bodyPr wrap="square" anchor="t"/>
          <a:lstStyle/>
          <a:p>
            <a:pPr rtl="1" algn="l"/>
            <a:r>
              <a:rPr sz="1400" b="0">
                <a:solidFill>
                  <a:srgbClr val="6A706C"/>
                </a:solidFill>
                <a:latin typeface="IBM Plex Sans Arabic"/>
                <a:ea typeface="IBM Plex Sans Arabic"/>
                <a:cs typeface="IBM Plex Sans Arabic"/>
              </a:rPr>
              <a:t>١٠ د</a:t>
            </a:r>
          </a:p>
        </p:txBody>
      </p:sp>
      <p:sp>
        <p:nvSpPr>
          <p:cNvPr id="17" name="Rectangle 16"/>
          <p:cNvSpPr/>
          <p:nvPr/>
        </p:nvSpPr>
        <p:spPr>
          <a:xfrm>
            <a:off x="566928" y="3913632"/>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224528"/>
            <a:ext cx="640080" cy="320040"/>
          </a:xfrm>
          <a:prstGeom prst="rect">
            <a:avLst/>
          </a:prstGeom>
          <a:noFill/>
        </p:spPr>
        <p:txBody>
          <a:bodyPr wrap="square" anchor="t"/>
          <a:lstStyle/>
          <a:p>
            <a:pPr rtl="1" algn="r"/>
            <a:r>
              <a:rPr sz="1300" b="0">
                <a:solidFill>
                  <a:srgbClr val="00512F"/>
                </a:solidFill>
                <a:latin typeface="IBM Plex Mono"/>
                <a:ea typeface="IBM Plex Mono"/>
                <a:cs typeface="IBM Plex Mono"/>
              </a:rPr>
              <a:t>٠٤</a:t>
            </a:r>
          </a:p>
        </p:txBody>
      </p:sp>
      <p:sp>
        <p:nvSpPr>
          <p:cNvPr id="19" name="TextBox 18"/>
          <p:cNvSpPr txBox="1"/>
          <p:nvPr/>
        </p:nvSpPr>
        <p:spPr>
          <a:xfrm>
            <a:off x="1371600" y="4169664"/>
            <a:ext cx="8412480" cy="41148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الثقافة ومؤشر eNPS</a:t>
            </a:r>
          </a:p>
        </p:txBody>
      </p:sp>
      <p:sp>
        <p:nvSpPr>
          <p:cNvPr id="20" name="TextBox 19"/>
          <p:cNvSpPr txBox="1"/>
          <p:nvPr/>
        </p:nvSpPr>
        <p:spPr>
          <a:xfrm>
            <a:off x="10332720" y="4224528"/>
            <a:ext cx="1280160" cy="320040"/>
          </a:xfrm>
          <a:prstGeom prst="rect">
            <a:avLst/>
          </a:prstGeom>
          <a:noFill/>
        </p:spPr>
        <p:txBody>
          <a:bodyPr wrap="square" anchor="t"/>
          <a:lstStyle/>
          <a:p>
            <a:pPr rtl="1" algn="l"/>
            <a:r>
              <a:rPr sz="1400" b="0">
                <a:solidFill>
                  <a:srgbClr val="6A706C"/>
                </a:solidFill>
                <a:latin typeface="IBM Plex Sans Arabic"/>
                <a:ea typeface="IBM Plex Sans Arabic"/>
                <a:cs typeface="IBM Plex Sans Arabic"/>
              </a:rPr>
              <a:t>١٢ د</a:t>
            </a:r>
          </a:p>
        </p:txBody>
      </p:sp>
      <p:sp>
        <p:nvSpPr>
          <p:cNvPr id="21" name="Rectangle 20"/>
          <p:cNvSpPr/>
          <p:nvPr/>
        </p:nvSpPr>
        <p:spPr>
          <a:xfrm>
            <a:off x="566928" y="4736592"/>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047488"/>
            <a:ext cx="640080" cy="320040"/>
          </a:xfrm>
          <a:prstGeom prst="rect">
            <a:avLst/>
          </a:prstGeom>
          <a:noFill/>
        </p:spPr>
        <p:txBody>
          <a:bodyPr wrap="square" anchor="t"/>
          <a:lstStyle/>
          <a:p>
            <a:pPr rtl="1" algn="r"/>
            <a:r>
              <a:rPr sz="1300" b="0">
                <a:solidFill>
                  <a:srgbClr val="00512F"/>
                </a:solidFill>
                <a:latin typeface="IBM Plex Mono"/>
                <a:ea typeface="IBM Plex Mono"/>
                <a:cs typeface="IBM Plex Mono"/>
              </a:rPr>
              <a:t>٠٥</a:t>
            </a:r>
          </a:p>
        </p:txBody>
      </p:sp>
      <p:sp>
        <p:nvSpPr>
          <p:cNvPr id="23" name="TextBox 22"/>
          <p:cNvSpPr txBox="1"/>
          <p:nvPr/>
        </p:nvSpPr>
        <p:spPr>
          <a:xfrm>
            <a:off x="1371600" y="4992624"/>
            <a:ext cx="8412480" cy="41148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قرارات ومالكو المتابعة</a:t>
            </a:r>
          </a:p>
        </p:txBody>
      </p:sp>
      <p:sp>
        <p:nvSpPr>
          <p:cNvPr id="24" name="TextBox 23"/>
          <p:cNvSpPr txBox="1"/>
          <p:nvPr/>
        </p:nvSpPr>
        <p:spPr>
          <a:xfrm>
            <a:off x="10332720" y="5047488"/>
            <a:ext cx="1280160" cy="320040"/>
          </a:xfrm>
          <a:prstGeom prst="rect">
            <a:avLst/>
          </a:prstGeom>
          <a:noFill/>
        </p:spPr>
        <p:txBody>
          <a:bodyPr wrap="square" anchor="t"/>
          <a:lstStyle/>
          <a:p>
            <a:pPr rtl="1" algn="l"/>
            <a:r>
              <a:rPr sz="1400" b="0">
                <a:solidFill>
                  <a:srgbClr val="6A706C"/>
                </a:solidFill>
                <a:latin typeface="IBM Plex Sans Arabic"/>
                <a:ea typeface="IBM Plex Sans Arabic"/>
                <a:cs typeface="IBM Plex Sans Arabic"/>
              </a:rPr>
              <a:t>٨ د</a:t>
            </a:r>
          </a:p>
        </p:txBody>
      </p:sp>
      <p:sp>
        <p:nvSpPr>
          <p:cNvPr id="25" name="Rectangle 24"/>
          <p:cNvSpPr/>
          <p:nvPr/>
        </p:nvSpPr>
        <p:spPr>
          <a:xfrm>
            <a:off x="566928" y="5559552"/>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27" name="TextBox 26"/>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١٥</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تخطيط عنوان + نص</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مبدأ واحد في الشريحة.</a:t>
            </a:r>
          </a:p>
        </p:txBody>
      </p:sp>
      <p:sp>
        <p:nvSpPr>
          <p:cNvPr id="6" name="TextBox 5"/>
          <p:cNvSpPr txBox="1"/>
          <p:nvPr/>
        </p:nvSpPr>
        <p:spPr>
          <a:xfrm>
            <a:off x="566928" y="1920240"/>
            <a:ext cx="10972800" cy="256032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نُوظّف للعلامة قبل أن نُوظّف للوظيفة. المرشح الذي لا يستطيع تمثيل روتانا في غرفة لاحقة، لا يُعوَّض بسرعة إجراءات التوظيف. هذا التخطيط لنص سياسات، أو لمقدمة عرض، أو لقرار يُقرأ بصوت عالٍ.</a:t>
            </a:r>
          </a:p>
        </p:txBody>
      </p:sp>
      <p:sp>
        <p:nvSpPr>
          <p:cNvPr id="7" name="TextBox 6"/>
          <p:cNvSpPr txBox="1"/>
          <p:nvPr/>
        </p:nvSpPr>
        <p:spPr>
          <a:xfrm>
            <a:off x="566928" y="4754880"/>
            <a:ext cx="10972800" cy="457200"/>
          </a:xfrm>
          <a:prstGeom prst="rect">
            <a:avLst/>
          </a:prstGeom>
          <a:noFill/>
        </p:spPr>
        <p:txBody>
          <a:bodyPr wrap="square" anchor="t"/>
          <a:lstStyle/>
          <a:p>
            <a:pPr rtl="1" algn="r"/>
            <a:r>
              <a:rPr sz="1500" b="0">
                <a:solidFill>
                  <a:srgbClr val="6A706C"/>
                </a:solidFill>
                <a:latin typeface="IBM Plex Sans Arabic"/>
                <a:ea typeface="IBM Plex Sans Arabic"/>
                <a:cs typeface="IBM Plex Sans Arabic"/>
              </a:rPr>
              <a:t>انسخ النص. غيّر الجملة. أبقِ الحجم والهامش.</a:t>
            </a:r>
          </a:p>
        </p:txBody>
      </p:sp>
      <p:sp>
        <p:nvSpPr>
          <p:cNvPr id="8" name="TextBox 7"/>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9" name="TextBox 8"/>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١٦</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عمودان</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ما نُبقي عليه / ما نُغيّره.</a:t>
            </a:r>
          </a:p>
        </p:txBody>
      </p:sp>
      <p:sp>
        <p:nvSpPr>
          <p:cNvPr id="6" name="TextBox 5"/>
          <p:cNvSpPr txBox="1"/>
          <p:nvPr/>
        </p:nvSpPr>
        <p:spPr>
          <a:xfrm>
            <a:off x="566928" y="1554480"/>
            <a:ext cx="5120640" cy="457200"/>
          </a:xfrm>
          <a:prstGeom prst="rect">
            <a:avLst/>
          </a:prstGeom>
          <a:noFill/>
        </p:spPr>
        <p:txBody>
          <a:bodyPr wrap="square" anchor="t"/>
          <a:lstStyle/>
          <a:p>
            <a:pPr rtl="1" algn="r"/>
            <a:r>
              <a:rPr sz="2800" b="0">
                <a:solidFill>
                  <a:srgbClr val="00512F"/>
                </a:solidFill>
                <a:latin typeface="Amiri"/>
                <a:ea typeface="Amiri"/>
                <a:cs typeface="Amiri"/>
              </a:rPr>
              <a:t>نُبقي</a:t>
            </a:r>
          </a:p>
        </p:txBody>
      </p:sp>
      <p:sp>
        <p:nvSpPr>
          <p:cNvPr id="7" name="Rectangle 6"/>
          <p:cNvSpPr/>
          <p:nvPr/>
        </p:nvSpPr>
        <p:spPr>
          <a:xfrm>
            <a:off x="566928" y="2971800"/>
            <a:ext cx="5120640" cy="1270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194560"/>
            <a:ext cx="5120640" cy="7315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مقابلة الكفاءة الثقافية مع كل عرض.</a:t>
            </a:r>
          </a:p>
        </p:txBody>
      </p:sp>
      <p:sp>
        <p:nvSpPr>
          <p:cNvPr id="9" name="Rectangle 8"/>
          <p:cNvSpPr/>
          <p:nvPr/>
        </p:nvSpPr>
        <p:spPr>
          <a:xfrm>
            <a:off x="566928" y="3931920"/>
            <a:ext cx="5120640" cy="1270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3154680"/>
            <a:ext cx="5120640" cy="7315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مسار تهيئة ٣٠–٦٠–٩٠ يومًا.</a:t>
            </a:r>
          </a:p>
        </p:txBody>
      </p:sp>
      <p:sp>
        <p:nvSpPr>
          <p:cNvPr id="11" name="Rectangle 10"/>
          <p:cNvSpPr/>
          <p:nvPr/>
        </p:nvSpPr>
        <p:spPr>
          <a:xfrm>
            <a:off x="566928" y="4892040"/>
            <a:ext cx="5120640" cy="1270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114800"/>
            <a:ext cx="5120640" cy="7315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مالك واحد لكل شاغر حرج.</a:t>
            </a:r>
          </a:p>
        </p:txBody>
      </p:sp>
      <p:sp>
        <p:nvSpPr>
          <p:cNvPr id="13" name="TextBox 12"/>
          <p:cNvSpPr txBox="1"/>
          <p:nvPr/>
        </p:nvSpPr>
        <p:spPr>
          <a:xfrm>
            <a:off x="6675120" y="1554480"/>
            <a:ext cx="5120640" cy="457200"/>
          </a:xfrm>
          <a:prstGeom prst="rect">
            <a:avLst/>
          </a:prstGeom>
          <a:noFill/>
        </p:spPr>
        <p:txBody>
          <a:bodyPr wrap="square" anchor="t"/>
          <a:lstStyle/>
          <a:p>
            <a:pPr rtl="1" algn="r"/>
            <a:r>
              <a:rPr sz="2800" b="0">
                <a:solidFill>
                  <a:srgbClr val="00512F"/>
                </a:solidFill>
                <a:latin typeface="Amiri"/>
                <a:ea typeface="Amiri"/>
                <a:cs typeface="Amiri"/>
              </a:rPr>
              <a:t>نُغيّر</a:t>
            </a:r>
          </a:p>
        </p:txBody>
      </p:sp>
      <p:sp>
        <p:nvSpPr>
          <p:cNvPr id="14" name="Rectangle 13"/>
          <p:cNvSpPr/>
          <p:nvPr/>
        </p:nvSpPr>
        <p:spPr>
          <a:xfrm>
            <a:off x="6675120" y="2971800"/>
            <a:ext cx="5120640" cy="1270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194560"/>
            <a:ext cx="5120640" cy="7315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زمن الاعتماد الداخلي فوق خمس طبقات.</a:t>
            </a:r>
          </a:p>
        </p:txBody>
      </p:sp>
      <p:sp>
        <p:nvSpPr>
          <p:cNvPr id="16" name="Rectangle 15"/>
          <p:cNvSpPr/>
          <p:nvPr/>
        </p:nvSpPr>
        <p:spPr>
          <a:xfrm>
            <a:off x="6675120" y="3931920"/>
            <a:ext cx="5120640" cy="1270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154680"/>
            <a:ext cx="5120640" cy="7315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الوصف الوظيفي كمستند جامد.</a:t>
            </a:r>
          </a:p>
        </p:txBody>
      </p:sp>
      <p:sp>
        <p:nvSpPr>
          <p:cNvPr id="18" name="Rectangle 17"/>
          <p:cNvSpPr/>
          <p:nvPr/>
        </p:nvSpPr>
        <p:spPr>
          <a:xfrm>
            <a:off x="6675120" y="4892040"/>
            <a:ext cx="5120640" cy="12700"/>
          </a:xfrm>
          <a:prstGeom prst="rect">
            <a:avLst/>
          </a:prstGeom>
          <a:solidFill>
            <a:srgbClr val="E8E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4114800"/>
            <a:ext cx="5120640" cy="731520"/>
          </a:xfrm>
          <a:prstGeom prst="rect">
            <a:avLst/>
          </a:prstGeom>
          <a:noFill/>
        </p:spPr>
        <p:txBody>
          <a:bodyPr wrap="square" anchor="t"/>
          <a:lstStyle/>
          <a:p>
            <a:pPr rtl="1" algn="r"/>
            <a:r>
              <a:rPr sz="1600" b="0">
                <a:solidFill>
                  <a:srgbClr val="0C100E"/>
                </a:solidFill>
                <a:latin typeface="IBM Plex Sans Arabic"/>
                <a:ea typeface="IBM Plex Sans Arabic"/>
                <a:cs typeface="IBM Plex Sans Arabic"/>
              </a:rPr>
              <a:t>قياس التدريب بالحضور لا بالأثر.</a:t>
            </a:r>
          </a:p>
        </p:txBody>
      </p:sp>
      <p:sp>
        <p:nvSpPr>
          <p:cNvPr id="20" name="TextBox 19"/>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21" name="TextBox 20"/>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١٧</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ثلاث ركائز</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العام التشغيلي للموارد البشرية.</a:t>
            </a:r>
          </a:p>
        </p:txBody>
      </p:sp>
      <p:pic>
        <p:nvPicPr>
          <p:cNvPr id="6" name="Picture 5" descr="people.png"/>
          <p:cNvPicPr>
            <a:picLocks noChangeAspect="1"/>
          </p:cNvPicPr>
          <p:nvPr/>
        </p:nvPicPr>
        <p:blipFill>
          <a:blip r:embed="rId2"/>
          <a:stretch>
            <a:fillRect/>
          </a:stretch>
        </p:blipFill>
        <p:spPr>
          <a:xfrm>
            <a:off x="566928" y="1691640"/>
            <a:ext cx="438912" cy="438912"/>
          </a:xfrm>
          <a:prstGeom prst="rect">
            <a:avLst/>
          </a:prstGeom>
        </p:spPr>
      </p:pic>
      <p:sp>
        <p:nvSpPr>
          <p:cNvPr id="7" name="TextBox 6"/>
          <p:cNvSpPr txBox="1"/>
          <p:nvPr/>
        </p:nvSpPr>
        <p:spPr>
          <a:xfrm>
            <a:off x="566928" y="2286000"/>
            <a:ext cx="3474720" cy="502920"/>
          </a:xfrm>
          <a:prstGeom prst="rect">
            <a:avLst/>
          </a:prstGeom>
          <a:noFill/>
        </p:spPr>
        <p:txBody>
          <a:bodyPr wrap="square" anchor="t"/>
          <a:lstStyle/>
          <a:p>
            <a:pPr rtl="1" algn="r"/>
            <a:r>
              <a:rPr sz="2800" b="0">
                <a:solidFill>
                  <a:srgbClr val="0C100E"/>
                </a:solidFill>
                <a:latin typeface="Amiri"/>
                <a:ea typeface="Amiri"/>
                <a:cs typeface="Amiri"/>
              </a:rPr>
              <a:t>ناس</a:t>
            </a:r>
          </a:p>
        </p:txBody>
      </p:sp>
      <p:sp>
        <p:nvSpPr>
          <p:cNvPr id="8" name="TextBox 7"/>
          <p:cNvSpPr txBox="1"/>
          <p:nvPr/>
        </p:nvSpPr>
        <p:spPr>
          <a:xfrm>
            <a:off x="566928" y="2926080"/>
            <a:ext cx="3474720" cy="182880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استقطاب يطابق صوت روتانا، وتهيئة لا تترك أحدًا في الأسبوع الأول وحيدًا.</a:t>
            </a:r>
          </a:p>
        </p:txBody>
      </p:sp>
      <p:pic>
        <p:nvPicPr>
          <p:cNvPr id="9" name="Picture 8" descr="performance.png"/>
          <p:cNvPicPr>
            <a:picLocks noChangeAspect="1"/>
          </p:cNvPicPr>
          <p:nvPr/>
        </p:nvPicPr>
        <p:blipFill>
          <a:blip r:embed="rId3"/>
          <a:stretch>
            <a:fillRect/>
          </a:stretch>
        </p:blipFill>
        <p:spPr>
          <a:xfrm>
            <a:off x="4361688" y="1691640"/>
            <a:ext cx="438912" cy="438912"/>
          </a:xfrm>
          <a:prstGeom prst="rect">
            <a:avLst/>
          </a:prstGeom>
        </p:spPr>
      </p:pic>
      <p:sp>
        <p:nvSpPr>
          <p:cNvPr id="10" name="TextBox 9"/>
          <p:cNvSpPr txBox="1"/>
          <p:nvPr/>
        </p:nvSpPr>
        <p:spPr>
          <a:xfrm>
            <a:off x="4361688" y="2286000"/>
            <a:ext cx="3474720" cy="502920"/>
          </a:xfrm>
          <a:prstGeom prst="rect">
            <a:avLst/>
          </a:prstGeom>
          <a:noFill/>
        </p:spPr>
        <p:txBody>
          <a:bodyPr wrap="square" anchor="t"/>
          <a:lstStyle/>
          <a:p>
            <a:pPr rtl="1" algn="r"/>
            <a:r>
              <a:rPr sz="2800" b="0">
                <a:solidFill>
                  <a:srgbClr val="0C100E"/>
                </a:solidFill>
                <a:latin typeface="Amiri"/>
                <a:ea typeface="Amiri"/>
                <a:cs typeface="Amiri"/>
              </a:rPr>
              <a:t>أداء</a:t>
            </a:r>
          </a:p>
        </p:txBody>
      </p:sp>
      <p:sp>
        <p:nvSpPr>
          <p:cNvPr id="11" name="TextBox 10"/>
          <p:cNvSpPr txBox="1"/>
          <p:nvPr/>
        </p:nvSpPr>
        <p:spPr>
          <a:xfrm>
            <a:off x="4361688" y="2926080"/>
            <a:ext cx="3474720" cy="182880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أهداف واضحة، مراجعة نصف سنوية، وخلافة للمقاعد التي لا تحتمل فراغًا.</a:t>
            </a:r>
          </a:p>
        </p:txBody>
      </p:sp>
      <p:pic>
        <p:nvPicPr>
          <p:cNvPr id="12" name="Picture 11" descr="culture.png"/>
          <p:cNvPicPr>
            <a:picLocks noChangeAspect="1"/>
          </p:cNvPicPr>
          <p:nvPr/>
        </p:nvPicPr>
        <p:blipFill>
          <a:blip r:embed="rId4"/>
          <a:stretch>
            <a:fillRect/>
          </a:stretch>
        </p:blipFill>
        <p:spPr>
          <a:xfrm>
            <a:off x="8156448" y="1691640"/>
            <a:ext cx="438912" cy="438912"/>
          </a:xfrm>
          <a:prstGeom prst="rect">
            <a:avLst/>
          </a:prstGeom>
        </p:spPr>
      </p:pic>
      <p:sp>
        <p:nvSpPr>
          <p:cNvPr id="13" name="TextBox 12"/>
          <p:cNvSpPr txBox="1"/>
          <p:nvPr/>
        </p:nvSpPr>
        <p:spPr>
          <a:xfrm>
            <a:off x="8156448" y="2286000"/>
            <a:ext cx="3474720" cy="502920"/>
          </a:xfrm>
          <a:prstGeom prst="rect">
            <a:avLst/>
          </a:prstGeom>
          <a:noFill/>
        </p:spPr>
        <p:txBody>
          <a:bodyPr wrap="square" anchor="t"/>
          <a:lstStyle/>
          <a:p>
            <a:pPr rtl="1" algn="r"/>
            <a:r>
              <a:rPr sz="2800" b="0">
                <a:solidFill>
                  <a:srgbClr val="0C100E"/>
                </a:solidFill>
                <a:latin typeface="Amiri"/>
                <a:ea typeface="Amiri"/>
                <a:cs typeface="Amiri"/>
              </a:rPr>
              <a:t>ثقافة</a:t>
            </a:r>
          </a:p>
        </p:txBody>
      </p:sp>
      <p:sp>
        <p:nvSpPr>
          <p:cNvPr id="14" name="TextBox 13"/>
          <p:cNvSpPr txBox="1"/>
          <p:nvPr/>
        </p:nvSpPr>
        <p:spPr>
          <a:xfrm>
            <a:off x="8156448" y="2926080"/>
            <a:ext cx="3474720" cy="1828800"/>
          </a:xfrm>
          <a:prstGeom prst="rect">
            <a:avLst/>
          </a:prstGeom>
          <a:noFill/>
        </p:spPr>
        <p:txBody>
          <a:bodyPr wrap="square" anchor="t"/>
          <a:lstStyle/>
          <a:p>
            <a:pPr rtl="1" algn="r"/>
            <a:r>
              <a:rPr sz="1500" b="0">
                <a:solidFill>
                  <a:srgbClr val="3A403C"/>
                </a:solidFill>
                <a:latin typeface="IBM Plex Sans Arabic"/>
                <a:ea typeface="IBM Plex Sans Arabic"/>
                <a:cs typeface="IBM Plex Sans Arabic"/>
              </a:rPr>
              <a:t>مكان يُنتج فيه العمل الإبداعي دون فوضى إجراءات، وبلا تساهل في الاحترام.</a:t>
            </a:r>
          </a:p>
        </p:txBody>
      </p:sp>
      <p:sp>
        <p:nvSpPr>
          <p:cNvPr id="15" name="TextBox 14"/>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6" name="TextBox 15"/>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١٨</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مسار من أربع محطات</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من الشاغر إلى اليوم التسعين.</a:t>
            </a:r>
          </a:p>
        </p:txBody>
      </p:sp>
      <p:sp>
        <p:nvSpPr>
          <p:cNvPr id="6" name="Rectangle 5"/>
          <p:cNvSpPr/>
          <p:nvPr/>
        </p:nvSpPr>
        <p:spPr>
          <a:xfrm>
            <a:off x="1463040" y="2331720"/>
            <a:ext cx="92354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27048" y="2121408"/>
            <a:ext cx="475488" cy="47548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2176272"/>
            <a:ext cx="475488" cy="384048"/>
          </a:xfrm>
          <a:prstGeom prst="rect">
            <a:avLst/>
          </a:prstGeom>
          <a:noFill/>
        </p:spPr>
        <p:txBody>
          <a:bodyPr wrap="square" anchor="t"/>
          <a:lstStyle/>
          <a:p>
            <a:pPr rtl="1" algn="ctr"/>
            <a:r>
              <a:rPr sz="1600" b="0">
                <a:solidFill>
                  <a:srgbClr val="FFFFFF"/>
                </a:solidFill>
                <a:latin typeface="Amiri"/>
                <a:ea typeface="Amiri"/>
                <a:cs typeface="Amiri"/>
              </a:rPr>
              <a:t>١</a:t>
            </a:r>
          </a:p>
        </p:txBody>
      </p:sp>
      <p:sp>
        <p:nvSpPr>
          <p:cNvPr id="9" name="TextBox 8"/>
          <p:cNvSpPr txBox="1"/>
          <p:nvPr/>
        </p:nvSpPr>
        <p:spPr>
          <a:xfrm>
            <a:off x="566928" y="2880360"/>
            <a:ext cx="2651760" cy="411480"/>
          </a:xfrm>
          <a:prstGeom prst="rect">
            <a:avLst/>
          </a:prstGeom>
          <a:noFill/>
        </p:spPr>
        <p:txBody>
          <a:bodyPr wrap="square" anchor="t"/>
          <a:lstStyle/>
          <a:p>
            <a:pPr rtl="1" algn="ctr"/>
            <a:r>
              <a:rPr sz="2000" b="1">
                <a:solidFill>
                  <a:srgbClr val="0C100E"/>
                </a:solidFill>
                <a:latin typeface="IBM Plex Sans Arabic"/>
                <a:ea typeface="IBM Plex Sans Arabic"/>
                <a:cs typeface="IBM Plex Sans Arabic"/>
              </a:rPr>
              <a:t>تعريف</a:t>
            </a:r>
          </a:p>
        </p:txBody>
      </p:sp>
      <p:sp>
        <p:nvSpPr>
          <p:cNvPr id="10" name="TextBox 9"/>
          <p:cNvSpPr txBox="1"/>
          <p:nvPr/>
        </p:nvSpPr>
        <p:spPr>
          <a:xfrm>
            <a:off x="566928" y="3337560"/>
            <a:ext cx="2651760" cy="1005840"/>
          </a:xfrm>
          <a:prstGeom prst="rect">
            <a:avLst/>
          </a:prstGeom>
          <a:noFill/>
        </p:spPr>
        <p:txBody>
          <a:bodyPr wrap="square" anchor="t"/>
          <a:lstStyle/>
          <a:p>
            <a:pPr rtl="1" algn="ctr"/>
            <a:r>
              <a:rPr sz="1400" b="0">
                <a:solidFill>
                  <a:srgbClr val="3A403C"/>
                </a:solidFill>
                <a:latin typeface="IBM Plex Sans Arabic"/>
                <a:ea typeface="IBM Plex Sans Arabic"/>
                <a:cs typeface="IBM Plex Sans Arabic"/>
              </a:rPr>
              <a:t>الوصف، النطاق، ومالك القرار.</a:t>
            </a:r>
          </a:p>
        </p:txBody>
      </p:sp>
      <p:sp>
        <p:nvSpPr>
          <p:cNvPr id="11" name="Oval 10"/>
          <p:cNvSpPr/>
          <p:nvPr/>
        </p:nvSpPr>
        <p:spPr>
          <a:xfrm>
            <a:off x="4407408" y="2121408"/>
            <a:ext cx="475488" cy="47548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8" y="2176272"/>
            <a:ext cx="475488" cy="384048"/>
          </a:xfrm>
          <a:prstGeom prst="rect">
            <a:avLst/>
          </a:prstGeom>
          <a:noFill/>
        </p:spPr>
        <p:txBody>
          <a:bodyPr wrap="square" anchor="t"/>
          <a:lstStyle/>
          <a:p>
            <a:pPr rtl="1" algn="ctr"/>
            <a:r>
              <a:rPr sz="1600" b="0">
                <a:solidFill>
                  <a:srgbClr val="FFFFFF"/>
                </a:solidFill>
                <a:latin typeface="Amiri"/>
                <a:ea typeface="Amiri"/>
                <a:cs typeface="Amiri"/>
              </a:rPr>
              <a:t>٢</a:t>
            </a:r>
          </a:p>
        </p:txBody>
      </p:sp>
      <p:sp>
        <p:nvSpPr>
          <p:cNvPr id="13" name="TextBox 12"/>
          <p:cNvSpPr txBox="1"/>
          <p:nvPr/>
        </p:nvSpPr>
        <p:spPr>
          <a:xfrm>
            <a:off x="3447288" y="2880360"/>
            <a:ext cx="2651760" cy="411480"/>
          </a:xfrm>
          <a:prstGeom prst="rect">
            <a:avLst/>
          </a:prstGeom>
          <a:noFill/>
        </p:spPr>
        <p:txBody>
          <a:bodyPr wrap="square" anchor="t"/>
          <a:lstStyle/>
          <a:p>
            <a:pPr rtl="1" algn="ctr"/>
            <a:r>
              <a:rPr sz="2000" b="1">
                <a:solidFill>
                  <a:srgbClr val="0C100E"/>
                </a:solidFill>
                <a:latin typeface="IBM Plex Sans Arabic"/>
                <a:ea typeface="IBM Plex Sans Arabic"/>
                <a:cs typeface="IBM Plex Sans Arabic"/>
              </a:rPr>
              <a:t>اختيار</a:t>
            </a:r>
          </a:p>
        </p:txBody>
      </p:sp>
      <p:sp>
        <p:nvSpPr>
          <p:cNvPr id="14" name="TextBox 13"/>
          <p:cNvSpPr txBox="1"/>
          <p:nvPr/>
        </p:nvSpPr>
        <p:spPr>
          <a:xfrm>
            <a:off x="3447288" y="3337560"/>
            <a:ext cx="2651760" cy="1005840"/>
          </a:xfrm>
          <a:prstGeom prst="rect">
            <a:avLst/>
          </a:prstGeom>
          <a:noFill/>
        </p:spPr>
        <p:txBody>
          <a:bodyPr wrap="square" anchor="t"/>
          <a:lstStyle/>
          <a:p>
            <a:pPr rtl="1" algn="ctr"/>
            <a:r>
              <a:rPr sz="1400" b="0">
                <a:solidFill>
                  <a:srgbClr val="3A403C"/>
                </a:solidFill>
                <a:latin typeface="IBM Plex Sans Arabic"/>
                <a:ea typeface="IBM Plex Sans Arabic"/>
                <a:cs typeface="IBM Plex Sans Arabic"/>
              </a:rPr>
              <a:t>غربلة، مقابلة، ومحاكاة عمل.</a:t>
            </a:r>
          </a:p>
        </p:txBody>
      </p:sp>
      <p:sp>
        <p:nvSpPr>
          <p:cNvPr id="15" name="Oval 14"/>
          <p:cNvSpPr/>
          <p:nvPr/>
        </p:nvSpPr>
        <p:spPr>
          <a:xfrm>
            <a:off x="7287768" y="2121408"/>
            <a:ext cx="475488" cy="47548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87768" y="2176272"/>
            <a:ext cx="475488" cy="384048"/>
          </a:xfrm>
          <a:prstGeom prst="rect">
            <a:avLst/>
          </a:prstGeom>
          <a:noFill/>
        </p:spPr>
        <p:txBody>
          <a:bodyPr wrap="square" anchor="t"/>
          <a:lstStyle/>
          <a:p>
            <a:pPr rtl="1" algn="ctr"/>
            <a:r>
              <a:rPr sz="1600" b="0">
                <a:solidFill>
                  <a:srgbClr val="FFFFFF"/>
                </a:solidFill>
                <a:latin typeface="Amiri"/>
                <a:ea typeface="Amiri"/>
                <a:cs typeface="Amiri"/>
              </a:rPr>
              <a:t>٣</a:t>
            </a:r>
          </a:p>
        </p:txBody>
      </p:sp>
      <p:sp>
        <p:nvSpPr>
          <p:cNvPr id="17" name="TextBox 16"/>
          <p:cNvSpPr txBox="1"/>
          <p:nvPr/>
        </p:nvSpPr>
        <p:spPr>
          <a:xfrm>
            <a:off x="6327648" y="2880360"/>
            <a:ext cx="2651760" cy="411480"/>
          </a:xfrm>
          <a:prstGeom prst="rect">
            <a:avLst/>
          </a:prstGeom>
          <a:noFill/>
        </p:spPr>
        <p:txBody>
          <a:bodyPr wrap="square" anchor="t"/>
          <a:lstStyle/>
          <a:p>
            <a:pPr rtl="1" algn="ctr"/>
            <a:r>
              <a:rPr sz="2000" b="1">
                <a:solidFill>
                  <a:srgbClr val="0C100E"/>
                </a:solidFill>
                <a:latin typeface="IBM Plex Sans Arabic"/>
                <a:ea typeface="IBM Plex Sans Arabic"/>
                <a:cs typeface="IBM Plex Sans Arabic"/>
              </a:rPr>
              <a:t>عرض</a:t>
            </a:r>
          </a:p>
        </p:txBody>
      </p:sp>
      <p:sp>
        <p:nvSpPr>
          <p:cNvPr id="18" name="TextBox 17"/>
          <p:cNvSpPr txBox="1"/>
          <p:nvPr/>
        </p:nvSpPr>
        <p:spPr>
          <a:xfrm>
            <a:off x="6327648" y="3337560"/>
            <a:ext cx="2651760" cy="1005840"/>
          </a:xfrm>
          <a:prstGeom prst="rect">
            <a:avLst/>
          </a:prstGeom>
          <a:noFill/>
        </p:spPr>
        <p:txBody>
          <a:bodyPr wrap="square" anchor="t"/>
          <a:lstStyle/>
          <a:p>
            <a:pPr rtl="1" algn="ctr"/>
            <a:r>
              <a:rPr sz="1400" b="0">
                <a:solidFill>
                  <a:srgbClr val="3A403C"/>
                </a:solidFill>
                <a:latin typeface="IBM Plex Sans Arabic"/>
                <a:ea typeface="IBM Plex Sans Arabic"/>
                <a:cs typeface="IBM Plex Sans Arabic"/>
              </a:rPr>
              <a:t>حزمة، تاريخ، وتوقيع واحد.</a:t>
            </a:r>
          </a:p>
        </p:txBody>
      </p:sp>
      <p:sp>
        <p:nvSpPr>
          <p:cNvPr id="19" name="Oval 18"/>
          <p:cNvSpPr/>
          <p:nvPr/>
        </p:nvSpPr>
        <p:spPr>
          <a:xfrm>
            <a:off x="10168128" y="2121408"/>
            <a:ext cx="475488" cy="475488"/>
          </a:xfrm>
          <a:prstGeom prst="ellipse">
            <a:avLst/>
          </a:prstGeom>
          <a:solidFill>
            <a:srgbClr val="005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8128" y="2176272"/>
            <a:ext cx="475488" cy="384048"/>
          </a:xfrm>
          <a:prstGeom prst="rect">
            <a:avLst/>
          </a:prstGeom>
          <a:noFill/>
        </p:spPr>
        <p:txBody>
          <a:bodyPr wrap="square" anchor="t"/>
          <a:lstStyle/>
          <a:p>
            <a:pPr rtl="1" algn="ctr"/>
            <a:r>
              <a:rPr sz="1600" b="0">
                <a:solidFill>
                  <a:srgbClr val="FFFFFF"/>
                </a:solidFill>
                <a:latin typeface="Amiri"/>
                <a:ea typeface="Amiri"/>
                <a:cs typeface="Amiri"/>
              </a:rPr>
              <a:t>٤</a:t>
            </a:r>
          </a:p>
        </p:txBody>
      </p:sp>
      <p:sp>
        <p:nvSpPr>
          <p:cNvPr id="21" name="TextBox 20"/>
          <p:cNvSpPr txBox="1"/>
          <p:nvPr/>
        </p:nvSpPr>
        <p:spPr>
          <a:xfrm>
            <a:off x="9208008" y="2880360"/>
            <a:ext cx="2651760" cy="411480"/>
          </a:xfrm>
          <a:prstGeom prst="rect">
            <a:avLst/>
          </a:prstGeom>
          <a:noFill/>
        </p:spPr>
        <p:txBody>
          <a:bodyPr wrap="square" anchor="t"/>
          <a:lstStyle/>
          <a:p>
            <a:pPr rtl="1" algn="ctr"/>
            <a:r>
              <a:rPr sz="2000" b="1">
                <a:solidFill>
                  <a:srgbClr val="0C100E"/>
                </a:solidFill>
                <a:latin typeface="IBM Plex Sans Arabic"/>
                <a:ea typeface="IBM Plex Sans Arabic"/>
                <a:cs typeface="IBM Plex Sans Arabic"/>
              </a:rPr>
              <a:t>اندماج</a:t>
            </a:r>
          </a:p>
        </p:txBody>
      </p:sp>
      <p:sp>
        <p:nvSpPr>
          <p:cNvPr id="22" name="TextBox 21"/>
          <p:cNvSpPr txBox="1"/>
          <p:nvPr/>
        </p:nvSpPr>
        <p:spPr>
          <a:xfrm>
            <a:off x="9208008" y="3337560"/>
            <a:ext cx="2651760" cy="1005840"/>
          </a:xfrm>
          <a:prstGeom prst="rect">
            <a:avLst/>
          </a:prstGeom>
          <a:noFill/>
        </p:spPr>
        <p:txBody>
          <a:bodyPr wrap="square" anchor="t"/>
          <a:lstStyle/>
          <a:p>
            <a:pPr rtl="1" algn="ctr"/>
            <a:r>
              <a:rPr sz="1400" b="0">
                <a:solidFill>
                  <a:srgbClr val="3A403C"/>
                </a:solidFill>
                <a:latin typeface="IBM Plex Sans Arabic"/>
                <a:ea typeface="IBM Plex Sans Arabic"/>
                <a:cs typeface="IBM Plex Sans Arabic"/>
              </a:rPr>
              <a:t>٣٠–٦٠–٩٠ بقياس لا بانطباع.</a:t>
            </a:r>
          </a:p>
        </p:txBody>
      </p:sp>
      <p:sp>
        <p:nvSpPr>
          <p:cNvPr id="23" name="TextBox 22"/>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24" name="TextBox 23"/>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١٩</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خط زمني</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سنة الثقافة والأداء.</a:t>
            </a:r>
          </a:p>
        </p:txBody>
      </p:sp>
      <p:sp>
        <p:nvSpPr>
          <p:cNvPr id="6" name="TextBox 5"/>
          <p:cNvSpPr txBox="1"/>
          <p:nvPr/>
        </p:nvSpPr>
        <p:spPr>
          <a:xfrm>
            <a:off x="566928" y="1783080"/>
            <a:ext cx="1188720" cy="365760"/>
          </a:xfrm>
          <a:prstGeom prst="rect">
            <a:avLst/>
          </a:prstGeom>
          <a:noFill/>
        </p:spPr>
        <p:txBody>
          <a:bodyPr wrap="square" anchor="t"/>
          <a:lstStyle/>
          <a:p>
            <a:pPr rtl="1" algn="r"/>
            <a:r>
              <a:rPr sz="1800" b="1">
                <a:solidFill>
                  <a:srgbClr val="00512F"/>
                </a:solidFill>
                <a:latin typeface="IBM Plex Sans"/>
                <a:ea typeface="IBM Plex Sans"/>
                <a:cs typeface="IBM Plex Sans"/>
              </a:rPr>
              <a:t>Q1</a:t>
            </a:r>
          </a:p>
        </p:txBody>
      </p:sp>
      <p:sp>
        <p:nvSpPr>
          <p:cNvPr id="7" name="TextBox 6"/>
          <p:cNvSpPr txBox="1"/>
          <p:nvPr/>
        </p:nvSpPr>
        <p:spPr>
          <a:xfrm>
            <a:off x="2011680" y="1746504"/>
            <a:ext cx="9509760" cy="45720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إطلاق الأهداف وتهيئة الدفعة الشتوية</a:t>
            </a:r>
          </a:p>
        </p:txBody>
      </p:sp>
      <p:sp>
        <p:nvSpPr>
          <p:cNvPr id="8" name="Rectangle 7"/>
          <p:cNvSpPr/>
          <p:nvPr/>
        </p:nvSpPr>
        <p:spPr>
          <a:xfrm>
            <a:off x="566928" y="2377440"/>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834640"/>
            <a:ext cx="1188720" cy="365760"/>
          </a:xfrm>
          <a:prstGeom prst="rect">
            <a:avLst/>
          </a:prstGeom>
          <a:noFill/>
        </p:spPr>
        <p:txBody>
          <a:bodyPr wrap="square" anchor="t"/>
          <a:lstStyle/>
          <a:p>
            <a:pPr rtl="1" algn="r"/>
            <a:r>
              <a:rPr sz="1800" b="1">
                <a:solidFill>
                  <a:srgbClr val="00512F"/>
                </a:solidFill>
                <a:latin typeface="IBM Plex Sans"/>
                <a:ea typeface="IBM Plex Sans"/>
                <a:cs typeface="IBM Plex Sans"/>
              </a:rPr>
              <a:t>Q2</a:t>
            </a:r>
          </a:p>
        </p:txBody>
      </p:sp>
      <p:sp>
        <p:nvSpPr>
          <p:cNvPr id="10" name="TextBox 9"/>
          <p:cNvSpPr txBox="1"/>
          <p:nvPr/>
        </p:nvSpPr>
        <p:spPr>
          <a:xfrm>
            <a:off x="2011680" y="2798064"/>
            <a:ext cx="9509760" cy="45720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مراجعة منتصف العام ومسار الخلافة</a:t>
            </a:r>
          </a:p>
        </p:txBody>
      </p:sp>
      <p:sp>
        <p:nvSpPr>
          <p:cNvPr id="11" name="Rectangle 10"/>
          <p:cNvSpPr/>
          <p:nvPr/>
        </p:nvSpPr>
        <p:spPr>
          <a:xfrm>
            <a:off x="566928" y="3429000"/>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886200"/>
            <a:ext cx="1188720" cy="365760"/>
          </a:xfrm>
          <a:prstGeom prst="rect">
            <a:avLst/>
          </a:prstGeom>
          <a:noFill/>
        </p:spPr>
        <p:txBody>
          <a:bodyPr wrap="square" anchor="t"/>
          <a:lstStyle/>
          <a:p>
            <a:pPr rtl="1" algn="r"/>
            <a:r>
              <a:rPr sz="1800" b="1">
                <a:solidFill>
                  <a:srgbClr val="00512F"/>
                </a:solidFill>
                <a:latin typeface="IBM Plex Sans"/>
                <a:ea typeface="IBM Plex Sans"/>
                <a:cs typeface="IBM Plex Sans"/>
              </a:rPr>
              <a:t>Q3</a:t>
            </a:r>
          </a:p>
        </p:txBody>
      </p:sp>
      <p:sp>
        <p:nvSpPr>
          <p:cNvPr id="13" name="TextBox 12"/>
          <p:cNvSpPr txBox="1"/>
          <p:nvPr/>
        </p:nvSpPr>
        <p:spPr>
          <a:xfrm>
            <a:off x="2011680" y="3849624"/>
            <a:ext cx="9509760" cy="45720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مسح eNPS وبرامج القادة</a:t>
            </a:r>
          </a:p>
        </p:txBody>
      </p:sp>
      <p:sp>
        <p:nvSpPr>
          <p:cNvPr id="14" name="Rectangle 13"/>
          <p:cNvSpPr/>
          <p:nvPr/>
        </p:nvSpPr>
        <p:spPr>
          <a:xfrm>
            <a:off x="566928" y="4480560"/>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37759"/>
            <a:ext cx="1188720" cy="365760"/>
          </a:xfrm>
          <a:prstGeom prst="rect">
            <a:avLst/>
          </a:prstGeom>
          <a:noFill/>
        </p:spPr>
        <p:txBody>
          <a:bodyPr wrap="square" anchor="t"/>
          <a:lstStyle/>
          <a:p>
            <a:pPr rtl="1" algn="r"/>
            <a:r>
              <a:rPr sz="1800" b="1">
                <a:solidFill>
                  <a:srgbClr val="00512F"/>
                </a:solidFill>
                <a:latin typeface="IBM Plex Sans"/>
                <a:ea typeface="IBM Plex Sans"/>
                <a:cs typeface="IBM Plex Sans"/>
              </a:rPr>
              <a:t>Q4</a:t>
            </a:r>
          </a:p>
        </p:txBody>
      </p:sp>
      <p:sp>
        <p:nvSpPr>
          <p:cNvPr id="16" name="TextBox 15"/>
          <p:cNvSpPr txBox="1"/>
          <p:nvPr/>
        </p:nvSpPr>
        <p:spPr>
          <a:xfrm>
            <a:off x="2011680" y="4901183"/>
            <a:ext cx="9509760" cy="457200"/>
          </a:xfrm>
          <a:prstGeom prst="rect">
            <a:avLst/>
          </a:prstGeom>
          <a:noFill/>
        </p:spPr>
        <p:txBody>
          <a:bodyPr wrap="square" anchor="t"/>
          <a:lstStyle/>
          <a:p>
            <a:pPr rtl="1" algn="r"/>
            <a:r>
              <a:rPr sz="2200" b="0">
                <a:solidFill>
                  <a:srgbClr val="0C100E"/>
                </a:solidFill>
                <a:latin typeface="IBM Plex Sans Arabic"/>
                <a:ea typeface="IBM Plex Sans Arabic"/>
                <a:cs typeface="IBM Plex Sans Arabic"/>
              </a:rPr>
              <a:t>معايرة الأداء وتخطيط القوة للعام التالي</a:t>
            </a:r>
          </a:p>
        </p:txBody>
      </p:sp>
      <p:sp>
        <p:nvSpPr>
          <p:cNvPr id="17" name="Rectangle 16"/>
          <p:cNvSpPr/>
          <p:nvPr/>
        </p:nvSpPr>
        <p:spPr>
          <a:xfrm>
            <a:off x="566928" y="5532119"/>
            <a:ext cx="11064240" cy="12700"/>
          </a:xfrm>
          <a:prstGeom prst="rect">
            <a:avLst/>
          </a:prstGeom>
          <a:solidFill>
            <a:srgbClr val="C5C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9" name="TextBox 18"/>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٢٠</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فريق القيادة</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استبدل الصورة. أبقِ الإطار.</a:t>
            </a:r>
          </a:p>
        </p:txBody>
      </p:sp>
      <p:pic>
        <p:nvPicPr>
          <p:cNvPr id="6" name="Picture 5" descr="circle-01.png"/>
          <p:cNvPicPr>
            <a:picLocks noChangeAspect="1"/>
          </p:cNvPicPr>
          <p:nvPr/>
        </p:nvPicPr>
        <p:blipFill>
          <a:blip r:embed="rId2"/>
          <a:stretch>
            <a:fillRect/>
          </a:stretch>
        </p:blipFill>
        <p:spPr>
          <a:xfrm>
            <a:off x="795528" y="1554480"/>
            <a:ext cx="2240280" cy="2240280"/>
          </a:xfrm>
          <a:prstGeom prst="ellipse">
            <a:avLst/>
          </a:prstGeom>
        </p:spPr>
      </p:pic>
      <p:sp>
        <p:nvSpPr>
          <p:cNvPr id="7" name="TextBox 6"/>
          <p:cNvSpPr txBox="1"/>
          <p:nvPr/>
        </p:nvSpPr>
        <p:spPr>
          <a:xfrm>
            <a:off x="566928" y="3977639"/>
            <a:ext cx="2697480" cy="320040"/>
          </a:xfrm>
          <a:prstGeom prst="rect">
            <a:avLst/>
          </a:prstGeom>
          <a:noFill/>
        </p:spPr>
        <p:txBody>
          <a:bodyPr wrap="square" anchor="t"/>
          <a:lstStyle/>
          <a:p>
            <a:pPr rtl="1" algn="ctr"/>
            <a:r>
              <a:rPr sz="1600" b="1">
                <a:solidFill>
                  <a:srgbClr val="0C100E"/>
                </a:solidFill>
                <a:latin typeface="IBM Plex Sans Arabic"/>
                <a:ea typeface="IBM Plex Sans Arabic"/>
                <a:cs typeface="IBM Plex Sans Arabic"/>
              </a:rPr>
              <a:t>الاسم</a:t>
            </a:r>
          </a:p>
        </p:txBody>
      </p:sp>
      <p:sp>
        <p:nvSpPr>
          <p:cNvPr id="8" name="TextBox 7"/>
          <p:cNvSpPr txBox="1"/>
          <p:nvPr/>
        </p:nvSpPr>
        <p:spPr>
          <a:xfrm>
            <a:off x="566928" y="4297680"/>
            <a:ext cx="2697480" cy="320040"/>
          </a:xfrm>
          <a:prstGeom prst="rect">
            <a:avLst/>
          </a:prstGeom>
          <a:noFill/>
        </p:spPr>
        <p:txBody>
          <a:bodyPr wrap="square" anchor="t"/>
          <a:lstStyle/>
          <a:p>
            <a:pPr rtl="1" algn="ctr"/>
            <a:r>
              <a:rPr sz="1300" b="0">
                <a:solidFill>
                  <a:srgbClr val="6A706C"/>
                </a:solidFill>
                <a:latin typeface="IBM Plex Sans Arabic"/>
                <a:ea typeface="IBM Plex Sans Arabic"/>
                <a:cs typeface="IBM Plex Sans Arabic"/>
              </a:rPr>
              <a:t>رئيس الموارد البشرية</a:t>
            </a:r>
          </a:p>
        </p:txBody>
      </p:sp>
      <p:pic>
        <p:nvPicPr>
          <p:cNvPr id="9" name="Picture 8" descr="circle-01.png"/>
          <p:cNvPicPr>
            <a:picLocks noChangeAspect="1"/>
          </p:cNvPicPr>
          <p:nvPr/>
        </p:nvPicPr>
        <p:blipFill>
          <a:blip r:embed="rId2"/>
          <a:stretch>
            <a:fillRect/>
          </a:stretch>
        </p:blipFill>
        <p:spPr>
          <a:xfrm>
            <a:off x="3675888" y="1554480"/>
            <a:ext cx="2240280" cy="2240280"/>
          </a:xfrm>
          <a:prstGeom prst="ellipse">
            <a:avLst/>
          </a:prstGeom>
        </p:spPr>
      </p:pic>
      <p:sp>
        <p:nvSpPr>
          <p:cNvPr id="10" name="TextBox 9"/>
          <p:cNvSpPr txBox="1"/>
          <p:nvPr/>
        </p:nvSpPr>
        <p:spPr>
          <a:xfrm>
            <a:off x="3447288" y="3977639"/>
            <a:ext cx="2697480" cy="320040"/>
          </a:xfrm>
          <a:prstGeom prst="rect">
            <a:avLst/>
          </a:prstGeom>
          <a:noFill/>
        </p:spPr>
        <p:txBody>
          <a:bodyPr wrap="square" anchor="t"/>
          <a:lstStyle/>
          <a:p>
            <a:pPr rtl="1" algn="ctr"/>
            <a:r>
              <a:rPr sz="1600" b="1">
                <a:solidFill>
                  <a:srgbClr val="0C100E"/>
                </a:solidFill>
                <a:latin typeface="IBM Plex Sans Arabic"/>
                <a:ea typeface="IBM Plex Sans Arabic"/>
                <a:cs typeface="IBM Plex Sans Arabic"/>
              </a:rPr>
              <a:t>الاسم</a:t>
            </a:r>
          </a:p>
        </p:txBody>
      </p:sp>
      <p:sp>
        <p:nvSpPr>
          <p:cNvPr id="11" name="TextBox 10"/>
          <p:cNvSpPr txBox="1"/>
          <p:nvPr/>
        </p:nvSpPr>
        <p:spPr>
          <a:xfrm>
            <a:off x="3447288" y="4297680"/>
            <a:ext cx="2697480" cy="320040"/>
          </a:xfrm>
          <a:prstGeom prst="rect">
            <a:avLst/>
          </a:prstGeom>
          <a:noFill/>
        </p:spPr>
        <p:txBody>
          <a:bodyPr wrap="square" anchor="t"/>
          <a:lstStyle/>
          <a:p>
            <a:pPr rtl="1" algn="ctr"/>
            <a:r>
              <a:rPr sz="1300" b="0">
                <a:solidFill>
                  <a:srgbClr val="6A706C"/>
                </a:solidFill>
                <a:latin typeface="IBM Plex Sans Arabic"/>
                <a:ea typeface="IBM Plex Sans Arabic"/>
                <a:cs typeface="IBM Plex Sans Arabic"/>
              </a:rPr>
              <a:t>الاستقطاب</a:t>
            </a:r>
          </a:p>
        </p:txBody>
      </p:sp>
      <p:pic>
        <p:nvPicPr>
          <p:cNvPr id="12" name="Picture 11" descr="circle-01.png"/>
          <p:cNvPicPr>
            <a:picLocks noChangeAspect="1"/>
          </p:cNvPicPr>
          <p:nvPr/>
        </p:nvPicPr>
        <p:blipFill>
          <a:blip r:embed="rId2"/>
          <a:stretch>
            <a:fillRect/>
          </a:stretch>
        </p:blipFill>
        <p:spPr>
          <a:xfrm>
            <a:off x="6556248" y="1554480"/>
            <a:ext cx="2240280" cy="2240280"/>
          </a:xfrm>
          <a:prstGeom prst="ellipse">
            <a:avLst/>
          </a:prstGeom>
        </p:spPr>
      </p:pic>
      <p:sp>
        <p:nvSpPr>
          <p:cNvPr id="13" name="TextBox 12"/>
          <p:cNvSpPr txBox="1"/>
          <p:nvPr/>
        </p:nvSpPr>
        <p:spPr>
          <a:xfrm>
            <a:off x="6327648" y="3977639"/>
            <a:ext cx="2697480" cy="320040"/>
          </a:xfrm>
          <a:prstGeom prst="rect">
            <a:avLst/>
          </a:prstGeom>
          <a:noFill/>
        </p:spPr>
        <p:txBody>
          <a:bodyPr wrap="square" anchor="t"/>
          <a:lstStyle/>
          <a:p>
            <a:pPr rtl="1" algn="ctr"/>
            <a:r>
              <a:rPr sz="1600" b="1">
                <a:solidFill>
                  <a:srgbClr val="0C100E"/>
                </a:solidFill>
                <a:latin typeface="IBM Plex Sans Arabic"/>
                <a:ea typeface="IBM Plex Sans Arabic"/>
                <a:cs typeface="IBM Plex Sans Arabic"/>
              </a:rPr>
              <a:t>الاسم</a:t>
            </a:r>
          </a:p>
        </p:txBody>
      </p:sp>
      <p:sp>
        <p:nvSpPr>
          <p:cNvPr id="14" name="TextBox 13"/>
          <p:cNvSpPr txBox="1"/>
          <p:nvPr/>
        </p:nvSpPr>
        <p:spPr>
          <a:xfrm>
            <a:off x="6327648" y="4297680"/>
            <a:ext cx="2697480" cy="320040"/>
          </a:xfrm>
          <a:prstGeom prst="rect">
            <a:avLst/>
          </a:prstGeom>
          <a:noFill/>
        </p:spPr>
        <p:txBody>
          <a:bodyPr wrap="square" anchor="t"/>
          <a:lstStyle/>
          <a:p>
            <a:pPr rtl="1" algn="ctr"/>
            <a:r>
              <a:rPr sz="1300" b="0">
                <a:solidFill>
                  <a:srgbClr val="6A706C"/>
                </a:solidFill>
                <a:latin typeface="IBM Plex Sans Arabic"/>
                <a:ea typeface="IBM Plex Sans Arabic"/>
                <a:cs typeface="IBM Plex Sans Arabic"/>
              </a:rPr>
              <a:t>التطوير والأداء</a:t>
            </a:r>
          </a:p>
        </p:txBody>
      </p:sp>
      <p:pic>
        <p:nvPicPr>
          <p:cNvPr id="15" name="Picture 14" descr="circle-01.png"/>
          <p:cNvPicPr>
            <a:picLocks noChangeAspect="1"/>
          </p:cNvPicPr>
          <p:nvPr/>
        </p:nvPicPr>
        <p:blipFill>
          <a:blip r:embed="rId2"/>
          <a:stretch>
            <a:fillRect/>
          </a:stretch>
        </p:blipFill>
        <p:spPr>
          <a:xfrm>
            <a:off x="9436608" y="1554480"/>
            <a:ext cx="2240280" cy="2240280"/>
          </a:xfrm>
          <a:prstGeom prst="ellipse">
            <a:avLst/>
          </a:prstGeom>
        </p:spPr>
      </p:pic>
      <p:sp>
        <p:nvSpPr>
          <p:cNvPr id="16" name="TextBox 15"/>
          <p:cNvSpPr txBox="1"/>
          <p:nvPr/>
        </p:nvSpPr>
        <p:spPr>
          <a:xfrm>
            <a:off x="9208008" y="3977639"/>
            <a:ext cx="2697480" cy="320040"/>
          </a:xfrm>
          <a:prstGeom prst="rect">
            <a:avLst/>
          </a:prstGeom>
          <a:noFill/>
        </p:spPr>
        <p:txBody>
          <a:bodyPr wrap="square" anchor="t"/>
          <a:lstStyle/>
          <a:p>
            <a:pPr rtl="1" algn="ctr"/>
            <a:r>
              <a:rPr sz="1600" b="1">
                <a:solidFill>
                  <a:srgbClr val="0C100E"/>
                </a:solidFill>
                <a:latin typeface="IBM Plex Sans Arabic"/>
                <a:ea typeface="IBM Plex Sans Arabic"/>
                <a:cs typeface="IBM Plex Sans Arabic"/>
              </a:rPr>
              <a:t>الاسم</a:t>
            </a:r>
          </a:p>
        </p:txBody>
      </p:sp>
      <p:sp>
        <p:nvSpPr>
          <p:cNvPr id="17" name="TextBox 16"/>
          <p:cNvSpPr txBox="1"/>
          <p:nvPr/>
        </p:nvSpPr>
        <p:spPr>
          <a:xfrm>
            <a:off x="9208008" y="4297680"/>
            <a:ext cx="2697480" cy="320040"/>
          </a:xfrm>
          <a:prstGeom prst="rect">
            <a:avLst/>
          </a:prstGeom>
          <a:noFill/>
        </p:spPr>
        <p:txBody>
          <a:bodyPr wrap="square" anchor="t"/>
          <a:lstStyle/>
          <a:p>
            <a:pPr rtl="1" algn="ctr"/>
            <a:r>
              <a:rPr sz="1300" b="0">
                <a:solidFill>
                  <a:srgbClr val="6A706C"/>
                </a:solidFill>
                <a:latin typeface="IBM Plex Sans Arabic"/>
                <a:ea typeface="IBM Plex Sans Arabic"/>
                <a:cs typeface="IBM Plex Sans Arabic"/>
              </a:rPr>
              <a:t>المزايا والثقافة</a:t>
            </a:r>
          </a:p>
        </p:txBody>
      </p:sp>
      <p:sp>
        <p:nvSpPr>
          <p:cNvPr id="18" name="TextBox 17"/>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19" name="TextBox 18"/>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280160"/>
            <a:ext cx="2743200" cy="1005840"/>
          </a:xfrm>
          <a:prstGeom prst="rect">
            <a:avLst/>
          </a:prstGeom>
          <a:noFill/>
        </p:spPr>
        <p:txBody>
          <a:bodyPr wrap="square" anchor="t"/>
          <a:lstStyle/>
          <a:p>
            <a:pPr rtl="1" algn="r"/>
            <a:r>
              <a:rPr sz="8000" b="0">
                <a:solidFill>
                  <a:srgbClr val="00512F"/>
                </a:solidFill>
                <a:latin typeface="Amiri"/>
                <a:ea typeface="Amiri"/>
                <a:cs typeface="Amiri"/>
              </a:rPr>
              <a:t>«</a:t>
            </a:r>
          </a:p>
        </p:txBody>
      </p:sp>
      <p:sp>
        <p:nvSpPr>
          <p:cNvPr id="4" name="TextBox 3"/>
          <p:cNvSpPr txBox="1"/>
          <p:nvPr/>
        </p:nvSpPr>
        <p:spPr>
          <a:xfrm>
            <a:off x="566928" y="2286000"/>
            <a:ext cx="10789920" cy="2194560"/>
          </a:xfrm>
          <a:prstGeom prst="rect">
            <a:avLst/>
          </a:prstGeom>
          <a:noFill/>
        </p:spPr>
        <p:txBody>
          <a:bodyPr wrap="square" anchor="t"/>
          <a:lstStyle/>
          <a:p>
            <a:pPr rtl="1" algn="r"/>
            <a:r>
              <a:rPr sz="3200" b="0">
                <a:solidFill>
                  <a:srgbClr val="FFFFFF"/>
                </a:solidFill>
                <a:latin typeface="Amiri"/>
                <a:ea typeface="Amiri"/>
                <a:cs typeface="Amiri"/>
              </a:rPr>
              <a:t>العلامة تُسمَع في الأغنية، وتُرى فيمن يفتح الباب في اليوم الأول.</a:t>
            </a:r>
          </a:p>
        </p:txBody>
      </p:sp>
      <p:sp>
        <p:nvSpPr>
          <p:cNvPr id="5" name="TextBox 4"/>
          <p:cNvSpPr txBox="1"/>
          <p:nvPr/>
        </p:nvSpPr>
        <p:spPr>
          <a:xfrm>
            <a:off x="566928" y="4754880"/>
            <a:ext cx="9144000" cy="320040"/>
          </a:xfrm>
          <a:prstGeom prst="rect">
            <a:avLst/>
          </a:prstGeom>
          <a:noFill/>
        </p:spPr>
        <p:txBody>
          <a:bodyPr wrap="square" anchor="t"/>
          <a:lstStyle/>
          <a:p>
            <a:pPr rtl="1" algn="r"/>
            <a:r>
              <a:rPr sz="1200" b="0">
                <a:solidFill>
                  <a:srgbClr val="B8C0B0"/>
                </a:solidFill>
                <a:latin typeface="IBM Plex Sans"/>
                <a:ea typeface="IBM Plex Sans"/>
                <a:cs typeface="IBM Plex Sans"/>
              </a:rPr>
              <a:t>ROTANA  ·  HUMAN RESOURCES</a:t>
            </a:r>
          </a:p>
        </p:txBody>
      </p:sp>
      <p:sp>
        <p:nvSpPr>
          <p:cNvPr id="6" name="TextBox 5"/>
          <p:cNvSpPr txBox="1"/>
          <p:nvPr/>
        </p:nvSpPr>
        <p:spPr>
          <a:xfrm>
            <a:off x="566928" y="6510528"/>
            <a:ext cx="4572000" cy="256032"/>
          </a:xfrm>
          <a:prstGeom prst="rect">
            <a:avLst/>
          </a:prstGeom>
          <a:noFill/>
        </p:spPr>
        <p:txBody>
          <a:bodyPr wrap="square" anchor="t"/>
          <a:lstStyle/>
          <a:p>
            <a:pPr rtl="1" algn="r"/>
            <a:r>
              <a:rPr sz="1100" b="0">
                <a:solidFill>
                  <a:srgbClr val="B8C0B0"/>
                </a:solidFill>
                <a:latin typeface="IBM Plex Sans Arabic"/>
                <a:ea typeface="IBM Plex Sans Arabic"/>
                <a:cs typeface="IBM Plex Sans Arabic"/>
              </a:rPr>
              <a:t>روتانا  ·  الموارد البشرية</a:t>
            </a:r>
          </a:p>
        </p:txBody>
      </p:sp>
      <p:sp>
        <p:nvSpPr>
          <p:cNvPr id="7" name="TextBox 6"/>
          <p:cNvSpPr txBox="1"/>
          <p:nvPr/>
        </p:nvSpPr>
        <p:spPr>
          <a:xfrm>
            <a:off x="9509760" y="6510528"/>
            <a:ext cx="2103120" cy="256032"/>
          </a:xfrm>
          <a:prstGeom prst="rect">
            <a:avLst/>
          </a:prstGeom>
          <a:noFill/>
        </p:spPr>
        <p:txBody>
          <a:bodyPr wrap="square" anchor="t"/>
          <a:lstStyle/>
          <a:p>
            <a:pPr rtl="1" algn="l"/>
            <a:r>
              <a:rPr sz="1100" b="0">
                <a:solidFill>
                  <a:srgbClr val="B8C0B0"/>
                </a:solidFill>
                <a:latin typeface="IBM Plex Mono"/>
                <a:ea typeface="IBM Plex Mono"/>
                <a:cs typeface="IBM Plex Mono"/>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640080" cy="274320"/>
          </a:xfrm>
          <a:prstGeom prst="rect">
            <a:avLst/>
          </a:prstGeom>
          <a:noFill/>
        </p:spPr>
        <p:txBody>
          <a:bodyPr wrap="square" anchor="t"/>
          <a:lstStyle/>
          <a:p>
            <a:pPr rtl="1" algn="r"/>
            <a:r>
              <a:rPr sz="1100" b="0">
                <a:solidFill>
                  <a:srgbClr val="00512F"/>
                </a:solidFill>
                <a:latin typeface="IBM Plex Mono"/>
                <a:ea typeface="IBM Plex Mono"/>
                <a:cs typeface="IBM Plex Mono"/>
              </a:rPr>
              <a:t>٢٢</a:t>
            </a:r>
          </a:p>
        </p:txBody>
      </p:sp>
      <p:sp>
        <p:nvSpPr>
          <p:cNvPr id="4" name="TextBox 3"/>
          <p:cNvSpPr txBox="1"/>
          <p:nvPr/>
        </p:nvSpPr>
        <p:spPr>
          <a:xfrm>
            <a:off x="1234440" y="384048"/>
            <a:ext cx="10058400" cy="256032"/>
          </a:xfrm>
          <a:prstGeom prst="rect">
            <a:avLst/>
          </a:prstGeom>
          <a:noFill/>
        </p:spPr>
        <p:txBody>
          <a:bodyPr wrap="square" anchor="t"/>
          <a:lstStyle/>
          <a:p>
            <a:pPr rtl="1" algn="r"/>
            <a:r>
              <a:rPr sz="1100" b="0">
                <a:solidFill>
                  <a:srgbClr val="00512F"/>
                </a:solidFill>
                <a:latin typeface="IBM Plex Sans"/>
                <a:ea typeface="IBM Plex Sans"/>
                <a:cs typeface="IBM Plex Sans"/>
              </a:rPr>
              <a:t>مقارنة مسارات</a:t>
            </a:r>
          </a:p>
        </p:txBody>
      </p:sp>
      <p:sp>
        <p:nvSpPr>
          <p:cNvPr id="5" name="TextBox 4"/>
          <p:cNvSpPr txBox="1"/>
          <p:nvPr/>
        </p:nvSpPr>
        <p:spPr>
          <a:xfrm>
            <a:off x="1234440" y="621792"/>
            <a:ext cx="10241280" cy="640080"/>
          </a:xfrm>
          <a:prstGeom prst="rect">
            <a:avLst/>
          </a:prstGeom>
          <a:noFill/>
        </p:spPr>
        <p:txBody>
          <a:bodyPr wrap="square" anchor="t"/>
          <a:lstStyle/>
          <a:p>
            <a:pPr rtl="1" algn="r"/>
            <a:r>
              <a:rPr sz="2800" b="0">
                <a:solidFill>
                  <a:srgbClr val="0C100E"/>
                </a:solidFill>
                <a:latin typeface="Amiri"/>
                <a:ea typeface="Amiri"/>
                <a:cs typeface="Amiri"/>
              </a:rPr>
              <a:t>قبل / بعد إعادة تصميم التهيئة.</a:t>
            </a:r>
          </a:p>
        </p:txBody>
      </p:sp>
      <p:graphicFrame>
        <p:nvGraphicFramePr>
          <p:cNvPr id="6" name="Table 5"/>
          <p:cNvGraphicFramePr>
            <a:graphicFrameLocks noGrp="1"/>
          </p:cNvGraphicFramePr>
          <p:nvPr/>
        </p:nvGraphicFramePr>
        <p:xfrm>
          <a:off x="566928" y="1600200"/>
          <a:ext cx="11064240" cy="4023360"/>
        </p:xfrm>
        <a:graphic>
          <a:graphicData uri="http://schemas.openxmlformats.org/drawingml/2006/table">
            <a:tbl>
              <a:tblPr firstRow="1" bandRow="1">
                <a:tableStyleId>{5C22544A-7EE6-4342-B048-85BDC9FD1C3A}</a:tableStyleId>
              </a:tblPr>
              <a:tblGrid>
                <a:gridCol w="2194560"/>
                <a:gridCol w="4434840"/>
                <a:gridCol w="4434840"/>
              </a:tblGrid>
              <a:tr h="804672">
                <a:tc>
                  <a:txBody>
                    <a:bodyPr/>
                    <a:lstStyle/>
                    <a:p>
                      <a:pPr rtl="1" algn="r"/>
                      <a:r>
                        <a:rPr sz="1200" b="1">
                          <a:solidFill>
                            <a:srgbClr val="00512F"/>
                          </a:solidFill>
                          <a:latin typeface="IBM Plex Sans"/>
                          <a:ea typeface="IBM Plex Sans"/>
                          <a:cs typeface="IBM Plex Sans"/>
                        </a:rPr>
                        <a:t/>
                      </a:r>
                    </a:p>
                  </a:txBody>
                  <a:tcPr>
                    <a:solidFill>
                      <a:srgbClr val="F7F6F3"/>
                    </a:solidFill>
                  </a:tcPr>
                </a:tc>
                <a:tc>
                  <a:txBody>
                    <a:bodyPr/>
                    <a:lstStyle/>
                    <a:p>
                      <a:pPr rtl="1" algn="r"/>
                      <a:r>
                        <a:rPr sz="1200" b="1">
                          <a:solidFill>
                            <a:srgbClr val="00512F"/>
                          </a:solidFill>
                          <a:latin typeface="IBM Plex Sans"/>
                          <a:ea typeface="IBM Plex Sans"/>
                          <a:cs typeface="IBM Plex Sans"/>
                        </a:rPr>
                        <a:t>سابقًا</a:t>
                      </a:r>
                    </a:p>
                  </a:txBody>
                  <a:tcPr>
                    <a:solidFill>
                      <a:srgbClr val="F7F6F3"/>
                    </a:solidFill>
                  </a:tcPr>
                </a:tc>
                <a:tc>
                  <a:txBody>
                    <a:bodyPr/>
                    <a:lstStyle/>
                    <a:p>
                      <a:pPr rtl="1" algn="r"/>
                      <a:r>
                        <a:rPr sz="1200" b="1">
                          <a:solidFill>
                            <a:srgbClr val="00512F"/>
                          </a:solidFill>
                          <a:latin typeface="IBM Plex Sans"/>
                          <a:ea typeface="IBM Plex Sans"/>
                          <a:cs typeface="IBM Plex Sans"/>
                        </a:rPr>
                        <a:t>الآن</a:t>
                      </a:r>
                    </a:p>
                  </a:txBody>
                  <a:tcPr>
                    <a:solidFill>
                      <a:srgbClr val="F7F6F3"/>
                    </a:solidFill>
                  </a:tcPr>
                </a:tc>
              </a:tr>
              <a:tr h="804672">
                <a:tc>
                  <a:txBody>
                    <a:bodyPr/>
                    <a:lstStyle/>
                    <a:p>
                      <a:pPr rtl="1" algn="r"/>
                      <a:r>
                        <a:rPr sz="1500" b="1">
                          <a:solidFill>
                            <a:srgbClr val="0C100E"/>
                          </a:solidFill>
                          <a:latin typeface="IBM Plex Sans Arabic"/>
                          <a:ea typeface="IBM Plex Sans Arabic"/>
                          <a:cs typeface="IBM Plex Sans Arabic"/>
                        </a:rPr>
                        <a:t>أول يوم</a:t>
                      </a:r>
                    </a:p>
                  </a:txBody>
                  <a:tcPr>
                    <a:solidFill>
                      <a:srgbClr val="F0EFEC"/>
                    </a:solidFill>
                  </a:tcPr>
                </a:tc>
                <a:tc>
                  <a:txBody>
                    <a:bodyPr/>
                    <a:lstStyle/>
                    <a:p>
                      <a:pPr rtl="1" algn="r"/>
                      <a:r>
                        <a:rPr sz="1500" b="0">
                          <a:solidFill>
                            <a:srgbClr val="0C100E"/>
                          </a:solidFill>
                          <a:latin typeface="IBM Plex Sans Arabic"/>
                          <a:ea typeface="IBM Plex Sans Arabic"/>
                          <a:cs typeface="IBM Plex Sans Arabic"/>
                        </a:rPr>
                        <a:t>أوراق وتوقيع</a:t>
                      </a:r>
                    </a:p>
                  </a:txBody>
                  <a:tcPr>
                    <a:solidFill>
                      <a:srgbClr val="F0EFEC"/>
                    </a:solidFill>
                  </a:tcPr>
                </a:tc>
                <a:tc>
                  <a:txBody>
                    <a:bodyPr/>
                    <a:lstStyle/>
                    <a:p>
                      <a:pPr rtl="1" algn="r"/>
                      <a:r>
                        <a:rPr sz="1500" b="0">
                          <a:solidFill>
                            <a:srgbClr val="0C100E"/>
                          </a:solidFill>
                          <a:latin typeface="IBM Plex Sans Arabic"/>
                          <a:ea typeface="IBM Plex Sans Arabic"/>
                          <a:cs typeface="IBM Plex Sans Arabic"/>
                        </a:rPr>
                        <a:t>لقاء فريق + مشغّل العمل</a:t>
                      </a:r>
                    </a:p>
                  </a:txBody>
                  <a:tcPr>
                    <a:solidFill>
                      <a:srgbClr val="F0EFEC"/>
                    </a:solidFill>
                  </a:tcPr>
                </a:tc>
              </a:tr>
              <a:tr h="804672">
                <a:tc>
                  <a:txBody>
                    <a:bodyPr/>
                    <a:lstStyle/>
                    <a:p>
                      <a:pPr rtl="1" algn="r"/>
                      <a:r>
                        <a:rPr sz="1500" b="1">
                          <a:solidFill>
                            <a:srgbClr val="0C100E"/>
                          </a:solidFill>
                          <a:latin typeface="IBM Plex Sans Arabic"/>
                          <a:ea typeface="IBM Plex Sans Arabic"/>
                          <a:cs typeface="IBM Plex Sans Arabic"/>
                        </a:rPr>
                        <a:t>الأسبوع ١</a:t>
                      </a:r>
                    </a:p>
                  </a:txBody>
                  <a:tcPr>
                    <a:solidFill>
                      <a:srgbClr val="F7F6F3"/>
                    </a:solidFill>
                  </a:tcPr>
                </a:tc>
                <a:tc>
                  <a:txBody>
                    <a:bodyPr/>
                    <a:lstStyle/>
                    <a:p>
                      <a:pPr rtl="1" algn="r"/>
                      <a:r>
                        <a:rPr sz="1500" b="0">
                          <a:solidFill>
                            <a:srgbClr val="0C100E"/>
                          </a:solidFill>
                          <a:latin typeface="IBM Plex Sans Arabic"/>
                          <a:ea typeface="IBM Plex Sans Arabic"/>
                          <a:cs typeface="IBM Plex Sans Arabic"/>
                        </a:rPr>
                        <a:t>بريد تعريفي</a:t>
                      </a:r>
                    </a:p>
                  </a:txBody>
                  <a:tcPr>
                    <a:solidFill>
                      <a:srgbClr val="F7F6F3"/>
                    </a:solidFill>
                  </a:tcPr>
                </a:tc>
                <a:tc>
                  <a:txBody>
                    <a:bodyPr/>
                    <a:lstStyle/>
                    <a:p>
                      <a:pPr rtl="1" algn="r"/>
                      <a:r>
                        <a:rPr sz="1500" b="0">
                          <a:solidFill>
                            <a:srgbClr val="0C100E"/>
                          </a:solidFill>
                          <a:latin typeface="IBM Plex Sans Arabic"/>
                          <a:ea typeface="IBM Plex Sans Arabic"/>
                          <a:cs typeface="IBM Plex Sans Arabic"/>
                        </a:rPr>
                        <a:t>شريك تهيئة مسمّى</a:t>
                      </a:r>
                    </a:p>
                  </a:txBody>
                  <a:tcPr>
                    <a:solidFill>
                      <a:srgbClr val="F7F6F3"/>
                    </a:solidFill>
                  </a:tcPr>
                </a:tc>
              </a:tr>
              <a:tr h="804672">
                <a:tc>
                  <a:txBody>
                    <a:bodyPr/>
                    <a:lstStyle/>
                    <a:p>
                      <a:pPr rtl="1" algn="r"/>
                      <a:r>
                        <a:rPr sz="1500" b="1">
                          <a:solidFill>
                            <a:srgbClr val="0C100E"/>
                          </a:solidFill>
                          <a:latin typeface="IBM Plex Sans Arabic"/>
                          <a:ea typeface="IBM Plex Sans Arabic"/>
                          <a:cs typeface="IBM Plex Sans Arabic"/>
                        </a:rPr>
                        <a:t>اليوم ٣٠</a:t>
                      </a:r>
                    </a:p>
                  </a:txBody>
                  <a:tcPr>
                    <a:solidFill>
                      <a:srgbClr val="F0EFEC"/>
                    </a:solidFill>
                  </a:tcPr>
                </a:tc>
                <a:tc>
                  <a:txBody>
                    <a:bodyPr/>
                    <a:lstStyle/>
                    <a:p>
                      <a:pPr rtl="1" algn="r"/>
                      <a:r>
                        <a:rPr sz="1500" b="0">
                          <a:solidFill>
                            <a:srgbClr val="0C100E"/>
                          </a:solidFill>
                          <a:latin typeface="IBM Plex Sans Arabic"/>
                          <a:ea typeface="IBM Plex Sans Arabic"/>
                          <a:cs typeface="IBM Plex Sans Arabic"/>
                        </a:rPr>
                        <a:t>لا قياس</a:t>
                      </a:r>
                    </a:p>
                  </a:txBody>
                  <a:tcPr>
                    <a:solidFill>
                      <a:srgbClr val="F0EFEC"/>
                    </a:solidFill>
                  </a:tcPr>
                </a:tc>
                <a:tc>
                  <a:txBody>
                    <a:bodyPr/>
                    <a:lstStyle/>
                    <a:p>
                      <a:pPr rtl="1" algn="r"/>
                      <a:r>
                        <a:rPr sz="1500" b="0">
                          <a:solidFill>
                            <a:srgbClr val="0C100E"/>
                          </a:solidFill>
                          <a:latin typeface="IBM Plex Sans Arabic"/>
                          <a:ea typeface="IBM Plex Sans Arabic"/>
                          <a:cs typeface="IBM Plex Sans Arabic"/>
                        </a:rPr>
                        <a:t>مراجعة ٣٠ يومًا</a:t>
                      </a:r>
                    </a:p>
                  </a:txBody>
                  <a:tcPr>
                    <a:solidFill>
                      <a:srgbClr val="F0EFEC"/>
                    </a:solidFill>
                  </a:tcPr>
                </a:tc>
              </a:tr>
              <a:tr h="804672">
                <a:tc>
                  <a:txBody>
                    <a:bodyPr/>
                    <a:lstStyle/>
                    <a:p>
                      <a:pPr rtl="1" algn="r"/>
                      <a:r>
                        <a:rPr sz="1500" b="1">
                          <a:solidFill>
                            <a:srgbClr val="0C100E"/>
                          </a:solidFill>
                          <a:latin typeface="IBM Plex Sans Arabic"/>
                          <a:ea typeface="IBM Plex Sans Arabic"/>
                          <a:cs typeface="IBM Plex Sans Arabic"/>
                        </a:rPr>
                        <a:t>اليوم ٩٠</a:t>
                      </a:r>
                    </a:p>
                  </a:txBody>
                  <a:tcPr>
                    <a:solidFill>
                      <a:srgbClr val="F7F6F3"/>
                    </a:solidFill>
                  </a:tcPr>
                </a:tc>
                <a:tc>
                  <a:txBody>
                    <a:bodyPr/>
                    <a:lstStyle/>
                    <a:p>
                      <a:pPr rtl="1" algn="r"/>
                      <a:r>
                        <a:rPr sz="1500" b="0">
                          <a:solidFill>
                            <a:srgbClr val="0C100E"/>
                          </a:solidFill>
                          <a:latin typeface="IBM Plex Sans Arabic"/>
                          <a:ea typeface="IBM Plex Sans Arabic"/>
                          <a:cs typeface="IBM Plex Sans Arabic"/>
                        </a:rPr>
                        <a:t>انطباع المدير</a:t>
                      </a:r>
                    </a:p>
                  </a:txBody>
                  <a:tcPr>
                    <a:solidFill>
                      <a:srgbClr val="F7F6F3"/>
                    </a:solidFill>
                  </a:tcPr>
                </a:tc>
                <a:tc>
                  <a:txBody>
                    <a:bodyPr/>
                    <a:lstStyle/>
                    <a:p>
                      <a:pPr rtl="1" algn="r"/>
                      <a:r>
                        <a:rPr sz="1500" b="0">
                          <a:solidFill>
                            <a:srgbClr val="0C100E"/>
                          </a:solidFill>
                          <a:latin typeface="IBM Plex Sans Arabic"/>
                          <a:ea typeface="IBM Plex Sans Arabic"/>
                          <a:cs typeface="IBM Plex Sans Arabic"/>
                        </a:rPr>
                        <a:t>ثلاثة مؤشرات أثر</a:t>
                      </a:r>
                    </a:p>
                  </a:txBody>
                  <a:tcPr>
                    <a:solidFill>
                      <a:srgbClr val="F7F6F3"/>
                    </a:solidFill>
                  </a:tcPr>
                </a:tc>
              </a:tr>
            </a:tbl>
          </a:graphicData>
        </a:graphic>
      </p:graphicFrame>
      <p:sp>
        <p:nvSpPr>
          <p:cNvPr id="7" name="TextBox 6"/>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8" name="TextBox 7"/>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7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645920"/>
            <a:ext cx="5120640" cy="274320"/>
          </a:xfrm>
          <a:prstGeom prst="rect">
            <a:avLst/>
          </a:prstGeom>
          <a:noFill/>
        </p:spPr>
        <p:txBody>
          <a:bodyPr wrap="square" anchor="t"/>
          <a:lstStyle/>
          <a:p>
            <a:pPr rtl="1" algn="r"/>
            <a:r>
              <a:rPr sz="1200" b="0">
                <a:solidFill>
                  <a:srgbClr val="00512F"/>
                </a:solidFill>
                <a:latin typeface="IBM Plex Sans"/>
                <a:ea typeface="IBM Plex Sans"/>
                <a:cs typeface="IBM Plex Sans"/>
              </a:rPr>
              <a:t>تخطيط صورة + نص</a:t>
            </a:r>
          </a:p>
        </p:txBody>
      </p:sp>
      <p:sp>
        <p:nvSpPr>
          <p:cNvPr id="4" name="TextBox 3"/>
          <p:cNvSpPr txBox="1"/>
          <p:nvPr/>
        </p:nvSpPr>
        <p:spPr>
          <a:xfrm>
            <a:off x="566928" y="2011680"/>
            <a:ext cx="5120640" cy="1188720"/>
          </a:xfrm>
          <a:prstGeom prst="rect">
            <a:avLst/>
          </a:prstGeom>
          <a:noFill/>
        </p:spPr>
        <p:txBody>
          <a:bodyPr wrap="square" anchor="t"/>
          <a:lstStyle/>
          <a:p>
            <a:pPr rtl="1" algn="r"/>
            <a:r>
              <a:rPr sz="3200" b="0">
                <a:solidFill>
                  <a:srgbClr val="0C100E"/>
                </a:solidFill>
                <a:latin typeface="Amiri"/>
                <a:ea typeface="Amiri"/>
                <a:cs typeface="Amiri"/>
              </a:rPr>
              <a:t>المكان يسبق الشريحة.</a:t>
            </a:r>
          </a:p>
        </p:txBody>
      </p:sp>
      <p:sp>
        <p:nvSpPr>
          <p:cNvPr id="5" name="TextBox 4"/>
          <p:cNvSpPr txBox="1"/>
          <p:nvPr/>
        </p:nvSpPr>
        <p:spPr>
          <a:xfrm>
            <a:off x="566928" y="3291840"/>
            <a:ext cx="5120640" cy="1645920"/>
          </a:xfrm>
          <a:prstGeom prst="rect">
            <a:avLst/>
          </a:prstGeom>
          <a:noFill/>
        </p:spPr>
        <p:txBody>
          <a:bodyPr wrap="square" anchor="t"/>
          <a:lstStyle/>
          <a:p>
            <a:pPr rtl="1" algn="r"/>
            <a:r>
              <a:rPr sz="1600" b="0">
                <a:solidFill>
                  <a:srgbClr val="3A403C"/>
                </a:solidFill>
                <a:latin typeface="IBM Plex Sans Arabic"/>
                <a:ea typeface="IBM Plex Sans Arabic"/>
                <a:cs typeface="IBM Plex Sans Arabic"/>
              </a:rPr>
              <a:t>هذا الماسك للموجة. ضع صورة استوديو أو بروفة أو فريق. النص على الورق، والصورة تأخذ القرار البصري.</a:t>
            </a:r>
          </a:p>
        </p:txBody>
      </p:sp>
      <p:sp>
        <p:nvSpPr>
          <p:cNvPr id="6" name="TextBox 5"/>
          <p:cNvSpPr txBox="1"/>
          <p:nvPr/>
        </p:nvSpPr>
        <p:spPr>
          <a:xfrm>
            <a:off x="566928" y="5120640"/>
            <a:ext cx="5120640" cy="365760"/>
          </a:xfrm>
          <a:prstGeom prst="rect">
            <a:avLst/>
          </a:prstGeom>
          <a:noFill/>
        </p:spPr>
        <p:txBody>
          <a:bodyPr wrap="square" anchor="t"/>
          <a:lstStyle/>
          <a:p>
            <a:pPr rtl="1" algn="r"/>
            <a:r>
              <a:rPr sz="1300" b="0">
                <a:solidFill>
                  <a:srgbClr val="6A706C"/>
                </a:solidFill>
                <a:latin typeface="IBM Plex Sans"/>
                <a:ea typeface="IBM Plex Sans"/>
                <a:cs typeface="IBM Plex Sans"/>
              </a:rPr>
              <a:t>Change Picture على الموجة فقط.</a:t>
            </a:r>
          </a:p>
        </p:txBody>
      </p:sp>
      <p:pic>
        <p:nvPicPr>
          <p:cNvPr id="7" name="Picture 6" descr="wave-01.png"/>
          <p:cNvPicPr>
            <a:picLocks noChangeAspect="1"/>
          </p:cNvPicPr>
          <p:nvPr/>
        </p:nvPicPr>
        <p:blipFill>
          <a:blip r:embed="rId2"/>
          <a:stretch>
            <a:fillRect/>
          </a:stretch>
        </p:blipFill>
        <p:spPr>
          <a:xfrm>
            <a:off x="6537960" y="502920"/>
            <a:ext cx="5212080" cy="5852160"/>
          </a:xfrm>
          <a:prstGeom prst="rect">
            <a:avLst/>
          </a:prstGeom>
        </p:spPr>
      </p:pic>
      <p:sp>
        <p:nvSpPr>
          <p:cNvPr id="8" name="TextBox 7"/>
          <p:cNvSpPr txBox="1"/>
          <p:nvPr/>
        </p:nvSpPr>
        <p:spPr>
          <a:xfrm>
            <a:off x="566928" y="6510528"/>
            <a:ext cx="4572000" cy="256032"/>
          </a:xfrm>
          <a:prstGeom prst="rect">
            <a:avLst/>
          </a:prstGeom>
          <a:noFill/>
        </p:spPr>
        <p:txBody>
          <a:bodyPr wrap="square" anchor="t"/>
          <a:lstStyle/>
          <a:p>
            <a:pPr rtl="1" algn="r"/>
            <a:r>
              <a:rPr sz="1100" b="0">
                <a:solidFill>
                  <a:srgbClr val="6A706C"/>
                </a:solidFill>
                <a:latin typeface="IBM Plex Sans Arabic"/>
                <a:ea typeface="IBM Plex Sans Arabic"/>
                <a:cs typeface="IBM Plex Sans Arabic"/>
              </a:rPr>
              <a:t>روتانا  ·  الموارد البشرية</a:t>
            </a:r>
          </a:p>
        </p:txBody>
      </p:sp>
      <p:sp>
        <p:nvSpPr>
          <p:cNvPr id="9" name="TextBox 8"/>
          <p:cNvSpPr txBox="1"/>
          <p:nvPr/>
        </p:nvSpPr>
        <p:spPr>
          <a:xfrm>
            <a:off x="9509760" y="6510528"/>
            <a:ext cx="2103120" cy="256032"/>
          </a:xfrm>
          <a:prstGeom prst="rect">
            <a:avLst/>
          </a:prstGeom>
          <a:noFill/>
        </p:spPr>
        <p:txBody>
          <a:bodyPr wrap="square" anchor="t"/>
          <a:lstStyle/>
          <a:p>
            <a:pPr rtl="1" algn="l"/>
            <a:r>
              <a:rPr sz="1100" b="0">
                <a:solidFill>
                  <a:srgbClr val="6A706C"/>
                </a:solidFill>
                <a:latin typeface="IBM Plex Mono"/>
                <a:ea typeface="IBM Plex Mono"/>
                <a:cs typeface="IBM Plex Mono"/>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C1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otana-logo-1400.png"/>
          <p:cNvPicPr>
            <a:picLocks noChangeAspect="1"/>
          </p:cNvPicPr>
          <p:nvPr/>
        </p:nvPicPr>
        <p:blipFill>
          <a:blip r:embed="rId2"/>
          <a:stretch>
            <a:fillRect/>
          </a:stretch>
        </p:blipFill>
        <p:spPr>
          <a:xfrm>
            <a:off x="566928" y="1965960"/>
            <a:ext cx="3657600" cy="841248"/>
          </a:xfrm>
          <a:prstGeom prst="rect">
            <a:avLst/>
          </a:prstGeom>
        </p:spPr>
      </p:pic>
      <p:sp>
        <p:nvSpPr>
          <p:cNvPr id="4" name="TextBox 3"/>
          <p:cNvSpPr txBox="1"/>
          <p:nvPr/>
        </p:nvSpPr>
        <p:spPr>
          <a:xfrm>
            <a:off x="566928" y="3063240"/>
            <a:ext cx="9144000" cy="1005840"/>
          </a:xfrm>
          <a:prstGeom prst="rect">
            <a:avLst/>
          </a:prstGeom>
          <a:noFill/>
        </p:spPr>
        <p:txBody>
          <a:bodyPr wrap="square" anchor="t"/>
          <a:lstStyle/>
          <a:p>
            <a:pPr rtl="1" algn="r"/>
            <a:r>
              <a:rPr sz="6400" b="0">
                <a:solidFill>
                  <a:srgbClr val="FFFFFF"/>
                </a:solidFill>
                <a:latin typeface="Amiri"/>
                <a:ea typeface="Amiri"/>
                <a:cs typeface="Amiri"/>
              </a:rPr>
              <a:t>شكرًا</a:t>
            </a:r>
          </a:p>
        </p:txBody>
      </p:sp>
      <p:sp>
        <p:nvSpPr>
          <p:cNvPr id="5" name="TextBox 4"/>
          <p:cNvSpPr txBox="1"/>
          <p:nvPr/>
        </p:nvSpPr>
        <p:spPr>
          <a:xfrm>
            <a:off x="566928" y="4160520"/>
            <a:ext cx="9144000" cy="365760"/>
          </a:xfrm>
          <a:prstGeom prst="rect">
            <a:avLst/>
          </a:prstGeom>
          <a:noFill/>
        </p:spPr>
        <p:txBody>
          <a:bodyPr wrap="square" anchor="t"/>
          <a:lstStyle/>
          <a:p>
            <a:pPr rtl="1" algn="r"/>
            <a:r>
              <a:rPr sz="1800" b="0">
                <a:solidFill>
                  <a:srgbClr val="B8C0B0"/>
                </a:solidFill>
                <a:latin typeface="IBM Plex Sans Arabic"/>
                <a:ea typeface="IBM Plex Sans Arabic"/>
                <a:cs typeface="IBM Plex Sans Arabic"/>
              </a:rPr>
              <a:t>إدارة الموارد البشرية</a:t>
            </a:r>
          </a:p>
        </p:txBody>
      </p:sp>
      <p:sp>
        <p:nvSpPr>
          <p:cNvPr id="6" name="TextBox 5"/>
          <p:cNvSpPr txBox="1"/>
          <p:nvPr/>
        </p:nvSpPr>
        <p:spPr>
          <a:xfrm>
            <a:off x="566928" y="5852160"/>
            <a:ext cx="9144000" cy="274320"/>
          </a:xfrm>
          <a:prstGeom prst="rect">
            <a:avLst/>
          </a:prstGeom>
          <a:noFill/>
        </p:spPr>
        <p:txBody>
          <a:bodyPr wrap="square" anchor="t"/>
          <a:lstStyle/>
          <a:p>
            <a:pPr rtl="1" algn="r"/>
            <a:r>
              <a:rPr sz="1300" b="0">
                <a:solidFill>
                  <a:srgbClr val="C5C7C2"/>
                </a:solidFill>
                <a:latin typeface="IBM Plex Sans Arabic"/>
                <a:ea typeface="IBM Plex Sans Arabic"/>
                <a:cs typeface="IBM Plex Sans Arabic"/>
              </a:rPr>
              <a:t>انسخ  ·  استبدل  ·  لا تُعدّل الأصل</a:t>
            </a:r>
          </a:p>
        </p:txBody>
      </p:sp>
      <p:sp>
        <p:nvSpPr>
          <p:cNvPr id="7" name="TextBox 6"/>
          <p:cNvSpPr txBox="1"/>
          <p:nvPr/>
        </p:nvSpPr>
        <p:spPr>
          <a:xfrm>
            <a:off x="566928" y="6510528"/>
            <a:ext cx="4572000" cy="256032"/>
          </a:xfrm>
          <a:prstGeom prst="rect">
            <a:avLst/>
          </a:prstGeom>
          <a:noFill/>
        </p:spPr>
        <p:txBody>
          <a:bodyPr wrap="square" anchor="t"/>
          <a:lstStyle/>
          <a:p>
            <a:pPr rtl="1" algn="r"/>
            <a:r>
              <a:rPr sz="1100" b="0">
                <a:solidFill>
                  <a:srgbClr val="B8C0B0"/>
                </a:solidFill>
                <a:latin typeface="IBM Plex Sans Arabic"/>
                <a:ea typeface="IBM Plex Sans Arabic"/>
                <a:cs typeface="IBM Plex Sans Arabic"/>
              </a:rPr>
              <a:t>روتانا  ·  الموارد البشرية</a:t>
            </a:r>
          </a:p>
        </p:txBody>
      </p:sp>
      <p:sp>
        <p:nvSpPr>
          <p:cNvPr id="8" name="TextBox 7"/>
          <p:cNvSpPr txBox="1"/>
          <p:nvPr/>
        </p:nvSpPr>
        <p:spPr>
          <a:xfrm>
            <a:off x="9509760" y="6510528"/>
            <a:ext cx="2103120" cy="256032"/>
          </a:xfrm>
          <a:prstGeom prst="rect">
            <a:avLst/>
          </a:prstGeom>
          <a:noFill/>
        </p:spPr>
        <p:txBody>
          <a:bodyPr wrap="square" anchor="t"/>
          <a:lstStyle/>
          <a:p>
            <a:pPr rtl="1" algn="l"/>
            <a:r>
              <a:rPr sz="1100" b="0">
                <a:solidFill>
                  <a:srgbClr val="B8C0B0"/>
                </a:solidFill>
                <a:latin typeface="IBM Plex Mono"/>
                <a:ea typeface="IBM Plex Mono"/>
                <a:cs typeface="IBM Plex Mono"/>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